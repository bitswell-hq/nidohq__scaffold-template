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d1faf828f143bc" /><Relationship Type="http://schemas.openxmlformats.org/officeDocument/2006/relationships/extended-properties" Target="/docProps/app.xml" Id="Rd4164c1c60c34303" /><Relationship Type="http://schemas.openxmlformats.org/officeDocument/2006/relationships/officeDocument" Target="/ppt/presentation.xml" Id="Rdff5847823154345" /></Relationships>
</file>

<file path=ppt/presentation.xml><?xml version="1.0" encoding="utf-8"?>
<p:presentation xmlns:p="http://schemas.openxmlformats.org/presentationml/2006/main">
  <p:sldMasterIdLst>
    <p:sldMasterId xmlns:r="http://schemas.openxmlformats.org/officeDocument/2006/relationships" id="2147483648" r:id="R8dd0277b947041f6"/>
  </p:sldMasterIdLst>
  <p:notesMasterIdLst>
    <p:notesMasterId xmlns:r="http://schemas.openxmlformats.org/officeDocument/2006/relationships" r:id="R9c83181e60384231"/>
  </p:notesMasterIdLst>
  <p:sldIdLst>
    <p:sldId xmlns:r="http://schemas.openxmlformats.org/officeDocument/2006/relationships" id="256" r:id="R46e49a9715744c82"/>
    <p:sldId xmlns:r="http://schemas.openxmlformats.org/officeDocument/2006/relationships" id="257" r:id="R84507338c55a4833"/>
    <p:sldId xmlns:r="http://schemas.openxmlformats.org/officeDocument/2006/relationships" id="258" r:id="R98df320ab2474ea5"/>
    <p:sldId xmlns:r="http://schemas.openxmlformats.org/officeDocument/2006/relationships" id="259" r:id="Ra86a242704654464"/>
    <p:sldId xmlns:r="http://schemas.openxmlformats.org/officeDocument/2006/relationships" id="260" r:id="Re8687f055cdf48ec"/>
    <p:sldId xmlns:r="http://schemas.openxmlformats.org/officeDocument/2006/relationships" id="261" r:id="R1ec1d228e0b34506"/>
    <p:sldId xmlns:r="http://schemas.openxmlformats.org/officeDocument/2006/relationships" id="262" r:id="R63d5aabf436142d4"/>
    <p:sldId xmlns:r="http://schemas.openxmlformats.org/officeDocument/2006/relationships" id="263" r:id="Re9e5bf90448043ed"/>
    <p:sldId xmlns:r="http://schemas.openxmlformats.org/officeDocument/2006/relationships" id="264" r:id="Rad7f8cbf1a984df4"/>
    <p:sldId xmlns:r="http://schemas.openxmlformats.org/officeDocument/2006/relationships" id="265" r:id="Ra0f2b138626242cf"/>
    <p:sldId xmlns:r="http://schemas.openxmlformats.org/officeDocument/2006/relationships" id="266" r:id="Rce9ff9c5dd054d3a"/>
    <p:sldId xmlns:r="http://schemas.openxmlformats.org/officeDocument/2006/relationships" id="267" r:id="R6b2a056b31a84592"/>
    <p:sldId xmlns:r="http://schemas.openxmlformats.org/officeDocument/2006/relationships" id="268" r:id="Raf6026920a984f08"/>
    <p:sldId xmlns:r="http://schemas.openxmlformats.org/officeDocument/2006/relationships" id="269" r:id="Re5029bc250434a39"/>
    <p:sldId xmlns:r="http://schemas.openxmlformats.org/officeDocument/2006/relationships" id="270" r:id="Rb79314c4f3e04eb1"/>
    <p:sldId xmlns:r="http://schemas.openxmlformats.org/officeDocument/2006/relationships" id="271" r:id="Re5282b908ff64aac"/>
    <p:sldId xmlns:r="http://schemas.openxmlformats.org/officeDocument/2006/relationships" id="272" r:id="R37cd0aa295b94aaa"/>
    <p:sldId xmlns:r="http://schemas.openxmlformats.org/officeDocument/2006/relationships" id="273" r:id="R4ca1b35924f34d6a"/>
    <p:sldId xmlns:r="http://schemas.openxmlformats.org/officeDocument/2006/relationships" id="274" r:id="R6a6321046bbc4722"/>
    <p:sldId xmlns:r="http://schemas.openxmlformats.org/officeDocument/2006/relationships" id="275" r:id="R1634fd1be9dd419f"/>
    <p:sldId xmlns:r="http://schemas.openxmlformats.org/officeDocument/2006/relationships" id="276" r:id="Rb0917b0f18084481"/>
    <p:sldId xmlns:r="http://schemas.openxmlformats.org/officeDocument/2006/relationships" id="277" r:id="Re37f4cfdf3d14935"/>
    <p:sldId xmlns:r="http://schemas.openxmlformats.org/officeDocument/2006/relationships" id="278" r:id="Ra5beb11717804df7"/>
    <p:sldId xmlns:r="http://schemas.openxmlformats.org/officeDocument/2006/relationships" id="279" r:id="Rdea012aeeb954912"/>
    <p:sldId xmlns:r="http://schemas.openxmlformats.org/officeDocument/2006/relationships" id="280" r:id="Rbde69b7cf8f144db"/>
    <p:sldId xmlns:r="http://schemas.openxmlformats.org/officeDocument/2006/relationships" id="281" r:id="R0cf98197e3474240"/>
    <p:sldId xmlns:r="http://schemas.openxmlformats.org/officeDocument/2006/relationships" id="282" r:id="R8a36aa0f9ffd4e91"/>
    <p:sldId xmlns:r="http://schemas.openxmlformats.org/officeDocument/2006/relationships" id="283" r:id="R2be9260d8af24bc2"/>
    <p:sldId xmlns:r="http://schemas.openxmlformats.org/officeDocument/2006/relationships" id="284" r:id="R43050c86e898400e"/>
    <p:sldId xmlns:r="http://schemas.openxmlformats.org/officeDocument/2006/relationships" id="285" r:id="R1a3732d524274f5a"/>
  </p:sldIdLst>
  <p:sldSz cx="9144000" cy="5143500"/>
  <p:notesSz cx="6858000" cy="9144000"/>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5ad10854e54d14" /><Relationship Type="http://schemas.openxmlformats.org/officeDocument/2006/relationships/slideMaster" Target="/ppt/slideMasters/slideMaster1.xml" Id="R8dd0277b947041f6" /><Relationship Type="http://schemas.openxmlformats.org/officeDocument/2006/relationships/notesMaster" Target="/ppt/notesMasters/notesMaster1.xml" Id="R9c83181e60384231" /><Relationship Type="http://schemas.openxmlformats.org/officeDocument/2006/relationships/presProps" Target="/ppt/presProps.xml" Id="Ree15442ff6ae4892" /><Relationship Type="http://schemas.openxmlformats.org/officeDocument/2006/relationships/tableStyles" Target="/ppt/tableStyles.xml" Id="R715f691c3a1a4bee" /><Relationship Type="http://schemas.openxmlformats.org/officeDocument/2006/relationships/slide" Target="/ppt/slides/slide1.xml" Id="R46e49a9715744c82" /><Relationship Type="http://schemas.openxmlformats.org/officeDocument/2006/relationships/slide" Target="/ppt/slides/slide2.xml" Id="R84507338c55a4833" /><Relationship Type="http://schemas.openxmlformats.org/officeDocument/2006/relationships/slide" Target="/ppt/slides/slide3.xml" Id="R98df320ab2474ea5" /><Relationship Type="http://schemas.openxmlformats.org/officeDocument/2006/relationships/slide" Target="/ppt/slides/slide4.xml" Id="Ra86a242704654464" /><Relationship Type="http://schemas.openxmlformats.org/officeDocument/2006/relationships/slide" Target="/ppt/slides/slide5.xml" Id="Re8687f055cdf48ec" /><Relationship Type="http://schemas.openxmlformats.org/officeDocument/2006/relationships/slide" Target="/ppt/slides/slide6.xml" Id="R1ec1d228e0b34506" /><Relationship Type="http://schemas.openxmlformats.org/officeDocument/2006/relationships/slide" Target="/ppt/slides/slide7.xml" Id="R63d5aabf436142d4" /><Relationship Type="http://schemas.openxmlformats.org/officeDocument/2006/relationships/slide" Target="/ppt/slides/slide8.xml" Id="Re9e5bf90448043ed" /><Relationship Type="http://schemas.openxmlformats.org/officeDocument/2006/relationships/slide" Target="/ppt/slides/slide9.xml" Id="Rad7f8cbf1a984df4" /><Relationship Type="http://schemas.openxmlformats.org/officeDocument/2006/relationships/slide" Target="/ppt/slides/slide10.xml" Id="Ra0f2b138626242cf" /><Relationship Type="http://schemas.openxmlformats.org/officeDocument/2006/relationships/slide" Target="/ppt/slides/slide11.xml" Id="Rce9ff9c5dd054d3a" /><Relationship Type="http://schemas.openxmlformats.org/officeDocument/2006/relationships/slide" Target="/ppt/slides/slide12.xml" Id="R6b2a056b31a84592" /><Relationship Type="http://schemas.openxmlformats.org/officeDocument/2006/relationships/slide" Target="/ppt/slides/slide13.xml" Id="Raf6026920a984f08" /><Relationship Type="http://schemas.openxmlformats.org/officeDocument/2006/relationships/slide" Target="/ppt/slides/slide14.xml" Id="Re5029bc250434a39" /><Relationship Type="http://schemas.openxmlformats.org/officeDocument/2006/relationships/slide" Target="/ppt/slides/slide15.xml" Id="Rb79314c4f3e04eb1" /><Relationship Type="http://schemas.openxmlformats.org/officeDocument/2006/relationships/slide" Target="/ppt/slides/slide16.xml" Id="Re5282b908ff64aac" /><Relationship Type="http://schemas.openxmlformats.org/officeDocument/2006/relationships/slide" Target="/ppt/slides/slide17.xml" Id="R37cd0aa295b94aaa" /><Relationship Type="http://schemas.openxmlformats.org/officeDocument/2006/relationships/slide" Target="/ppt/slides/slide18.xml" Id="R4ca1b35924f34d6a" /><Relationship Type="http://schemas.openxmlformats.org/officeDocument/2006/relationships/slide" Target="/ppt/slides/slide19.xml" Id="R6a6321046bbc4722" /><Relationship Type="http://schemas.openxmlformats.org/officeDocument/2006/relationships/slide" Target="/ppt/slides/slide20.xml" Id="R1634fd1be9dd419f" /><Relationship Type="http://schemas.openxmlformats.org/officeDocument/2006/relationships/slide" Target="/ppt/slides/slide21.xml" Id="Rb0917b0f18084481" /><Relationship Type="http://schemas.openxmlformats.org/officeDocument/2006/relationships/slide" Target="/ppt/slides/slide22.xml" Id="Re37f4cfdf3d14935" /><Relationship Type="http://schemas.openxmlformats.org/officeDocument/2006/relationships/slide" Target="/ppt/slides/slide23.xml" Id="Ra5beb11717804df7" /><Relationship Type="http://schemas.openxmlformats.org/officeDocument/2006/relationships/slide" Target="/ppt/slides/slide24.xml" Id="Rdea012aeeb954912" /><Relationship Type="http://schemas.openxmlformats.org/officeDocument/2006/relationships/slide" Target="/ppt/slides/slide25.xml" Id="Rbde69b7cf8f144db" /><Relationship Type="http://schemas.openxmlformats.org/officeDocument/2006/relationships/slide" Target="/ppt/slides/slide26.xml" Id="R0cf98197e3474240" /><Relationship Type="http://schemas.openxmlformats.org/officeDocument/2006/relationships/slide" Target="/ppt/slides/slide27.xml" Id="R8a36aa0f9ffd4e91" /><Relationship Type="http://schemas.openxmlformats.org/officeDocument/2006/relationships/slide" Target="/ppt/slides/slide28.xml" Id="R2be9260d8af24bc2" /><Relationship Type="http://schemas.openxmlformats.org/officeDocument/2006/relationships/slide" Target="/ppt/slides/slide29.xml" Id="R43050c86e898400e" /><Relationship Type="http://schemas.openxmlformats.org/officeDocument/2006/relationships/slide" Target="/ppt/slides/slide30.xml" Id="R1a3732d524274f5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1e9e167fac49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bd899532024235" /><Relationship Type="http://schemas.openxmlformats.org/officeDocument/2006/relationships/notesMaster" Target="/ppt/notesMasters/notesMaster1.xml" Id="Re146c08319a64f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0e51a85a724b49" /><Relationship Type="http://schemas.openxmlformats.org/officeDocument/2006/relationships/notesMaster" Target="/ppt/notesMasters/notesMaster1.xml" Id="R8351f3f7f7de47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165a924eab4178" /><Relationship Type="http://schemas.openxmlformats.org/officeDocument/2006/relationships/notesMaster" Target="/ppt/notesMasters/notesMaster1.xml" Id="Rb6b12cb251d64e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6ba6b583d24fd0" /><Relationship Type="http://schemas.openxmlformats.org/officeDocument/2006/relationships/notesMaster" Target="/ppt/notesMasters/notesMaster1.xml" Id="R16a08f6a313040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bebbd10ce845af" /><Relationship Type="http://schemas.openxmlformats.org/officeDocument/2006/relationships/notesMaster" Target="/ppt/notesMasters/notesMaster1.xml" Id="Rfaa7eeda086e4f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c0c54c2ab74119" /><Relationship Type="http://schemas.openxmlformats.org/officeDocument/2006/relationships/notesMaster" Target="/ppt/notesMasters/notesMaster1.xml" Id="R76cf98da2c584c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71c678940d4d4b" /><Relationship Type="http://schemas.openxmlformats.org/officeDocument/2006/relationships/notesMaster" Target="/ppt/notesMasters/notesMaster1.xml" Id="Reb7f67b82453461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5e4a434cd8e4db5" /><Relationship Type="http://schemas.openxmlformats.org/officeDocument/2006/relationships/notesMaster" Target="/ppt/notesMasters/notesMaster1.xml" Id="R8760c72f2e7548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91bdde5d6d4d98" /><Relationship Type="http://schemas.openxmlformats.org/officeDocument/2006/relationships/notesMaster" Target="/ppt/notesMasters/notesMaster1.xml" Id="R3a64144cdd6247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87fbb8f2e940fe" /><Relationship Type="http://schemas.openxmlformats.org/officeDocument/2006/relationships/notesMaster" Target="/ppt/notesMasters/notesMaster1.xml" Id="R72ce8b6b262d42e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3857d9e287649f0" /><Relationship Type="http://schemas.openxmlformats.org/officeDocument/2006/relationships/notesMaster" Target="/ppt/notesMasters/notesMaster1.xml" Id="Rafebbd4d52d449e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22951a12b05492d" /><Relationship Type="http://schemas.openxmlformats.org/officeDocument/2006/relationships/notesMaster" Target="/ppt/notesMasters/notesMaster1.xml" Id="Rd5a8f86878c143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1bcdb6b82824be4" /><Relationship Type="http://schemas.openxmlformats.org/officeDocument/2006/relationships/notesMaster" Target="/ppt/notesMasters/notesMaster1.xml" Id="Rfafd2947fb08426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010b4dbc30d4921" /><Relationship Type="http://schemas.openxmlformats.org/officeDocument/2006/relationships/notesMaster" Target="/ppt/notesMasters/notesMaster1.xml" Id="R32ecdb09a0a94c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d3636135244e80" /><Relationship Type="http://schemas.openxmlformats.org/officeDocument/2006/relationships/notesMaster" Target="/ppt/notesMasters/notesMaster1.xml" Id="Rd4286b061eac445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b3698f631c4211" /><Relationship Type="http://schemas.openxmlformats.org/officeDocument/2006/relationships/notesMaster" Target="/ppt/notesMasters/notesMaster1.xml" Id="Rdf7a6fb6e66d450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25829902d24232" /><Relationship Type="http://schemas.openxmlformats.org/officeDocument/2006/relationships/notesMaster" Target="/ppt/notesMasters/notesMaster1.xml" Id="R77c7a6dc0c3e432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9d9a1a3a86b4d9b" /><Relationship Type="http://schemas.openxmlformats.org/officeDocument/2006/relationships/notesMaster" Target="/ppt/notesMasters/notesMaster1.xml" Id="Re25d43cb6e0344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f1ce7a8d9b4d42" /><Relationship Type="http://schemas.openxmlformats.org/officeDocument/2006/relationships/notesMaster" Target="/ppt/notesMasters/notesMaster1.xml" Id="R2527aebd2639410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93f56664b94135" /><Relationship Type="http://schemas.openxmlformats.org/officeDocument/2006/relationships/notesMaster" Target="/ppt/notesMasters/notesMaster1.xml" Id="Rac498b592bfc4e2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716a59d14b4c8e" /><Relationship Type="http://schemas.openxmlformats.org/officeDocument/2006/relationships/notesMaster" Target="/ppt/notesMasters/notesMaster1.xml" Id="Rdc8b55b228cc48d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51815575b024090" /><Relationship Type="http://schemas.openxmlformats.org/officeDocument/2006/relationships/notesMaster" Target="/ppt/notesMasters/notesMaster1.xml" Id="Ra308aece147a4d8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b73f8c5c63c4fe6" /><Relationship Type="http://schemas.openxmlformats.org/officeDocument/2006/relationships/notesMaster" Target="/ppt/notesMasters/notesMaster1.xml" Id="Rfb7e712f838147a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528b24200904a1a" /><Relationship Type="http://schemas.openxmlformats.org/officeDocument/2006/relationships/notesMaster" Target="/ppt/notesMasters/notesMaster1.xml" Id="Rbfe340e8adc249c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84504d434884571" /><Relationship Type="http://schemas.openxmlformats.org/officeDocument/2006/relationships/notesMaster" Target="/ppt/notesMasters/notesMaster1.xml" Id="R38886cc46b084ea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53587fb9d874c8a" /><Relationship Type="http://schemas.openxmlformats.org/officeDocument/2006/relationships/notesMaster" Target="/ppt/notesMasters/notesMaster1.xml" Id="R2e758bc3d64248c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da9990435ea4d20" /><Relationship Type="http://schemas.openxmlformats.org/officeDocument/2006/relationships/notesMaster" Target="/ppt/notesMasters/notesMaster1.xml" Id="R38ec071311c24e8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ee4deb09bb54415" /><Relationship Type="http://schemas.openxmlformats.org/officeDocument/2006/relationships/notesMaster" Target="/ppt/notesMasters/notesMaster1.xml" Id="Rce26fd63b2604c5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7cde1e0dc794c9c" /><Relationship Type="http://schemas.openxmlformats.org/officeDocument/2006/relationships/notesMaster" Target="/ppt/notesMasters/notesMaster1.xml" Id="R9cae17c4a97943f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ef82bab7cdf4135" /><Relationship Type="http://schemas.openxmlformats.org/officeDocument/2006/relationships/notesMaster" Target="/ppt/notesMasters/notesMaster1.xml" Id="R178cc5a4887b47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 Stellar smart accounts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0:00–0:35 (35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I'm going to talk about smart accounts on Stellar: what they are, what they cost, and how to build a hackathon app on one this weekend.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plan: why you'd want an account with rules instead of an account that's just a key. Perch and Nido, the two projects that give you one today. A small app a coding agent built on testnet. And what six teams ran into when they tried it in two hours.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https://developers.stellar.org/docs/build/guides/contract-accounts</a:t>
            </a:r>
            <a:endParaRPr/>
          </a:p>
          <a:p xmlns:a="http://schemas.openxmlformats.org/drawingml/2006/main">
            <a:pPr marL="0" lvl="0" indent="0" algn="l">
              <a:spcBef>
                <a:spcPts val="0"/>
              </a:spcBef>
              <a:spcAft>
                <a:spcPts val="0"/>
              </a:spcAft>
              <a:buNone/>
            </a:pPr>
            <a:r>
              <a:t>https://github.com/nidohq/nido/blob/4fee10dc55b877e828c5f9fe60cc6807ea10ea6e/README.md</a:t>
            </a:r>
            <a:endParaRPr/>
          </a:p>
          <a:p xmlns:a="http://schemas.openxmlformats.org/drawingml/2006/main">
            <a:pPr marL="0" lvl="0" indent="0" algn="l">
              <a:spcBef>
                <a:spcPts val="0"/>
              </a:spcBef>
              <a:spcAft>
                <a:spcPts val="0"/>
              </a:spcAft>
              <a:buNone/>
            </a:pPr>
            <a:r>
              <a:t>https://github.com/stellar-registry/perch/blob/2d1df9b3eefbaa70c74bbf83ffb8f96cc9581f63/README.md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 An account with rules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0:35–1:10 (35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Most Stellar accounts today are a key, or a few keys with weights. Whoever holds enough of them can do anything the account can do.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smart account is a contract. Its address starts with C, and when something asks it to authorize a call, the network runs the account's own code to decide. That code can check who signed, which contract and function are being called, until when, and how much money moves.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https://developers.stellar.org/docs/build/guides/contract-accounts</a:t>
            </a:r>
            <a:endParaRPr/>
          </a:p>
          <a:p xmlns:a="http://schemas.openxmlformats.org/drawingml/2006/main">
            <a:pPr marL="0" lvl="0" indent="0" algn="l">
              <a:spcBef>
                <a:spcPts val="0"/>
              </a:spcBef>
              <a:spcAft>
                <a:spcPts val="0"/>
              </a:spcAft>
              <a:buNone/>
            </a:pPr>
            <a:r>
              <a:t>https://developers.stellar.org/docs/build/guides/auth/contract-authorization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3: The G-address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1:10–1:55 (45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To be fair to classic accounts first: a G-address can have several signers, with weights and thresholds. That's real multisig, and every wallet and exchange supports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What it can't do is scope a key. There's no way to say this key may only call one contract, or only until Friday, or move at most two XLM a day.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 an app that wants to act for you has two options. Ask you to sign every single action, or hold a key that can do everything you can.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https://developers.stellar.org/docs/learn/fundamentals/transactions/signatures-multisig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4: The C-address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1:55–2:45 (50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 contract account turns that around. Here's an ordinary Soroban function. It calls require_auth on the address that's checking 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If that address is a G-address, the host checks its signatures the classic way. If it's a C-address, the host calls the account's check-auth function and hands it the signatures, plus every call they're meant to cover. The account runs its rules and says yes or no.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Your contract doesn't change: it asks an Address to authorize, same as always. One thing to watch. If your contract trusts an address without calling require_auth on it, no smart account can protect anyone.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https://developers.stellar.org/docs/build/guides/auth/contract-authorization</a:t>
            </a:r>
            <a:endParaRPr/>
          </a:p>
          <a:p xmlns:a="http://schemas.openxmlformats.org/drawingml/2006/main">
            <a:pPr marL="0" lvl="0" indent="0" algn="l">
              <a:spcBef>
                <a:spcPts val="0"/>
              </a:spcBef>
              <a:spcAft>
                <a:spcPts val="0"/>
              </a:spcAft>
              <a:buNone/>
            </a:pPr>
            <a:r>
              <a:t>https://developers.stellar.org/docs/build/guides/contract-accounts</a:t>
            </a:r>
            <a:endParaRPr/>
          </a:p>
          <a:p xmlns:a="http://schemas.openxmlformats.org/drawingml/2006/main">
            <a:pPr marL="0" lvl="0" indent="0" algn="l">
              <a:spcBef>
                <a:spcPts val="0"/>
              </a:spcBef>
              <a:spcAft>
                <a:spcPts val="0"/>
              </a:spcAft>
              <a:buNone/>
            </a:pPr>
            <a:r>
              <a:t>../template/scripts/blank/contracts/check-in/src/lib.rs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5: What rules buy you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2:45–3:45 (60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So what does that get you?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Passkeys. A passkey signs with the P-256 curve, which a classic account can't verify. A contract account can, through a WebAuthn verifier contract. The fingerprint check happens on the device; the chain only sees a signature.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Scoped keys and spending caps are the two your app will use most: a key that can only call your contract, only until tomorrow, and can't move more than two XLM a day. The account checks that on every call, not your frontend.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Then the account-level features: recovery through guardians, someone else paying to create the account, and adding or removing devices without changing the address.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https://github.com/stellar-registry/perch/blob/2d1df9b3eefbaa70c74bbf83ffb8f96cc9581f63/crates/perch-webauthn-verifier/src/lib.rs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https://github.com/stellar-registry/perch/blob/2d1df9b3eefbaa70c74bbf83ffb8f96cc9581f63/crates/perch-ir/src/doc.rs</a:t>
            </a:r>
            <a:endParaRPr/>
          </a:p>
          <a:p xmlns:a="http://schemas.openxmlformats.org/drawingml/2006/main">
            <a:pPr marL="0" lvl="0" indent="0" algn="l">
              <a:spcBef>
                <a:spcPts val="0"/>
              </a:spcBef>
              <a:spcAft>
                <a:spcPts val="0"/>
              </a:spcAft>
              <a:buNone/>
            </a:pPr>
            <a:r>
              <a:t>https://github.com/stellar-registry/perch/blob/2d1df9b3eefbaa70c74bbf83ffb8f96cc9581f63/crates/perch-spending-limit/src/lib.rs</a:t>
            </a:r>
            <a:endParaRPr/>
          </a:p>
          <a:p xmlns:a="http://schemas.openxmlformats.org/drawingml/2006/main">
            <a:pPr marL="0" lvl="0" indent="0" algn="l">
              <a:spcBef>
                <a:spcPts val="0"/>
              </a:spcBef>
              <a:spcAft>
                <a:spcPts val="0"/>
              </a:spcAft>
              <a:buNone/>
            </a:pPr>
            <a:r>
              <a:t>https://github.com/stellar-registry/perch/blob/2d1df9b3eefbaa70c74bbf83ffb8f96cc9581f63/docs/recovery/README.md</a:t>
            </a:r>
            <a:endParaRPr/>
          </a:p>
          <a:p xmlns:a="http://schemas.openxmlformats.org/drawingml/2006/main">
            <a:pPr marL="0" lvl="0" indent="0" algn="l">
              <a:spcBef>
                <a:spcPts val="0"/>
              </a:spcBef>
              <a:spcAft>
                <a:spcPts val="0"/>
              </a:spcAft>
              <a:buNone/>
            </a:pPr>
            <a:r>
              <a:t>https://github.com/nidohq/nido/blob/4fee10dc55b877e828c5f9fe60cc6807ea10ea6e/infra/relayer/README.md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6: The trade-offs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3:45–5:00 (75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Now what it costs, so you can decide with your eyes open.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Compatibility. A C-address can't be the source of a classic operation, and Horizon doesn't know it exists, so you read balances from the token contract over RPC. A lot of tooling, exchanges included, still assumes G-addresses.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Cost. The account is contract storage, so it pays rent, and so does every rule you add. On testnet, Nido's relayer pays for you, out of one pot of a hundred XLM a day shared by everyone. When we measured on the twenty-second, an account cost about 1.4 XLM, an app's first grant 4.5, and a capped grant 2.7. That's roughly twenty grants a day for the whole network, so a full room can drain it. More on that in a minute.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Maturity. Perch and Nido run on testnet only and aren't audited yet, and Nido's revoke button doesn't work yet. Fine for a hackathon; don't put real money on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Feedback report from a six-team simulated hackathon run, Oct 2026 §3</a:t>
            </a:r>
            <a:endParaRPr/>
          </a:p>
          <a:p xmlns:a="http://schemas.openxmlformats.org/drawingml/2006/main">
            <a:pPr marL="0" lvl="0" indent="0" algn="l">
              <a:spcBef>
                <a:spcPts val="0"/>
              </a:spcBef>
              <a:spcAft>
                <a:spcPts val="0"/>
              </a:spcAft>
              <a:buNone/>
            </a:pPr>
            <a:r>
              <a:t>Team hk-ai-claude feedback, simulated hackathon run, Oct 2026</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https://github.com/stellar-registry/perch/blob/2d1df9b3eefbaa70c74bbf83ffb8f96cc9581f63/docs/audit-scope.md</a:t>
            </a:r>
            <a:endParaRPr/>
          </a:p>
          <a:p xmlns:a="http://schemas.openxmlformats.org/drawingml/2006/main">
            <a:pPr marL="0" lvl="0" indent="0" algn="l">
              <a:spcBef>
                <a:spcPts val="0"/>
              </a:spcBef>
              <a:spcAft>
                <a:spcPts val="0"/>
              </a:spcAft>
              <a:buNone/>
            </a:pPr>
            <a:r>
              <a:t>https://github.com/nidohq/nido/blob/4fee10dc55b877e828c5f9fe60cc6807ea10ea6e/docs/MAINNET_READINESS.md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7: Perch: a rule you can read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5:00–6:00 (60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The rules live in Perch, a policy layer for Soroban smart accounts, built on OpenZeppelin's account contracts. An account's whole authorization is one JSON document: its signers, its rules, and optional recovery. The document is canonical, so the account stores its hash and anyone can check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is a real rule from the demo. It covers one contract, the XLM token, and applies to the app's session key. It allows one function, transfer, capped at two XLM per 17,280 ledgers, which is about a day. And it stops working after a given ledger.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Perch compiles that on chain, and the account checks it in check-auth on every call. Anything the rules don't allow is denied.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https://github.com/stellar-registry/perch/blob/2d1df9b3eefbaa70c74bbf83ffb8f96cc9581f63/README.md</a:t>
            </a:r>
            <a:endParaRPr/>
          </a:p>
          <a:p xmlns:a="http://schemas.openxmlformats.org/drawingml/2006/main">
            <a:pPr marL="0" lvl="0" indent="0" algn="l">
              <a:spcBef>
                <a:spcPts val="0"/>
              </a:spcBef>
              <a:spcAft>
                <a:spcPts val="0"/>
              </a:spcAft>
              <a:buNone/>
            </a:pPr>
            <a:r>
              <a:t>https://github.com/stellar-registry/perch/blob/2d1df9b3eefbaa70c74bbf83ffb8f96cc9581f63/CANONICAL.md</a:t>
            </a:r>
            <a:endParaRPr/>
          </a:p>
          <a:p xmlns:a="http://schemas.openxmlformats.org/drawingml/2006/main">
            <a:pPr marL="0" lvl="0" indent="0" algn="l">
              <a:spcBef>
                <a:spcPts val="0"/>
              </a:spcBef>
              <a:spcAft>
                <a:spcPts val="0"/>
              </a:spcAft>
              <a:buNone/>
            </a:pPr>
            <a:r>
              <a:t>https://github.com/stellar-registry/perch/blob/2d1df9b3eefbaa70c74bbf83ffb8f96cc9581f63/docs/schema.md</a:t>
            </a:r>
            <a:endParaRPr/>
          </a:p>
          <a:p xmlns:a="http://schemas.openxmlformats.org/drawingml/2006/main">
            <a:pPr marL="0" lvl="0" indent="0" algn="l">
              <a:spcBef>
                <a:spcPts val="0"/>
              </a:spcBef>
              <a:spcAft>
                <a:spcPts val="0"/>
              </a:spcAft>
              <a:buNone/>
            </a:pPr>
            <a:r>
              <a:t>https://github.com/stellar-registry/perch/blob/2d1df9b3eefbaa70c74bbf83ffb8f96cc9581f63/crates/perch-doc-compiler/src/lib.rs</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8: Nido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6:00–6:40 (40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Nido is the wallet your users see, and every Nido account is a Perch account. You go to test.nido.fyi, approve with your face or fingerprint, and you have a C-address on its own subdomain, created and funded with five test XLM by Nido's relayer.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 your app, Nido sits in Stellar Wallets Kit next to the other wallets. You can ask it to connect, to sign one transaction in a popup, or to approve a scoped session for your app. You'll need the last one, and here's why.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https://github.com/nidohq/nido/blob/4fee10dc55b877e828c5f9fe60cc6807ea10ea6e/README.md</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https://github.com/nidohq/nido/blob/4fee10dc55b877e828c5f9fe60cc6807ea10ea6e/infra/relayer/README.md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9: Finding: the popup and your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6:40–7:40 (60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Slow down here; the rest of the talk builds on this.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This is what surprised us most. Today, your app can't use Nido's signing popup to call your own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popup signs under the account's admin rule, and admin only covers calls on the account itself. Our sample game asked the account to authorize a guess, which also moves one XLM. The account got two calls and one rule that covers neither, and refused with 3014. A call into a single contract fails the same way, with 3002.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 instead, your app asks once for a session. The app makes its own key, and the owner approves one Perch rule for each contract the call touches. After that the app's key signs, and the account checks every call against those rules.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../template/NIDO.md</a:t>
            </a:r>
            <a:endParaRPr/>
          </a:p>
          <a:p xmlns:a="http://schemas.openxmlformats.org/drawingml/2006/main">
            <a:pPr marL="0" lvl="0" indent="0" algn="l">
              <a:spcBef>
                <a:spcPts val="0"/>
              </a:spcBef>
              <a:spcAft>
                <a:spcPts val="0"/>
              </a:spcAft>
              <a:buNone/>
            </a:pPr>
            <a:r>
              <a:t>https://github.com/nidohq/nido/blob/4fee10dc55b877e828c5f9fe60cc6807ea10ea6e/packages/frontend/src/lib/walletSign.ts</a:t>
            </a:r>
            <a:endParaRPr/>
          </a:p>
          <a:p xmlns:a="http://schemas.openxmlformats.org/drawingml/2006/main">
            <a:pPr marL="0" lvl="0" indent="0" algn="l">
              <a:spcBef>
                <a:spcPts val="0"/>
              </a:spcBef>
              <a:spcAft>
                <a:spcPts val="0"/>
              </a:spcAft>
              <a:buNone/>
            </a:pPr>
            <a:r>
              <a:t>https://github.com/theahaco/stellar-contracts-OZ/tree/33726766a1fd5e7e3d2977d79f64ee29e1ea3ca9/packages/accounts</a:t>
            </a:r>
            <a:endParaRPr/>
          </a:p>
          <a:p xmlns:a="http://schemas.openxmlformats.org/drawingml/2006/main">
            <a:pPr marL="0" lvl="0" indent="0" algn="l">
              <a:spcBef>
                <a:spcPts val="0"/>
              </a:spcBef>
              <a:spcAft>
                <a:spcPts val="0"/>
              </a:spcAft>
              <a:buNone/>
            </a:pPr>
            <a:r>
              <a:t>Team hk-hu-noscaffold feedback, simulated hackathon run,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10: An agent builds Kudos Jar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7:40–8:20 (40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To check all of this end to end, we gave a coding agent the template and one prompt: build a small app that shows off a smart account, with passkey sign-in and a limited action, live on testnet.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It built Kudos Jar. You tip a hackathon team in XLM, and there's a public tally. It wrote and tested the contract, deployed it, built the React board, and then ran the whole flow with a real Nido account. It used a virtual passkey in an automated browser, since an agent doesn't have a fingerprint.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Log of the agent-built Kudos Jar run,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11: Approve the rule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8:20–9:05 (45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After you connect, the app asks once: may it call tip on the jar, and move up to two XLM a day, for twenty-four hours? A tip touches two contracts, the jar and the XLM token, so that's two rules and two passkey confirmations.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Both happen on Nido's page, not in the app. Nido shows the contract, the function, the cap and the expiry. The owner confirms with the passkey, Nido applies the new policy document, and the browser goes back to the app. The app never touches the passkey.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https://github.com/nidohq/nido/blob/4fee10dc55b877e828c5f9fe60cc6807ea10ea6e/packages/frontend/src/pages/security/delegate-doc/index.astro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12: Tip until the cap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9:05–10:00 (55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Pause on the red line before reading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Then you tap a team, and the tip goes through. No popup, no prompt. The app's key signs inside the account's authorization entry, the account checks its rules, and the transaction confirms. Four taps, two XLM, four transaction hashes you can look up.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fifth tap would push the day's total past two XLM. The app didn't block it; the account did. Its spending-limit policy refused with error 3221, and the app turns that into a sentence.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That's the point of a C-address. The limit isn't something the app promises to respect. The account enforces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https://stellar.expert/explorer/testnet/tx/cd9dfaefb145bd56d6239b1bd3ce8fa12eb5ca10bdee317d6b53e0012e043c1f</a:t>
            </a:r>
            <a:endParaRPr/>
          </a:p>
          <a:p xmlns:a="http://schemas.openxmlformats.org/drawingml/2006/main">
            <a:pPr marL="0" lvl="0" indent="0" algn="l">
              <a:spcBef>
                <a:spcPts val="0"/>
              </a:spcBef>
              <a:spcAft>
                <a:spcPts val="0"/>
              </a:spcAft>
              <a:buNone/>
            </a:pPr>
            <a:r>
              <a:t>https://stellar.expert/explorer/testnet/tx/567a9a60e2e8d91c33e8dd3cac0f4349ce173b5c8c7a2dd401628b0ad94790ec</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13: When a grant doesn’t confirm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10:00–11:15 (75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Most talks skip the failure cases, so here's ours. In the dry run, Nido's relayer ran out of budget partway through, and every team hit it. Nido's page showed the same message for three different failures: it couldn't confirm what happened, and retrying might pay twice.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429, FEE_LIMIT_EXCEEDED, means the shared budget is gone and nothing was sent. A 503, POOL_CAPACITY, means the relayer is busy; nothing was sent, try again shortly. A 504 is the tricky one: one team's grant timed out and had landed anyway.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 check the chain before you retry. Go back to the app and press Check again; the template reads the account's rules on chain. If nothing landed, ask Nido again. That can't pay twice.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when the budget's gone: the passkey signs the grant, not the fee payer, so any funded key can submit it. The template already does that for about a quarter of an XLM. Nido's page doesn't offer it yet.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Feedback report from a six-team simulated hackathon run, Oct 2026 §3, §5.2 N-A2, N-H1</a:t>
            </a:r>
            <a:endParaRPr/>
          </a:p>
          <a:p xmlns:a="http://schemas.openxmlformats.org/drawingml/2006/main">
            <a:pPr marL="0" lvl="0" indent="0" algn="l">
              <a:spcBef>
                <a:spcPts val="0"/>
              </a:spcBef>
              <a:spcAft>
                <a:spcPts val="0"/>
              </a:spcAft>
              <a:buNone/>
            </a:pPr>
            <a:r>
              <a:t>../template/NIDO.md (When Nido’s relayer says no)</a:t>
            </a:r>
            <a:endParaRPr/>
          </a:p>
          <a:p xmlns:a="http://schemas.openxmlformats.org/drawingml/2006/main">
            <a:pPr marL="0" lvl="0" indent="0" algn="l">
              <a:spcBef>
                <a:spcPts val="0"/>
              </a:spcBef>
              <a:spcAft>
                <a:spcPts val="0"/>
              </a:spcAft>
              <a:buNone/>
            </a:pPr>
            <a:r>
              <a:t>../template/CHANGELOG.md</a:t>
            </a:r>
            <a:endParaRPr/>
          </a:p>
          <a:p xmlns:a="http://schemas.openxmlformats.org/drawingml/2006/main">
            <a:pPr marL="0" lvl="0" indent="0" algn="l">
              <a:spcBef>
                <a:spcPts val="0"/>
              </a:spcBef>
              <a:spcAft>
                <a:spcPts val="0"/>
              </a:spcAft>
              <a:buNone/>
            </a:pPr>
            <a:r>
              <a:t>Team hk-hu-codex feedback, simulated hackathon run, Oct 2026</a:t>
            </a:r>
            <a:endParaRPr/>
          </a:p>
          <a:p xmlns:a="http://schemas.openxmlformats.org/drawingml/2006/main">
            <a:pPr marL="0" lvl="0" indent="0" algn="l">
              <a:spcBef>
                <a:spcPts val="0"/>
              </a:spcBef>
              <a:spcAft>
                <a:spcPts val="0"/>
              </a:spcAft>
              <a:buNone/>
            </a:pPr>
            <a:r>
              <a:t>Team hk-hu-template’s self-relay script, simulated hackathon run, Oct 2026</a:t>
            </a:r>
            <a:endParaRPr/>
          </a:p>
          <a:p xmlns:a="http://schemas.openxmlformats.org/drawingml/2006/main">
            <a:pPr marL="0" lvl="0" indent="0" algn="l">
              <a:spcBef>
                <a:spcPts val="0"/>
              </a:spcBef>
              <a:spcAft>
                <a:spcPts val="0"/>
              </a:spcAft>
              <a:buNone/>
            </a:pPr>
            <a:r>
              <a:t>../template/app-lib/session.ts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14: Patterns that worked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11:15–12:40 (85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Before today we ran a dry run: six teams, all driven by AI, three as coding agents and three simulating a person working from these slides. Two hours each, on testnet. All six prototypes work, and four patterns came out of them.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capped payment, like Kudos Jar: one rule on your contract, and one on the token with the cap.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Nothing moves: event tickets, a one-question poll, a guestbook. One rule on your contract, with no cap. Nido makes the owner accept "no cap" explicitly, and the app's key pays the fees. The template's blank starter is this pattern.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Shared funds: Group Pot keeps the money in its own contract and pays an expense when two of three members approve, each with their own Nido account.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limits the user shouldn't be able to undo. A cap limits a key, not the account's owner, who can always change the rules. So Pocket Money keeps a teen's allowance in a vault the parent owns. Time locks are the same: an expiry stops a key, it doesn't delay a withdrawal, so Goalpost puts its unlock date in the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Feedback report from a six-team simulated hackathon run, Oct 2026 §2, §5.1 D-H2</a:t>
            </a:r>
            <a:endParaRPr/>
          </a:p>
          <a:p xmlns:a="http://schemas.openxmlformats.org/drawingml/2006/main">
            <a:pPr marL="0" lvl="0" indent="0" algn="l">
              <a:spcBef>
                <a:spcPts val="0"/>
              </a:spcBef>
              <a:spcAft>
                <a:spcPts val="0"/>
              </a:spcAft>
              <a:buNone/>
            </a:pPr>
            <a:r>
              <a:t>../template/NIDO.md (patterns that work)</a:t>
            </a:r>
            <a:endParaRPr/>
          </a:p>
          <a:p xmlns:a="http://schemas.openxmlformats.org/drawingml/2006/main">
            <a:pPr marL="0" lvl="0" indent="0" algn="l">
              <a:spcBef>
                <a:spcPts val="0"/>
              </a:spcBef>
              <a:spcAft>
                <a:spcPts val="0"/>
              </a:spcAft>
              <a:buNone/>
            </a:pPr>
            <a:r>
              <a:t>Team hk-ai-claude feedback, simulated hackathon run, Oct 2026</a:t>
            </a:r>
            <a:endParaRPr/>
          </a:p>
          <a:p xmlns:a="http://schemas.openxmlformats.org/drawingml/2006/main">
            <a:pPr marL="0" lvl="0" indent="0" algn="l">
              <a:spcBef>
                <a:spcPts val="0"/>
              </a:spcBef>
              <a:spcAft>
                <a:spcPts val="0"/>
              </a:spcAft>
              <a:buNone/>
            </a:pPr>
            <a:r>
              <a:t>Team hk-ai-sonnet feedback, simulated hackathon run, Oct 2026</a:t>
            </a:r>
            <a:endParaRPr/>
          </a:p>
          <a:p xmlns:a="http://schemas.openxmlformats.org/drawingml/2006/main">
            <a:pPr marL="0" lvl="0" indent="0" algn="l">
              <a:spcBef>
                <a:spcPts val="0"/>
              </a:spcBef>
              <a:spcAft>
                <a:spcPts val="0"/>
              </a:spcAft>
              <a:buNone/>
            </a:pPr>
            <a:r>
              <a:t>Team hk-ai-codex feedback, simulated hackathon run, Oct 2026</a:t>
            </a:r>
            <a:endParaRPr/>
          </a:p>
          <a:p xmlns:a="http://schemas.openxmlformats.org/drawingml/2006/main">
            <a:pPr marL="0" lvl="0" indent="0" algn="l">
              <a:spcBef>
                <a:spcPts val="0"/>
              </a:spcBef>
              <a:spcAft>
                <a:spcPts val="0"/>
              </a:spcAft>
              <a:buNone/>
            </a:pPr>
            <a:r>
              <a:t>Team hk-hu-codex feedback, simulated hackathon run, Oct 2026</a:t>
            </a:r>
            <a:endParaRPr/>
          </a:p>
          <a:p xmlns:a="http://schemas.openxmlformats.org/drawingml/2006/main">
            <a:pPr marL="0" lvl="0" indent="0" algn="l">
              <a:spcBef>
                <a:spcPts val="0"/>
              </a:spcBef>
              <a:spcAft>
                <a:spcPts val="0"/>
              </a:spcAft>
              <a:buNone/>
            </a:pPr>
            <a:r>
              <a:t>Team hk-hu-template feedback, simulated hackathon run, Oct 2026</a:t>
            </a:r>
            <a:endParaRPr/>
          </a:p>
          <a:p xmlns:a="http://schemas.openxmlformats.org/drawingml/2006/main">
            <a:pPr marL="0" lvl="0" indent="0" algn="l">
              <a:spcBef>
                <a:spcPts val="0"/>
              </a:spcBef>
              <a:spcAft>
                <a:spcPts val="0"/>
              </a:spcAft>
              <a:buNone/>
            </a:pPr>
            <a:r>
              <a:t>Team hk-hu-noscaffold feedback, simulated hackathon run,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15: The part you write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12:40–13:45 (65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So what's yours to write? Two things.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First, the grants. A Nido account approves one grant per contract it authorizes in a call. To find them, call your function in a unit test and look at env.auths(): every contract in that list is a grant. Usually that's your contract, plus the token if the call moves the user's money. Keep require_auth at the top of your function, or simulation refuses the authorization.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Second, the call. Inside a SessionGate that asks for those grants, submitCall is the whole call site. It builds the call, signs with whatever the user connected, whether that's a classic wallet, the session key or Nido's popup, and gives you back the result and the transaction hash.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../template/NIDO.md (Your own contract in five steps; Calling a contract from React)</a:t>
            </a:r>
            <a:endParaRPr/>
          </a:p>
          <a:p xmlns:a="http://schemas.openxmlformats.org/drawingml/2006/main">
            <a:pPr marL="0" lvl="0" indent="0" algn="l">
              <a:spcBef>
                <a:spcPts val="0"/>
              </a:spcBef>
              <a:spcAft>
                <a:spcPts val="0"/>
              </a:spcAft>
              <a:buNone/>
            </a:pPr>
            <a:r>
              <a:t>../template/scripts/blank/contracts/check-in/src/test.rs</a:t>
            </a:r>
            <a:endParaRPr/>
          </a:p>
          <a:p xmlns:a="http://schemas.openxmlformats.org/drawingml/2006/main">
            <a:pPr marL="0" lvl="0" indent="0" algn="l">
              <a:spcBef>
                <a:spcPts val="0"/>
              </a:spcBef>
              <a:spcAft>
                <a:spcPts val="0"/>
              </a:spcAft>
              <a:buNone/>
            </a:pPr>
            <a:r>
              <a:t>../template/app-lib/wallet.ts</a:t>
            </a:r>
            <a:endParaRPr/>
          </a:p>
          <a:p xmlns:a="http://schemas.openxmlformats.org/drawingml/2006/main">
            <a:pPr marL="0" lvl="0" indent="0" algn="l">
              <a:spcBef>
                <a:spcPts val="0"/>
              </a:spcBef>
              <a:spcAft>
                <a:spcPts val="0"/>
              </a:spcAft>
              <a:buNone/>
            </a:pPr>
            <a:r>
              <a:t>../template/app/src/components/SessionGate.tsx</a:t>
            </a:r>
            <a:endParaRPr/>
          </a:p>
          <a:p xmlns:a="http://schemas.openxmlformats.org/drawingml/2006/main">
            <a:pPr marL="0" lvl="0" indent="0" algn="l">
              <a:spcBef>
                <a:spcPts val="0"/>
              </a:spcBef>
              <a:spcAft>
                <a:spcPts val="0"/>
              </a:spcAft>
              <a:buNone/>
            </a:pPr>
            <a:r>
              <a:t>Feedback report from a six-team simulated hackathon run, Oct 2026 §5.1 D-H1, D-A2, D-A4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16: Start from the template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13:45–14:20 (35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You don't need to remember any commands from this talk. The template is at github.com/nidohq/scaffold-template. The quick start in its NIDO.md takes you from a fresh copy to a deployed contract and a running app. From a clean copy to a first confirmed call took us about six minutes, most of it waiting on testnet.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same file covers the relayer errors, and AGENTS.md has the same rules written for your coding agent.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https://github.com/nidohq/scaffold-template</a:t>
            </a:r>
            <a:endParaRPr/>
          </a:p>
          <a:p xmlns:a="http://schemas.openxmlformats.org/drawingml/2006/main">
            <a:pPr marL="0" lvl="0" indent="0" algn="l">
              <a:spcBef>
                <a:spcPts val="0"/>
              </a:spcBef>
              <a:spcAft>
                <a:spcPts val="0"/>
              </a:spcAft>
              <a:buNone/>
            </a:pPr>
            <a:r>
              <a:t>../template/NIDO.md (Quick start; Verified live on testnet)</a:t>
            </a:r>
            <a:endParaRPr/>
          </a:p>
          <a:p xmlns:a="http://schemas.openxmlformats.org/drawingml/2006/main">
            <a:pPr marL="0" lvl="0" indent="0" algn="l">
              <a:spcBef>
                <a:spcPts val="0"/>
              </a:spcBef>
              <a:spcAft>
                <a:spcPts val="0"/>
              </a:spcAft>
              <a:buNone/>
            </a:pPr>
            <a:r>
              <a:t>../template/AGENTS.md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17: Your first smart account app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14:20–15:00 (40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Leave this slide up for questions; the appendix follows.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So, for your project: find the one thing your app does on a user's behalf, write down the rule that should limit it, and let the account enforce that rule. Ask for it once, in plain words, and then stay out of the user's way.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 is the wallet, Perch is the policy layer, and the template gets you a working start. The QR code opens Nido on testnet. Thanks, and I'm happy to take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https://test.nido.fyi</a:t>
            </a:r>
            <a:endParaRPr/>
          </a:p>
          <a:p xmlns:a="http://schemas.openxmlformats.org/drawingml/2006/main">
            <a:pPr marL="0" lvl="0" indent="0" algn="l">
              <a:spcBef>
                <a:spcPts val="0"/>
              </a:spcBef>
              <a:spcAft>
                <a:spcPts val="0"/>
              </a:spcAft>
              <a:buNone/>
            </a:pPr>
            <a:r>
              <a:t>https://github.com/nidohq/scaffold-template</a:t>
            </a:r>
            <a:endParaRPr/>
          </a:p>
          <a:p xmlns:a="http://schemas.openxmlformats.org/drawingml/2006/main">
            <a:pPr marL="0" lvl="0" indent="0" algn="l">
              <a:spcBef>
                <a:spcPts val="0"/>
              </a:spcBef>
              <a:spcAft>
                <a:spcPts val="0"/>
              </a:spcAft>
              <a:buNone/>
            </a:pPr>
            <a:r>
              <a:t>https://github.com/nidohq/nido/blob/4fee10dc55b877e828c5f9fe60cc6807ea10ea6e/README.md</a:t>
            </a:r>
            <a:endParaRPr/>
          </a:p>
          <a:p xmlns:a="http://schemas.openxmlformats.org/drawingml/2006/main">
            <a:pPr marL="0" lvl="0" indent="0" algn="l">
              <a:spcBef>
                <a:spcPts val="0"/>
              </a:spcBef>
              <a:spcAft>
                <a:spcPts val="0"/>
              </a:spcAft>
              <a:buNone/>
            </a:pPr>
            <a:r>
              <a:t>https://github.com/stellar-registry/perch/blob/2d1df9b3eefbaa70c74bbf83ffb8f96cc9581f63/README.md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18: Appendix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20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Backup slides for questions: Perch in depth, what an app can ask Nido for, the rest of the Kudos Jar walkthrough, what the agent tripped on, and findings for the Nido team.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19: One document, one hash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 Perch policy is one JSON document: a list of signers, a list of rules, and optionally recovery. It's written in a canonical form, so the same document always produces the same bytes, and the account stores its hash.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That means anyone can fetch the applied document, hash it, and check it against the chain. Nido's policy page does exactly that.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there's one way to change an account's authorization: apply a new document. Adding a device, granting an app, removing a key: each is a document update, signed under the account's admin rule.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Each rule says who may sign, which contract it covers, which functions, until which ledger, and optionally how much may move.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https://github.com/stellar-registry/perch/blob/2d1df9b3eefbaa70c74bbf83ffb8f96cc9581f63/CANONICAL.md</a:t>
            </a:r>
            <a:endParaRPr/>
          </a:p>
          <a:p xmlns:a="http://schemas.openxmlformats.org/drawingml/2006/main">
            <a:pPr marL="0" lvl="0" indent="0" algn="l">
              <a:spcBef>
                <a:spcPts val="0"/>
              </a:spcBef>
              <a:spcAft>
                <a:spcPts val="0"/>
              </a:spcAft>
              <a:buNone/>
            </a:pPr>
            <a:r>
              <a:t>https://github.com/stellar-registry/perch/blob/2d1df9b3eefbaa70c74bbf83ffb8f96cc9581f63/crates/perch-smart-account/src/lib.rs</a:t>
            </a:r>
            <a:endParaRPr/>
          </a:p>
          <a:p xmlns:a="http://schemas.openxmlformats.org/drawingml/2006/main">
            <a:pPr marL="0" lvl="0" indent="0" algn="l">
              <a:spcBef>
                <a:spcPts val="0"/>
              </a:spcBef>
              <a:spcAft>
                <a:spcPts val="0"/>
              </a:spcAft>
              <a:buNone/>
            </a:pPr>
            <a:r>
              <a:t>https://github.com/stellar-registry/perch/blob/2d1df9b3eefbaa70c74bbf83ffb8f96cc9581f63/crates/perch-account/src/lib.rs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20: From document to enforcement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How does a document turn into enforcement?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You write the document, or a wallet writes it for you. The account sends it to Perch's doc compiler, which is itself a contract, so compilation happens on chain. The compiler lowers each rule onto an OpenZeppelin context rule. Simple rules need nothing more than OpenZeppelin's own signer check. Rules with constraints get a small program for Perch's interpreter, and a cap attaches OpenZeppelin's spending-limit policy next to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Then, on every authorization, the account picks the rule the signature names, checks scope and expiry, verifies the signers, and runs every attached policy. All of them must pass. The interpreter denies by default: if anything can't be decoded, the answer is no.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https://github.com/stellar-registry/perch/blob/2d1df9b3eefbaa70c74bbf83ffb8f96cc9581f63/crates/perch-doc-compiler/src/lib.rs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https://github.com/stellar-registry/perch/blob/2d1df9b3eefbaa70c74bbf83ffb8f96cc9581f63/crates/perch-interpreter/src/lib.rs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https://github.com/stellar-registry/perch/blob/2d1df9b3eefbaa70c74bbf83ffb8f96cc9581f63/crates/perch-spending-limit/src/lib.rs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21: Verifiers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Who can sign for a Perch account? Three kinds of signer today.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Ed25519, the classic key type, checked by a verifier contract. WebAuthn, for passkeys on the P-256 curve, also a verifier contract; Nido uses it for the account's admin key. And delegated signers: any G or C address, authenticated by the host inside the account's own authorization entry, using CAP-71 from protocol 27. That's what the demo app's session key 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Because verifiers are contracts, new signature schemes can be added without changing accounts. ML-DSA, a post-quantum scheme, is on Perch's roadmap as exactly that kind of verifier. It isn't built yet, so treat it as a direction, not a feature.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https://github.com/stellar-registry/perch/blob/2d1df9b3eefbaa70c74bbf83ffb8f96cc9581f63/crates/perch-ed25519-verifier/src/lib.rs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https://github.com/stellar-registry/perch/blob/2d1df9b3eefbaa70c74bbf83ffb8f96cc9581f63/crates/perch-webauthn-verifier/src/lib.rs</a:t>
            </a:r>
            <a:endParaRPr/>
          </a:p>
          <a:p xmlns:a="http://schemas.openxmlformats.org/drawingml/2006/main">
            <a:pPr marL="0" lvl="0" indent="0" algn="l">
              <a:spcBef>
                <a:spcPts val="0"/>
              </a:spcBef>
              <a:spcAft>
                <a:spcPts val="0"/>
              </a:spcAft>
              <a:buNone/>
            </a:pPr>
            <a:r>
              <a:t>https://github.com/stellar-registry/perch/blob/2d1df9b3eefbaa70c74bbf83ffb8f96cc9581f63/docs/recovery/cap-0071.md</a:t>
            </a:r>
            <a:endParaRPr/>
          </a:p>
          <a:p xmlns:a="http://schemas.openxmlformats.org/drawingml/2006/main">
            <a:pPr marL="0" lvl="0" indent="0" algn="l">
              <a:spcBef>
                <a:spcPts val="0"/>
              </a:spcBef>
              <a:spcAft>
                <a:spcPts val="0"/>
              </a:spcAft>
              <a:buNone/>
            </a:pPr>
            <a:r>
              <a:t>https://github.com/stellar-registry/perch/blob/2d1df9b3eefbaa70c74bbf83ffb8f96cc9581f63/docs/slides/index.html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22: Constructorless publishing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Perch's shared contracts, the compiler, the interpreter, the verifiers and the spending limit, are published through a Stellar Registry instance that deploys them only one way: no constructor arguments, with the hash of the wasm as the deploy salt. So each contract's address is a pure function of the registry and the code.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 account build pins its compiler, interpreter and spending limit by hash at build time, so no admin setting can point your account at different code later.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If the account itself needs new code, that goes through a scheduled upgrade with a delay of about seven days, which the owner can cancel.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https://github.com/stellar-registry/perch/blob/2d1df9b3eefbaa70c74bbf83ffb8f96cc9581f63/crates/perch-constructorless-registry/src/lib.rs</a:t>
            </a:r>
            <a:endParaRPr/>
          </a:p>
          <a:p xmlns:a="http://schemas.openxmlformats.org/drawingml/2006/main">
            <a:pPr marL="0" lvl="0" indent="0" algn="l">
              <a:spcBef>
                <a:spcPts val="0"/>
              </a:spcBef>
              <a:spcAft>
                <a:spcPts val="0"/>
              </a:spcAft>
              <a:buNone/>
            </a:pPr>
            <a:r>
              <a:t>https://github.com/stellar-registry/perch/blob/2d1df9b3eefbaa70c74bbf83ffb8f96cc9581f63/AGENTS.md</a:t>
            </a:r>
            <a:endParaRPr/>
          </a:p>
          <a:p xmlns:a="http://schemas.openxmlformats.org/drawingml/2006/main">
            <a:pPr marL="0" lvl="0" indent="0" algn="l">
              <a:spcBef>
                <a:spcPts val="0"/>
              </a:spcBef>
              <a:spcAft>
                <a:spcPts val="0"/>
              </a:spcAft>
              <a:buNone/>
            </a:pPr>
            <a:r>
              <a:t>https://github.com/stellar-registry/perch/blob/2d1df9b3eefbaa70c74bbf83ffb8f96cc9581f63/docs/deploy/README.md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23: Accounts and factories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Every Perch account starts with one rule, admin, created by its constructor. Admin is scoped to the account itself, which sounds narrow, but it covers apply-doc and execute, so it's full owner authority. Every other rule arrives later in a document.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Accounts come from factories. Perch's own factory derives the address from the admin signers, so an address commits to who controls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 runs its own factory, for a practical reason: a passkey is bound to a web origin, and Nido gives every account its own subdomain, so the address has to exist before the passkey. Nido reserves it with a one-time setup key, then binds the passkey, and its relayer pays for the deployment.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https://github.com/stellar-registry/perch/blob/2d1df9b3eefbaa70c74bbf83ffb8f96cc9581f63/crates/perch-account/src/lib.rs</a:t>
            </a:r>
            <a:endParaRPr/>
          </a:p>
          <a:p xmlns:a="http://schemas.openxmlformats.org/drawingml/2006/main">
            <a:pPr marL="0" lvl="0" indent="0" algn="l">
              <a:spcBef>
                <a:spcPts val="0"/>
              </a:spcBef>
              <a:spcAft>
                <a:spcPts val="0"/>
              </a:spcAft>
              <a:buNone/>
            </a:pPr>
            <a:r>
              <a:t>https://github.com/stellar-registry/perch/blob/2d1df9b3eefbaa70c74bbf83ffb8f96cc9581f63/crates/perch-account-factory/src/lib.rs</a:t>
            </a:r>
            <a:endParaRPr/>
          </a:p>
          <a:p xmlns:a="http://schemas.openxmlformats.org/drawingml/2006/main">
            <a:pPr marL="0" lvl="0" indent="0" algn="l">
              <a:spcBef>
                <a:spcPts val="0"/>
              </a:spcBef>
              <a:spcAft>
                <a:spcPts val="0"/>
              </a:spcAft>
              <a:buNone/>
            </a:pPr>
            <a:r>
              <a:t>https://github.com/nidohq/nido/blob/4fee10dc55b877e828c5f9fe60cc6807ea10ea6e/DEPLOYED.md</a:t>
            </a:r>
            <a:endParaRPr/>
          </a:p>
          <a:p xmlns:a="http://schemas.openxmlformats.org/drawingml/2006/main">
            <a:pPr marL="0" lvl="0" indent="0" algn="l">
              <a:spcBef>
                <a:spcPts val="0"/>
              </a:spcBef>
              <a:spcAft>
                <a:spcPts val="0"/>
              </a:spcAft>
              <a:buNone/>
            </a:pPr>
            <a:r>
              <a:t>https://github.com/nidohq/nido/blob/4fee10dc55b877e828c5f9fe60cc6807ea10ea6e/contracts/factory/src/contract.rs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24: What an app can ask Nido for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45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From an app's point of view, Nido shows up in Stellar Wallets Kit next to the usual wallets, and you can ask it for a few things.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Connect, which gives you the account's address and nothing else. Sign a transaction, in a popup, with the passkey; Nido's relayer submits it and hands you back the hash. Or a scoped session: the app holds a key, and the owner approves a rule for it, once. Everything about the account itself, recovery, devices and policies, stays in Nido's own pages.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popup can only sign calls on the account itself, which is why apps use a session for their own contracts.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https://github.com/nidohq/nido/blob/4fee10dc55b877e828c5f9fe60cc6807ea10ea6e/packages/stellar-wallets-kit-module/src/module.ts</a:t>
            </a:r>
            <a:endParaRPr/>
          </a:p>
          <a:p xmlns:a="http://schemas.openxmlformats.org/drawingml/2006/main">
            <a:pPr marL="0" lvl="0" indent="0" algn="l">
              <a:spcBef>
                <a:spcPts val="0"/>
              </a:spcBef>
              <a:spcAft>
                <a:spcPts val="0"/>
              </a:spcAft>
              <a:buNone/>
            </a:pPr>
            <a:r>
              <a:t>https://github.com/nidohq/nido/blob/4fee10dc55b877e828c5f9fe60cc6807ea10ea6e/packages/frontend/src/lib/policy/docRequest.ts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25: Walkthrough: a passkey account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35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The walkthrough starts on Nido. Nido reserves the account's address first, here CBP7-something, and then asks for a passkey, which gets bound to that address's own subdomain.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One ceremony, and the relayer deploys the account and funds it with five test XLM. The person never needed XLM, a seed phrase or a browser extension. It took a minute or two, most of it waiting for the network.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https://github.com/nidohq/nido/blob/4fee10dc55b877e828c5f9fe60cc6807ea10ea6e/packages/frontend/src/pages/new-account/index.astro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26: Walkthrough: connect and ask once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40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Next, in the app. Connect, choose Nido from the regular wallet list, and pick the account. The app now knows the C-address and reads its balance from the XLM token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Then it asks one thing up front, in plain words: may this app call tip on the jar, and move up to two XLM a day from your account, for twenty-four hours? A tip touches two contracts, the jar and the XLM token, so that's two rules and two passkey confirmations.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Kudos Jar’s KudosBoard component, same run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27: Walkthrough: the policy afterwards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30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Afterwards, the account's policy page in Nido shows the document: its hash, checked byte for byte against the one stored on chain, the two signers, the passkey and the app's key, and the three rules.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When the rules expire, the app's key stops working, and nobody has to remember to clean anything up.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https://github.com/nidohq/nido/blob/4fee10dc55b877e828c5f9fe60cc6807ea10ea6e/packages/frontend/src/lib/policyChainFetch.ts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28: Walkthrough: the call site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45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The code is short. The generated client builds the tip call. transactionSource keeps the C-address out of the transaction source, because a contract can't be one.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submitContract does the rest. For a classic wallet it signs and sends as usual. For a Nido account with an approved session, the app's key signs a CAP-71 entry that names the right rule for each contract, submits it, and returns the confirmed result.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Both helpers come from the template's app-lib, not the Stellar SDK. Kudos Jar predates submitCall, which now wraps these steps in one call.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Jar’s KudosBoard component, same run</a:t>
            </a:r>
            <a:endParaRPr/>
          </a:p>
          <a:p xmlns:a="http://schemas.openxmlformats.org/drawingml/2006/main">
            <a:pPr marL="0" lvl="0" indent="0" algn="l">
              <a:spcBef>
                <a:spcPts val="0"/>
              </a:spcBef>
              <a:spcAft>
                <a:spcPts val="0"/>
              </a:spcAft>
              <a:buNone/>
            </a:pPr>
            <a:r>
              <a:t>../template/app-lib/session.ts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29: What the agent tripped 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65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What got in the way, and what we changed.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silent tool. The globally installed Scaffold was too old for the template's config, and it failed silently: it compiled the contracts and wrote no clients. The template now installs its own tested Scaffold with tools-colon-scaffold and refuses an older one. A fresh client also brought its own copy of the Stellar SDK, which broke types, so there's a script that folds it back 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blocked popup. The app built and simulated the call before opening Nido's popup, and by then the browser had forgotten the click. The template now reserves the popup during the click.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the wrong path twice: first the popup signing we just saw, then a contract that skipped require-auth to save a rule, which simulation refuses. The agent's instructions file now says both.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Log of the agent-built Kudos Jar run, Oct 2026</a:t>
            </a:r>
            <a:endParaRPr/>
          </a:p>
          <a:p xmlns:a="http://schemas.openxmlformats.org/drawingml/2006/main">
            <a:pPr marL="0" lvl="0" indent="0" algn="l">
              <a:spcBef>
                <a:spcPts val="0"/>
              </a:spcBef>
              <a:spcAft>
                <a:spcPts val="0"/>
              </a:spcAft>
              <a:buNone/>
            </a:pPr>
            <a:r>
              <a:t>../template/NIDO.md</a:t>
            </a:r>
            <a:endParaRPr/>
          </a:p>
          <a:p xmlns:a="http://schemas.openxmlformats.org/drawingml/2006/main">
            <a:pPr marL="0" lvl="0" indent="0" algn="l">
              <a:spcBef>
                <a:spcPts val="0"/>
              </a:spcBef>
              <a:spcAft>
                <a:spcPts val="0"/>
              </a:spcAft>
              <a:buNone/>
            </a:pPr>
            <a:r>
              <a:t>../template/AGENTS.md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30: Upstream findings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 few findings belong upstream, and we've written them up.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Nido's signer, as we saw, signs only under the admin rule. Nido's relayer can't yet decode the CAP-71 entries that its own session grants produce, so the demo's session key pays its own fees. And Nido's integration guide still says the wallet returns signed XDR for the app to submit; the code now submits and returns a hash, and the template handles that.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dry run added two more for Nido: tell the app why the relayer refused, and let it pay its own fee when the budget is gone. The template's half of both is ready; the feedback report has the full list.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Log of the agent-built Kudos Jar run, Oct 2026</a:t>
            </a:r>
            <a:endParaRPr/>
          </a:p>
          <a:p xmlns:a="http://schemas.openxmlformats.org/drawingml/2006/main">
            <a:pPr marL="0" lvl="0" indent="0" algn="l">
              <a:spcBef>
                <a:spcPts val="0"/>
              </a:spcBef>
              <a:spcAft>
                <a:spcPts val="0"/>
              </a:spcAft>
              <a:buNone/>
            </a:pPr>
            <a:r>
              <a:t>Feedback report from a six-team simulated hackathon run, Oct 2026 §5.2, §6</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https://github.com/nidohq/nido/blob/4fee10dc55b877e828c5f9fe60cc6807ea10ea6e/packages/stellar-wallets-kit-module/README.md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6cfafc45fcc43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139f4a523f493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9f4c64e59df49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6230b73822489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7ef1d00b259450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de586d7be75455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9d79e4a5cc64b9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4d8dca506a7423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4511190aa384a3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0007981d9574e0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b95d1df77284fda"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461CBD1A-97D0-4259-A720-F32F46C25C0F}"/>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32C2652F-15D1-4EA3-B04A-C5D82123D223}"/>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616C1EB9-F9E0-42BA-B53D-305A6DCA21E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4B16B897-9B83-4B92-B4C0-F6AA66F9410C}"/>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B418DE1E-D315-4F01-AC3F-A0C02C5E2D2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F523E5E8-0BC2-40DE-AF85-C597D42E9DD7}"/>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98810BCC-5C79-407D-9FA9-DD55E3B7449B}"/>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EB2E3C74-3DA3-41E5-BEA8-18BAC1E0C48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EBF868F7-685F-4E46-BDC3-37C985F7A996}"/>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03DA92A1-BB73-4B99-B906-0B707945E0A3}"/>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46EBD510-FBD3-400A-82D9-10402813788C}"/>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5A60E535-210B-4CE8-BC2E-A73C14C896E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923089E8-0C75-48EB-B1E6-3A38EBED9E6E}"/>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CA2D6EDA-EFBC-4FA2-BC20-A98A0E14791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72BE2409-B9FF-4888-A523-ABB1EDB30F5E}"/>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2F6DE717-8052-401E-9408-119ED273C644}"/>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A0C2B807-FF1D-4D12-AB9B-0F0C11FE721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20E6C97B-77C7-4A79-A380-C3ED4EA935FC}"/>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87BEA02A-6888-48CB-AA55-C33FC54D952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641D46BB-BD04-40A9-A5D6-72DBA68A6CFE}"/>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92DDAF6E-79E6-4F69-A736-6FE7DDA2EADE}"/>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CB005789-70D6-469E-9C17-AF99ED9DC6F8}"/>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DB8309A2-F23D-42DF-A345-2EB9BC731C80}"/>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FDD04DC8-F7D4-4CB1-A1A9-D9DBD877E561}"/>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447ADFD3-AEA7-4467-9457-82F439584CF6}"/>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675F76C8-8A39-43A3-A23E-6A54668A58B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46DD88FC-E1C1-4361-9677-B621347D37E6}"/>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B82940F8-B73C-4A4C-91E8-E416867A9C26}"/>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82F90F93-535A-461D-AFD9-0AF1944A0DF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8910A22A-2314-4A78-985C-24EC68A0934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9d23d16da04d82" /><Relationship Type="http://schemas.openxmlformats.org/officeDocument/2006/relationships/slideLayout" Target="/ppt/slideLayouts/slideLayout1.xml" Id="R37bcd2c6f6f341b1" /><Relationship Type="http://schemas.openxmlformats.org/officeDocument/2006/relationships/slideLayout" Target="/ppt/slideLayouts/slideLayout2.xml" Id="R7916af5eaeb04bf1" /><Relationship Type="http://schemas.openxmlformats.org/officeDocument/2006/relationships/slideLayout" Target="/ppt/slideLayouts/slideLayout3.xml" Id="R127449dd5cec41b3" /><Relationship Type="http://schemas.openxmlformats.org/officeDocument/2006/relationships/slideLayout" Target="/ppt/slideLayouts/slideLayout4.xml" Id="R4bfc754f283c4f9d" /><Relationship Type="http://schemas.openxmlformats.org/officeDocument/2006/relationships/slideLayout" Target="/ppt/slideLayouts/slideLayout5.xml" Id="R312ac9913afc47e8" /><Relationship Type="http://schemas.openxmlformats.org/officeDocument/2006/relationships/slideLayout" Target="/ppt/slideLayouts/slideLayout6.xml" Id="Re432634908194bff" /><Relationship Type="http://schemas.openxmlformats.org/officeDocument/2006/relationships/slideLayout" Target="/ppt/slideLayouts/slideLayout7.xml" Id="R88e2bfaa720e4c6c" /><Relationship Type="http://schemas.openxmlformats.org/officeDocument/2006/relationships/slideLayout" Target="/ppt/slideLayouts/slideLayout8.xml" Id="R6d13985e458a4bd8" /><Relationship Type="http://schemas.openxmlformats.org/officeDocument/2006/relationships/slideLayout" Target="/ppt/slideLayouts/slideLayout9.xml" Id="R0ce76b18fed2454d" /><Relationship Type="http://schemas.openxmlformats.org/officeDocument/2006/relationships/slideLayout" Target="/ppt/slideLayouts/slideLayout10.xml" Id="Rf30a0d6c2bf94d81" /><Relationship Type="http://schemas.openxmlformats.org/officeDocument/2006/relationships/slideLayout" Target="/ppt/slideLayouts/slideLayout11.xml" Id="Rda403a4f843c4f6d"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B7CF2D96-06A6-4A20-A4F5-3E1A4C3AAB1A}"/>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55C6F389-5075-4213-A1D4-F3364F124D94}"/>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959E25B8-C135-403A-9675-A2EF05D50BB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37bcd2c6f6f341b1"/>
    <p:sldLayoutId xmlns:r="http://schemas.openxmlformats.org/officeDocument/2006/relationships" id="2147483650" r:id="R7916af5eaeb04bf1"/>
    <p:sldLayoutId xmlns:r="http://schemas.openxmlformats.org/officeDocument/2006/relationships" id="2147483651" r:id="R127449dd5cec41b3"/>
    <p:sldLayoutId xmlns:r="http://schemas.openxmlformats.org/officeDocument/2006/relationships" id="2147483652" r:id="R4bfc754f283c4f9d"/>
    <p:sldLayoutId xmlns:r="http://schemas.openxmlformats.org/officeDocument/2006/relationships" id="2147483653" r:id="R312ac9913afc47e8"/>
    <p:sldLayoutId xmlns:r="http://schemas.openxmlformats.org/officeDocument/2006/relationships" id="2147483654" r:id="Re432634908194bff"/>
    <p:sldLayoutId xmlns:r="http://schemas.openxmlformats.org/officeDocument/2006/relationships" id="2147483655" r:id="R88e2bfaa720e4c6c"/>
    <p:sldLayoutId xmlns:r="http://schemas.openxmlformats.org/officeDocument/2006/relationships" id="2147483656" r:id="R6d13985e458a4bd8"/>
    <p:sldLayoutId xmlns:r="http://schemas.openxmlformats.org/officeDocument/2006/relationships" id="2147483657" r:id="R0ce76b18fed2454d"/>
    <p:sldLayoutId xmlns:r="http://schemas.openxmlformats.org/officeDocument/2006/relationships" id="2147483658" r:id="Rf30a0d6c2bf94d81"/>
    <p:sldLayoutId xmlns:r="http://schemas.openxmlformats.org/officeDocument/2006/relationships" id="2147483659" r:id="Rda403a4f843c4f6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ecf771e957e41b7" /><Relationship Type="http://schemas.openxmlformats.org/officeDocument/2006/relationships/image" Target="/ppt/media/image.png" Id="Rd95058242d8b433f" /><Relationship Type="http://schemas.openxmlformats.org/officeDocument/2006/relationships/image" Target="/ppt/media/image2.png" Id="R54d98b4f9ee94e21" /><Relationship Type="http://schemas.openxmlformats.org/officeDocument/2006/relationships/image" Target="/ppt/media/image3.png" Id="Ra546b6449e294ff8" /><Relationship Type="http://schemas.openxmlformats.org/officeDocument/2006/relationships/notesSlide" Target="/ppt/notesSlides/notesSlide1.xml" Id="R871ad291dd584c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4a92915e9da438d" /><Relationship Type="http://schemas.openxmlformats.org/officeDocument/2006/relationships/image" Target="/ppt/media/image.jpeg" Id="R3fcfb11663c34c99" /><Relationship Type="http://schemas.openxmlformats.org/officeDocument/2006/relationships/image" Target="/ppt/media/image4.png" Id="R1111223e75ae4f74" /><Relationship Type="http://schemas.openxmlformats.org/officeDocument/2006/relationships/image" Target="/ppt/media/image5.png" Id="Rd8a7dbc34941412c" /><Relationship Type="http://schemas.openxmlformats.org/officeDocument/2006/relationships/notesSlide" Target="/ppt/notesSlides/notesSlide2.xml" Id="R65373ac11eaa4e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6dc303fe7904ef6" /><Relationship Type="http://schemas.openxmlformats.org/officeDocument/2006/relationships/image" Target="/ppt/media/image2.jpeg" Id="R393fcdca08dc4c8c" /><Relationship Type="http://schemas.openxmlformats.org/officeDocument/2006/relationships/image" Target="/ppt/media/image2.png" Id="Rc0ea0a6a8c31472e" /><Relationship Type="http://schemas.openxmlformats.org/officeDocument/2006/relationships/image" Target="/ppt/media/image5.png" Id="R86c3c0e8676c4c41" /><Relationship Type="http://schemas.openxmlformats.org/officeDocument/2006/relationships/notesSlide" Target="/ppt/notesSlides/notesSlide3.xml" Id="R8cbe58a017074f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c5d1d326a6c540fa" /><Relationship Type="http://schemas.openxmlformats.org/officeDocument/2006/relationships/image" Target="/ppt/media/image4.png" Id="R49370a6e72274361" /><Relationship Type="http://schemas.openxmlformats.org/officeDocument/2006/relationships/image" Target="/ppt/media/image5.png" Id="R0ddbca304a67433a" /><Relationship Type="http://schemas.openxmlformats.org/officeDocument/2006/relationships/notesSlide" Target="/ppt/notesSlides/notesSlide4.xml" Id="Rea2988435bc649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21c6fc682264077" /><Relationship Type="http://schemas.openxmlformats.org/officeDocument/2006/relationships/image" Target="/ppt/media/image6.png" Id="Rb091a8ea89dd450d" /><Relationship Type="http://schemas.openxmlformats.org/officeDocument/2006/relationships/image" Target="/ppt/media/image2.png" Id="R9f562e8475e84605" /><Relationship Type="http://schemas.openxmlformats.org/officeDocument/2006/relationships/image" Target="/ppt/media/image5.png" Id="R0d58ffb7e0b5496d" /><Relationship Type="http://schemas.openxmlformats.org/officeDocument/2006/relationships/notesSlide" Target="/ppt/notesSlides/notesSlide5.xml" Id="R467b01df9ace49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a0b2c312f4c49d8" /><Relationship Type="http://schemas.openxmlformats.org/officeDocument/2006/relationships/image" Target="/ppt/media/image4.png" Id="R372680c3673447e8" /><Relationship Type="http://schemas.openxmlformats.org/officeDocument/2006/relationships/image" Target="/ppt/media/image5.png" Id="R5205fe37ac414597" /><Relationship Type="http://schemas.openxmlformats.org/officeDocument/2006/relationships/notesSlide" Target="/ppt/notesSlides/notesSlide6.xml" Id="Rdb9dd567d21b43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cf15538b27fc41bc" /><Relationship Type="http://schemas.openxmlformats.org/officeDocument/2006/relationships/image" Target="/ppt/media/image4.png" Id="Ref03ea2728704503" /><Relationship Type="http://schemas.openxmlformats.org/officeDocument/2006/relationships/image" Target="/ppt/media/image5.png" Id="Ra86eaa40d84c4eb8" /><Relationship Type="http://schemas.openxmlformats.org/officeDocument/2006/relationships/notesSlide" Target="/ppt/notesSlides/notesSlide7.xml" Id="Rdd2ada8bef6446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95330f73f36644fd" /><Relationship Type="http://schemas.openxmlformats.org/officeDocument/2006/relationships/image" Target="/ppt/media/image2.jpeg" Id="Rb87ca06f0e3c469c" /><Relationship Type="http://schemas.openxmlformats.org/officeDocument/2006/relationships/image" Target="/ppt/media/image2.png" Id="Rc48ff585e3c844d7" /><Relationship Type="http://schemas.openxmlformats.org/officeDocument/2006/relationships/image" Target="/ppt/media/image5.png" Id="R88d4735196424f38" /><Relationship Type="http://schemas.openxmlformats.org/officeDocument/2006/relationships/notesSlide" Target="/ppt/notesSlides/notesSlide8.xml" Id="R4be163c2c7e343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210d415b3bb54911" /><Relationship Type="http://schemas.openxmlformats.org/officeDocument/2006/relationships/image" Target="/ppt/media/image4.png" Id="Rf45d274a23694177" /><Relationship Type="http://schemas.openxmlformats.org/officeDocument/2006/relationships/image" Target="/ppt/media/image5.png" Id="R49deaf0dbff6484b" /><Relationship Type="http://schemas.openxmlformats.org/officeDocument/2006/relationships/notesSlide" Target="/ppt/notesSlides/notesSlide9.xml" Id="Ref1664a619ac45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712274f3cf204943" /><Relationship Type="http://schemas.openxmlformats.org/officeDocument/2006/relationships/image" Target="/ppt/media/image.jpeg" Id="R7219e9b5aab24def" /><Relationship Type="http://schemas.openxmlformats.org/officeDocument/2006/relationships/image" Target="/ppt/media/image2.png" Id="R65ec92dc3c164d28" /><Relationship Type="http://schemas.openxmlformats.org/officeDocument/2006/relationships/image" Target="/ppt/media/image3.png" Id="R544de55261bc412e" /><Relationship Type="http://schemas.openxmlformats.org/officeDocument/2006/relationships/notesSlide" Target="/ppt/notesSlides/notesSlide10.xml" Id="R86be7e90ed7a4c4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e038846fac204606" /><Relationship Type="http://schemas.openxmlformats.org/officeDocument/2006/relationships/image" Target="/ppt/media/image4.png" Id="Rb12a9bda5e014666" /><Relationship Type="http://schemas.openxmlformats.org/officeDocument/2006/relationships/image" Target="/ppt/media/image5.png" Id="Rc990a3592f0549f7" /><Relationship Type="http://schemas.openxmlformats.org/officeDocument/2006/relationships/image" Target="/ppt/media/image7.png" Id="Ra93e1efdb2bf4d96" /><Relationship Type="http://schemas.openxmlformats.org/officeDocument/2006/relationships/notesSlide" Target="/ppt/notesSlides/notesSlide11.xml" Id="R83172870ff1142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4d47c9908e3b4a61" /><Relationship Type="http://schemas.openxmlformats.org/officeDocument/2006/relationships/image" Target="/ppt/media/image4.png" Id="R3fa229ff2f664382" /><Relationship Type="http://schemas.openxmlformats.org/officeDocument/2006/relationships/image" Target="/ppt/media/image5.png" Id="R1238bb2934e540c8" /><Relationship Type="http://schemas.openxmlformats.org/officeDocument/2006/relationships/image" Target="/ppt/media/image8.png" Id="R5886198e4b05431d" /><Relationship Type="http://schemas.openxmlformats.org/officeDocument/2006/relationships/notesSlide" Target="/ppt/notesSlides/notesSlide12.xml" Id="Rdf5b2a6de8d1414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ae53a68f57b4737" /><Relationship Type="http://schemas.openxmlformats.org/officeDocument/2006/relationships/image" Target="/ppt/media/image4.png" Id="R1a0939633fc34660" /><Relationship Type="http://schemas.openxmlformats.org/officeDocument/2006/relationships/image" Target="/ppt/media/image5.png" Id="R5e725e80af8a4ac8" /><Relationship Type="http://schemas.openxmlformats.org/officeDocument/2006/relationships/notesSlide" Target="/ppt/notesSlides/notesSlide13.xml" Id="Refdcc62f674a40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0c6da741120d4fc8" /><Relationship Type="http://schemas.openxmlformats.org/officeDocument/2006/relationships/image" Target="/ppt/media/image6.png" Id="Rd982979c6c954f26" /><Relationship Type="http://schemas.openxmlformats.org/officeDocument/2006/relationships/image" Target="/ppt/media/image2.png" Id="R63cbf25370814a7d" /><Relationship Type="http://schemas.openxmlformats.org/officeDocument/2006/relationships/image" Target="/ppt/media/image5.png" Id="Ra1a7a7dc4ebf45c3" /><Relationship Type="http://schemas.openxmlformats.org/officeDocument/2006/relationships/notesSlide" Target="/ppt/notesSlides/notesSlide14.xml" Id="Ra06652e8253b461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fcfa65d7f090497b" /><Relationship Type="http://schemas.openxmlformats.org/officeDocument/2006/relationships/image" Target="/ppt/media/image4.png" Id="R3a025d1871fe4716" /><Relationship Type="http://schemas.openxmlformats.org/officeDocument/2006/relationships/image" Target="/ppt/media/image5.png" Id="R97526c38b1324263" /><Relationship Type="http://schemas.openxmlformats.org/officeDocument/2006/relationships/notesSlide" Target="/ppt/notesSlides/notesSlide15.xml" Id="R95208c88689d4ca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f176f54685f04794" /><Relationship Type="http://schemas.openxmlformats.org/officeDocument/2006/relationships/image" Target="/ppt/media/image2.jpeg" Id="R44ecf4529f2541e1" /><Relationship Type="http://schemas.openxmlformats.org/officeDocument/2006/relationships/image" Target="/ppt/media/image2.png" Id="Rc4f930f4f1bd4ea2" /><Relationship Type="http://schemas.openxmlformats.org/officeDocument/2006/relationships/image" Target="/ppt/media/image5.png" Id="R484e0596a8fd4954" /><Relationship Type="http://schemas.openxmlformats.org/officeDocument/2006/relationships/notesSlide" Target="/ppt/notesSlides/notesSlide16.xml" Id="Rbc778b2484a04b3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ff6999a197814a26" /><Relationship Type="http://schemas.openxmlformats.org/officeDocument/2006/relationships/image" Target="/ppt/media/image9.png" Id="R0381d875767a4a1c" /><Relationship Type="http://schemas.openxmlformats.org/officeDocument/2006/relationships/image" Target="/ppt/media/image4.png" Id="R923f8b9b56c6412a" /><Relationship Type="http://schemas.openxmlformats.org/officeDocument/2006/relationships/image" Target="/ppt/media/image2.png" Id="R4ddc451916e247d0" /><Relationship Type="http://schemas.openxmlformats.org/officeDocument/2006/relationships/image" Target="/ppt/media/image5.png" Id="Rc91178fb731248e8" /><Relationship Type="http://schemas.openxmlformats.org/officeDocument/2006/relationships/image" Target="/ppt/media/image10.png" Id="R9d683bfaae4d48ac" /><Relationship Type="http://schemas.openxmlformats.org/officeDocument/2006/relationships/notesSlide" Target="/ppt/notesSlides/notesSlide17.xml" Id="Rf9e4a9c3b68b4d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d05d7b2becb846e8" /><Relationship Type="http://schemas.openxmlformats.org/officeDocument/2006/relationships/image" Target="/ppt/media/image.jpeg" Id="R3459fceedfa04a2d" /><Relationship Type="http://schemas.openxmlformats.org/officeDocument/2006/relationships/image" Target="/ppt/media/image4.png" Id="R6f58792ae0824ea7" /><Relationship Type="http://schemas.openxmlformats.org/officeDocument/2006/relationships/image" Target="/ppt/media/image5.png" Id="Rc51fe273def64ca0" /><Relationship Type="http://schemas.openxmlformats.org/officeDocument/2006/relationships/notesSlide" Target="/ppt/notesSlides/notesSlide18.xml" Id="Rec84a78c32b440f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3.xml" Id="Rdecab1fb5358481a" /><Relationship Type="http://schemas.openxmlformats.org/officeDocument/2006/relationships/image" Target="/ppt/media/image.jpeg" Id="R19258023b5f54152" /><Relationship Type="http://schemas.openxmlformats.org/officeDocument/2006/relationships/image" Target="/ppt/media/image2.png" Id="R096483e4d83a4d95" /><Relationship Type="http://schemas.openxmlformats.org/officeDocument/2006/relationships/image" Target="/ppt/media/image3.png" Id="R0e5ed707793e49b0" /><Relationship Type="http://schemas.openxmlformats.org/officeDocument/2006/relationships/notesSlide" Target="/ppt/notesSlides/notesSlide19.xml" Id="Rb113bd44ef024e8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3.xml" Id="R021930b44cb04886" /><Relationship Type="http://schemas.openxmlformats.org/officeDocument/2006/relationships/image" Target="/ppt/media/image6.png" Id="Re4faf2072fe24650" /><Relationship Type="http://schemas.openxmlformats.org/officeDocument/2006/relationships/image" Target="/ppt/media/image2.png" Id="R5803761905524ed4" /><Relationship Type="http://schemas.openxmlformats.org/officeDocument/2006/relationships/image" Target="/ppt/media/image5.png" Id="Rca1b6c76d6b4443a" /><Relationship Type="http://schemas.openxmlformats.org/officeDocument/2006/relationships/notesSlide" Target="/ppt/notesSlides/notesSlide20.xml" Id="Rc5be6ce92e734b3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3.xml" Id="R48f86899b52a44d5" /><Relationship Type="http://schemas.openxmlformats.org/officeDocument/2006/relationships/image" Target="/ppt/media/image6.png" Id="R788a725908b74ace" /><Relationship Type="http://schemas.openxmlformats.org/officeDocument/2006/relationships/image" Target="/ppt/media/image2.png" Id="R00bb9b604290456d" /><Relationship Type="http://schemas.openxmlformats.org/officeDocument/2006/relationships/image" Target="/ppt/media/image5.png" Id="R18e637eb40924377" /><Relationship Type="http://schemas.openxmlformats.org/officeDocument/2006/relationships/notesSlide" Target="/ppt/notesSlides/notesSlide21.xml" Id="Rde7aa5abc463420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3.xml" Id="Rbcd08dbd7de94346" /><Relationship Type="http://schemas.openxmlformats.org/officeDocument/2006/relationships/image" Target="/ppt/media/image2.jpeg" Id="Rfdff4adea3c94ba2" /><Relationship Type="http://schemas.openxmlformats.org/officeDocument/2006/relationships/image" Target="/ppt/media/image2.png" Id="R645b3eb4f9944e94" /><Relationship Type="http://schemas.openxmlformats.org/officeDocument/2006/relationships/image" Target="/ppt/media/image5.png" Id="R0c741888536e43bc" /><Relationship Type="http://schemas.openxmlformats.org/officeDocument/2006/relationships/notesSlide" Target="/ppt/notesSlides/notesSlide22.xml" Id="Rfe28e3db60e646e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3.xml" Id="Rf0a8e23647e24de4" /><Relationship Type="http://schemas.openxmlformats.org/officeDocument/2006/relationships/image" Target="/ppt/media/image.jpeg" Id="R4bbbab7dadf94a90" /><Relationship Type="http://schemas.openxmlformats.org/officeDocument/2006/relationships/image" Target="/ppt/media/image2.png" Id="R91959e2e71b34872" /><Relationship Type="http://schemas.openxmlformats.org/officeDocument/2006/relationships/image" Target="/ppt/media/image3.png" Id="R27ae3079aed14b39" /><Relationship Type="http://schemas.openxmlformats.org/officeDocument/2006/relationships/notesSlide" Target="/ppt/notesSlides/notesSlide23.xml" Id="R88f72403bf69491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3.xml" Id="R7292a6498dfd4c0b" /><Relationship Type="http://schemas.openxmlformats.org/officeDocument/2006/relationships/image" Target="/ppt/media/image6.png" Id="R1b67c993dd85461b" /><Relationship Type="http://schemas.openxmlformats.org/officeDocument/2006/relationships/image" Target="/ppt/media/image2.png" Id="R594115366c1b47cb" /><Relationship Type="http://schemas.openxmlformats.org/officeDocument/2006/relationships/image" Target="/ppt/media/image5.png" Id="R461265e353e54679" /><Relationship Type="http://schemas.openxmlformats.org/officeDocument/2006/relationships/notesSlide" Target="/ppt/notesSlides/notesSlide24.xml" Id="R2128f5e51de84e0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3.xml" Id="R151f99fa589c4410" /><Relationship Type="http://schemas.openxmlformats.org/officeDocument/2006/relationships/image" Target="/ppt/media/image4.png" Id="Rcddcd80c72f84ff1" /><Relationship Type="http://schemas.openxmlformats.org/officeDocument/2006/relationships/image" Target="/ppt/media/image5.png" Id="R72afc5484f6f4651" /><Relationship Type="http://schemas.openxmlformats.org/officeDocument/2006/relationships/image" Target="/ppt/media/image11.png" Id="R47597fe5d46e4f15" /><Relationship Type="http://schemas.openxmlformats.org/officeDocument/2006/relationships/notesSlide" Target="/ppt/notesSlides/notesSlide25.xml" Id="R13d2cd0b0bb149a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3.xml" Id="R0769e4c9e93041c7" /><Relationship Type="http://schemas.openxmlformats.org/officeDocument/2006/relationships/image" Target="/ppt/media/image4.png" Id="R46b1b856f89a42f5" /><Relationship Type="http://schemas.openxmlformats.org/officeDocument/2006/relationships/image" Target="/ppt/media/image5.png" Id="R303a815901d94814" /><Relationship Type="http://schemas.openxmlformats.org/officeDocument/2006/relationships/image" Target="/ppt/media/image12.png" Id="R5d7249e7a6194729" /><Relationship Type="http://schemas.openxmlformats.org/officeDocument/2006/relationships/notesSlide" Target="/ppt/notesSlides/notesSlide26.xml" Id="R2da20b2db53248c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3.xml" Id="R21edd4f4062b4b04" /><Relationship Type="http://schemas.openxmlformats.org/officeDocument/2006/relationships/image" Target="/ppt/media/image4.png" Id="Rafd2c215fe804b14" /><Relationship Type="http://schemas.openxmlformats.org/officeDocument/2006/relationships/image" Target="/ppt/media/image5.png" Id="R832efe22488148da" /><Relationship Type="http://schemas.openxmlformats.org/officeDocument/2006/relationships/image" Target="/ppt/media/image13.png" Id="Re5f345480d0e451e" /><Relationship Type="http://schemas.openxmlformats.org/officeDocument/2006/relationships/notesSlide" Target="/ppt/notesSlides/notesSlide27.xml" Id="R5089d3b7cbad487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3.xml" Id="R6f0fc1fb00c34dd8" /><Relationship Type="http://schemas.openxmlformats.org/officeDocument/2006/relationships/image" Target="/ppt/media/image4.png" Id="R2558ac691ad245dc" /><Relationship Type="http://schemas.openxmlformats.org/officeDocument/2006/relationships/image" Target="/ppt/media/image5.png" Id="Rb93dfd19fc094a69" /><Relationship Type="http://schemas.openxmlformats.org/officeDocument/2006/relationships/notesSlide" Target="/ppt/notesSlides/notesSlide28.xml" Id="Rf99ff138006a46d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3.xml" Id="R1fd214aba3964483" /><Relationship Type="http://schemas.openxmlformats.org/officeDocument/2006/relationships/image" Target="/ppt/media/image6.png" Id="R1481e25f2cdb4688" /><Relationship Type="http://schemas.openxmlformats.org/officeDocument/2006/relationships/image" Target="/ppt/media/image2.png" Id="R674e60be8f944d49" /><Relationship Type="http://schemas.openxmlformats.org/officeDocument/2006/relationships/image" Target="/ppt/media/image5.png" Id="R21b8c48275044f17" /><Relationship Type="http://schemas.openxmlformats.org/officeDocument/2006/relationships/notesSlide" Target="/ppt/notesSlides/notesSlide29.xml" Id="R6fd803b72820483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3.xml" Id="R4de21a810ac14093" /><Relationship Type="http://schemas.openxmlformats.org/officeDocument/2006/relationships/image" Target="/ppt/media/image6.png" Id="Rbc172ab4c0dd4ffa" /><Relationship Type="http://schemas.openxmlformats.org/officeDocument/2006/relationships/image" Target="/ppt/media/image2.png" Id="Rbbbc7786ef074aeb" /><Relationship Type="http://schemas.openxmlformats.org/officeDocument/2006/relationships/image" Target="/ppt/media/image5.png" Id="R80b815f6a66b4ae5" /><Relationship Type="http://schemas.openxmlformats.org/officeDocument/2006/relationships/notesSlide" Target="/ppt/notesSlides/notesSlide30.xml" Id="R9083a502bc0745b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01799F43-35F6-41D1-A9B9-50F5E940EE61}"/>
              </a:ext>
            </a:extLst>
          </p:cNvPr>
          <p:cNvSpPr>
            <a:spLocks xmlns:a="http://schemas.openxmlformats.org/drawingml/2006/main" noGrp="1"/>
          </p:cNvSpPr>
          <p:nvPr/>
        </p:nvSpPr>
        <p:spPr>
          <a:xfrm xmlns:a="http://schemas.openxmlformats.org/drawingml/2006/main">
            <a:off x="0" y="-10375"/>
            <a:ext cx="9144000"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55" name="Google Shape;55;p13">
            <a:extLst xmlns:a="http://schemas.openxmlformats.org/drawingml/2006/main">
              <a:ext uri="{FF2B5EF4-FFF2-40B4-BE49-F238E27FC236}">
                <a16:creationId xmlns:a16="http://schemas.microsoft.com/office/drawing/2014/main" id="{B86FF385-5783-4064-8A7E-36B1F89D916F}"/>
              </a:ext>
            </a:extLst>
          </p:cNvPr>
          <p:cNvSpPr>
            <a:spLocks xmlns:a="http://schemas.openxmlformats.org/drawingml/2006/main" noGrp="1"/>
          </p:cNvSpPr>
          <p:nvPr/>
        </p:nvSpPr>
        <p:spPr>
          <a:xfrm xmlns:a="http://schemas.openxmlformats.org/drawingml/2006/main">
            <a:off x="495300" y="1304925"/>
            <a:ext cx="4286250" cy="335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000"/>
            </a:defPPr>
          </a:lstStyle>
          <a:p xmlns:a="http://schemas.openxmlformats.org/drawingml/2006/main">
            <a:pPr marL="0" lvl="0" indent="0" algn="l">
              <a:spcBef>
                <a:spcPts val="0"/>
              </a:spcBef>
              <a:spcAft>
                <a:spcPts val="0"/>
              </a:spcAft>
              <a:buNone/>
              <a:defRPr sz="1000"/>
            </a:pPr>
            <a:r>
              <a:rPr sz="1000" b="1">
                <a:solidFill>
                  <a:schemeClr val="dk1"/>
                </a:solidFill>
                <a:latin typeface="Inter"/>
                <a:ea typeface="Inter"/>
                <a:cs typeface="Inter"/>
              </a:rPr>
              <a:t>BUILDING AT HACK MERIDIAN</a:t>
            </a:r>
            <a:endParaRPr sz="1000" b="1">
              <a:solidFill>
                <a:schemeClr val="dk1"/>
              </a:solidFill>
              <a:latin typeface="Inter"/>
              <a:ea typeface="Inter"/>
              <a:cs typeface="Inter"/>
            </a:endParaRPr>
          </a:p>
        </p:txBody>
      </p:sp>
      <p:sp>
        <p:nvSpPr>
          <p:cNvPr id="56" name="Google Shape;56;p13">
            <a:extLst xmlns:a="http://schemas.openxmlformats.org/drawingml/2006/main">
              <a:ext uri="{FF2B5EF4-FFF2-40B4-BE49-F238E27FC236}">
                <a16:creationId xmlns:a16="http://schemas.microsoft.com/office/drawing/2014/main" id="{995B09A8-7979-4E08-A2A6-E33757F60E23}"/>
              </a:ext>
            </a:extLst>
          </p:cNvPr>
          <p:cNvSpPr>
            <a:spLocks xmlns:a="http://schemas.openxmlformats.org/drawingml/2006/main" noGrp="1"/>
          </p:cNvSpPr>
          <p:nvPr/>
        </p:nvSpPr>
        <p:spPr>
          <a:xfrm xmlns:a="http://schemas.openxmlformats.org/drawingml/2006/main">
            <a:off x="485775" y="1714500"/>
            <a:ext cx="4429125" cy="19659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None/>
              <a:defRPr sz="3900"/>
            </a:pPr>
            <a:r>
              <a:rPr sz="3900">
                <a:latin typeface="Inter SemiBold"/>
                <a:ea typeface="Inter SemiBold"/>
                <a:cs typeface="Inter SemiBold"/>
              </a:rPr>
              <a:t>STELLAR</a:t>
            </a:r>
            <a:endParaRPr sz="3900">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latin typeface="Inter SemiBold"/>
                <a:ea typeface="Inter SemiBold"/>
                <a:cs typeface="Inter SemiBold"/>
              </a:rPr>
              <a:t>SMART</a:t>
            </a:r>
            <a:endParaRPr sz="3900">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latin typeface="Inter SemiBold"/>
                <a:ea typeface="Inter SemiBold"/>
                <a:cs typeface="Inter SemiBold"/>
              </a:rPr>
              <a:t>ACCOUNTS</a:t>
            </a:r>
            <a:endParaRPr sz="3900">
              <a:latin typeface="Inter SemiBold"/>
              <a:ea typeface="Inter SemiBold"/>
              <a:cs typeface="Inter SemiBold"/>
            </a:endParaRPr>
          </a:p>
        </p:txBody>
      </p:sp>
      <p:sp>
        <p:nvSpPr>
          <p:cNvPr id="57" name="Google Shape;57;p13">
            <a:extLst xmlns:a="http://schemas.openxmlformats.org/drawingml/2006/main">
              <a:ext uri="{FF2B5EF4-FFF2-40B4-BE49-F238E27FC236}">
                <a16:creationId xmlns:a16="http://schemas.microsoft.com/office/drawing/2014/main" id="{587A1A2A-77E8-4BAA-A4FF-DC4D5753B511}"/>
              </a:ext>
            </a:extLst>
          </p:cNvPr>
          <p:cNvSpPr>
            <a:spLocks xmlns:a="http://schemas.openxmlformats.org/drawingml/2006/main" noGrp="1"/>
          </p:cNvSpPr>
          <p:nvPr/>
        </p:nvSpPr>
        <p:spPr>
          <a:xfrm xmlns:a="http://schemas.openxmlformats.org/drawingml/2006/main">
            <a:off x="495300" y="3648075"/>
            <a:ext cx="419100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a:defPPr>
          </a:lstStyle>
          <a:p xmlns:a="http://schemas.openxmlformats.org/drawingml/2006/main">
            <a:pPr marL="0" lvl="0" indent="0" algn="l">
              <a:spcBef>
                <a:spcPts val="0"/>
              </a:spcBef>
              <a:spcAft>
                <a:spcPts val="0"/>
              </a:spcAft>
              <a:buNone/>
              <a:defRPr sz="1650"/>
            </a:pPr>
            <a:r>
              <a:rPr sz="1650">
                <a:latin typeface="Inter"/>
                <a:ea typeface="Inter"/>
                <a:cs typeface="Inter"/>
              </a:rPr>
              <a:t>What a C-address gets you, and how to build an app on one</a:t>
            </a:r>
            <a:endParaRPr sz="1800">
              <a:latin typeface="Inter"/>
              <a:ea typeface="Inter"/>
              <a:cs typeface="Inter"/>
            </a:endParaRPr>
          </a:p>
        </p:txBody>
      </p:sp>
      <p:pic>
        <p:nvPicPr>
          <p:cNvPr id="58" name="Google Shape;58;p13">
            <a:extLst xmlns:a="http://schemas.openxmlformats.org/drawingml/2006/main">
              <a:ext uri="{FF2B5EF4-FFF2-40B4-BE49-F238E27FC236}">
                <a16:creationId xmlns:a16="http://schemas.microsoft.com/office/drawing/2014/main" id="{8BAE025D-BA1E-4B2E-BAB2-7FD30D551CB2}"/>
              </a:ext>
            </a:extLst>
          </p:cNvPr>
          <p:cNvPicPr>
            <a:picLocks xmlns:a="http://schemas.openxmlformats.org/drawingml/2006/main" noChangeAspect="1"/>
          </p:cNvPicPr>
          <p:nvPr/>
        </p:nvPicPr>
        <p:blipFill>
          <a:blip xmlns:r="http://schemas.openxmlformats.org/officeDocument/2006/relationships" xmlns:a="http://schemas.openxmlformats.org/drawingml/2006/main" r:embed="Rd95058242d8b433f">
            <a:alphaModFix/>
          </a:blip>
          <a:stretch xmlns:a="http://schemas.openxmlformats.org/drawingml/2006/main">
            <a:fillRect l="0" t="0" r="0" b="0"/>
          </a:stretch>
        </p:blipFill>
        <p:spPr>
          <a:xfrm xmlns:a="http://schemas.openxmlformats.org/drawingml/2006/main">
            <a:off x="5117726" y="-10375"/>
            <a:ext cx="4026273" cy="5140800"/>
          </a:xfrm>
          <a:prstGeom xmlns:a="http://schemas.openxmlformats.org/drawingml/2006/main" prst="rect">
            <a:avLst/>
          </a:prstGeom>
          <a:ln xmlns:a="http://schemas.openxmlformats.org/drawingml/2006/main">
            <a:noFill/>
          </a:ln>
        </p:spPr>
      </p:pic>
      <p:pic>
        <p:nvPicPr>
          <p:cNvPr id="59" name="Google Shape;59;p13">
            <a:extLst xmlns:a="http://schemas.openxmlformats.org/drawingml/2006/main">
              <a:ext uri="{FF2B5EF4-FFF2-40B4-BE49-F238E27FC236}">
                <a16:creationId xmlns:a16="http://schemas.microsoft.com/office/drawing/2014/main" id="{F36E2C5E-8DA9-4DB0-9DD3-B19A8509EB22}"/>
              </a:ext>
            </a:extLst>
          </p:cNvPr>
          <p:cNvPicPr>
            <a:picLocks xmlns:a="http://schemas.openxmlformats.org/drawingml/2006/main" noChangeAspect="1"/>
          </p:cNvPicPr>
          <p:nvPr/>
        </p:nvPicPr>
        <p:blipFill>
          <a:blip xmlns:r="http://schemas.openxmlformats.org/officeDocument/2006/relationships" xmlns:a="http://schemas.openxmlformats.org/drawingml/2006/main" r:embed="R54d98b4f9ee94e21">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60" name="Google Shape;60;p13">
            <a:extLst xmlns:a="http://schemas.openxmlformats.org/drawingml/2006/main">
              <a:ext uri="{FF2B5EF4-FFF2-40B4-BE49-F238E27FC236}">
                <a16:creationId xmlns:a16="http://schemas.microsoft.com/office/drawing/2014/main" id="{433D12FF-6924-4E6C-AD8C-D3C8B175A1B2}"/>
              </a:ext>
            </a:extLst>
          </p:cNvPr>
          <p:cNvPicPr>
            <a:picLocks xmlns:a="http://schemas.openxmlformats.org/drawingml/2006/main" noChangeAspect="1"/>
          </p:cNvPicPr>
          <p:nvPr/>
        </p:nvPicPr>
        <p:blipFill>
          <a:blip xmlns:r="http://schemas.openxmlformats.org/officeDocument/2006/relationships" xmlns:a="http://schemas.openxmlformats.org/drawingml/2006/main" r:embed="Ra546b6449e294ff8">
            <a:alphaModFix/>
          </a:blip>
          <a:stretch xmlns:a="http://schemas.openxmlformats.org/drawingml/2006/main">
            <a:fillRect l="0" t="0" r="0" b="0"/>
          </a:stretch>
        </p:blipFill>
        <p:spPr>
          <a:xfrm xmlns:a="http://schemas.openxmlformats.org/drawingml/2006/main">
            <a:off x="251700" y="4636650"/>
            <a:ext cx="967025" cy="2495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64303482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25" name="Google Shape;125;p18">
            <a:extLst xmlns:a="http://schemas.openxmlformats.org/drawingml/2006/main">
              <a:ext uri="{FF2B5EF4-FFF2-40B4-BE49-F238E27FC236}">
                <a16:creationId xmlns:a16="http://schemas.microsoft.com/office/drawing/2014/main" id="{96DF8CC6-B8E4-4AE0-8804-74F5E78556C3}"/>
              </a:ext>
            </a:extLst>
          </p:cNvPr>
          <p:cNvSpPr>
            <a:spLocks xmlns:a="http://schemas.openxmlformats.org/drawingml/2006/main" noGrp="1"/>
          </p:cNvSpPr>
          <p:nvPr/>
        </p:nvSpPr>
        <p:spPr>
          <a:xfrm xmlns:a="http://schemas.openxmlformats.org/drawingml/2006/main">
            <a:off x="0" y="-10375"/>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26" name="Google Shape;126;p18">
            <a:extLst xmlns:a="http://schemas.openxmlformats.org/drawingml/2006/main">
              <a:ext uri="{FF2B5EF4-FFF2-40B4-BE49-F238E27FC236}">
                <a16:creationId xmlns:a16="http://schemas.microsoft.com/office/drawing/2014/main" id="{23D3F7D8-108F-4B23-ACD2-F08048EF681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fcfb11663c34c99">
            <a:alphaModFix amt="39000"/>
          </a:blip>
          <a:srcRect xmlns:a="http://schemas.openxmlformats.org/drawingml/2006/main" l="0" t="0" r="0" b="6621"/>
          <a:stretch xmlns:a="http://schemas.openxmlformats.org/drawingml/2006/main"/>
        </p:blipFill>
        <p:spPr>
          <a:xfrm xmlns:a="http://schemas.openxmlformats.org/drawingml/2006/main">
            <a:off x="0" y="-10375"/>
            <a:ext cx="9144000" cy="5143500"/>
          </a:xfrm>
          <a:prstGeom xmlns:a="http://schemas.openxmlformats.org/drawingml/2006/main" prst="rect">
            <a:avLst/>
          </a:prstGeom>
          <a:ln xmlns:a="http://schemas.openxmlformats.org/drawingml/2006/main">
            <a:noFill/>
          </a:ln>
        </p:spPr>
      </p:pic>
      <p:sp>
        <p:nvSpPr>
          <p:cNvPr id="127" name="Google Shape;127;p18">
            <a:extLst xmlns:a="http://schemas.openxmlformats.org/drawingml/2006/main">
              <a:ext uri="{FF2B5EF4-FFF2-40B4-BE49-F238E27FC236}">
                <a16:creationId xmlns:a16="http://schemas.microsoft.com/office/drawing/2014/main" id="{7968BA79-1136-4F13-8151-4DD85F0D87D3}"/>
              </a:ext>
            </a:extLst>
          </p:cNvPr>
          <p:cNvSpPr>
            <a:spLocks xmlns:a="http://schemas.openxmlformats.org/drawingml/2006/main" noGrp="1"/>
          </p:cNvSpPr>
          <p:nvPr/>
        </p:nvSpPr>
        <p:spPr>
          <a:xfrm xmlns:a="http://schemas.openxmlformats.org/drawingml/2006/main">
            <a:off x="1104900" y="1638300"/>
            <a:ext cx="74295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AN ACCOUNT</a:t>
            </a:r>
            <a:endParaRPr sz="39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WITH RULES</a:t>
            </a:r>
            <a:endParaRPr sz="3900">
              <a:solidFill>
                <a:schemeClr val="lt1"/>
              </a:solidFill>
              <a:latin typeface="Inter SemiBold"/>
              <a:ea typeface="Inter SemiBold"/>
              <a:cs typeface="Inter SemiBold"/>
            </a:endParaRPr>
          </a:p>
        </p:txBody>
      </p:sp>
      <p:sp>
        <p:nvSpPr>
          <p:cNvPr id="128" name="Google Shape;128;p18">
            <a:extLst xmlns:a="http://schemas.openxmlformats.org/drawingml/2006/main">
              <a:ext uri="{FF2B5EF4-FFF2-40B4-BE49-F238E27FC236}">
                <a16:creationId xmlns:a16="http://schemas.microsoft.com/office/drawing/2014/main" id="{69BCD9AA-26BD-4FDB-958C-B403E9166F40}"/>
              </a:ext>
            </a:extLst>
          </p:cNvPr>
          <p:cNvSpPr>
            <a:spLocks xmlns:a="http://schemas.openxmlformats.org/drawingml/2006/main" noGrp="1"/>
          </p:cNvSpPr>
          <p:nvPr/>
        </p:nvSpPr>
        <p:spPr>
          <a:xfrm xmlns:a="http://schemas.openxmlformats.org/drawingml/2006/main">
            <a:off x="1152525" y="3019425"/>
            <a:ext cx="65722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i="0"/>
            </a:defPPr>
          </a:lstStyle>
          <a:p xmlns:a="http://schemas.openxmlformats.org/drawingml/2006/main">
            <a:pPr marL="0" lvl="0" indent="0" algn="l">
              <a:spcBef>
                <a:spcPts val="0"/>
              </a:spcBef>
              <a:spcAft>
                <a:spcPts val="0"/>
              </a:spcAft>
              <a:buNone/>
              <a:defRPr sz="1650" i="0"/>
            </a:pPr>
            <a:r>
              <a:rPr sz="1650" i="0">
                <a:solidFill>
                  <a:schemeClr val="lt1"/>
                </a:solidFill>
                <a:latin typeface="Inter"/>
                <a:ea typeface="Inter"/>
                <a:cs typeface="Inter"/>
              </a:rPr>
              <a:t>A G-address is a key. A C-address is a contract that decides what each signature may do.</a:t>
            </a:r>
            <a:endParaRPr sz="1200" i="1">
              <a:solidFill>
                <a:schemeClr val="lt1"/>
              </a:solidFill>
              <a:latin typeface="Inter"/>
              <a:ea typeface="Inter"/>
              <a:cs typeface="Inter"/>
            </a:endParaRPr>
          </a:p>
        </p:txBody>
      </p:sp>
      <p:sp>
        <p:nvSpPr>
          <p:cNvPr id="129" name="Google Shape;129;p18">
            <a:extLst xmlns:a="http://schemas.openxmlformats.org/drawingml/2006/main">
              <a:ext uri="{FF2B5EF4-FFF2-40B4-BE49-F238E27FC236}">
                <a16:creationId xmlns:a16="http://schemas.microsoft.com/office/drawing/2014/main" id="{95CCCFF0-17D7-4550-ACB0-6F9B309DE2B9}"/>
              </a:ext>
            </a:extLst>
          </p:cNvPr>
          <p:cNvSpPr>
            <a:spLocks xmlns:a="http://schemas.openxmlformats.org/drawingml/2006/main" noGrp="1"/>
          </p:cNvSpPr>
          <p:nvPr/>
        </p:nvSpPr>
        <p:spPr>
          <a:xfrm xmlns:a="http://schemas.openxmlformats.org/drawingml/2006/main">
            <a:off x="514350" y="314325"/>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T H E   I D E A</a:t>
            </a:r>
            <a:endParaRPr sz="900" b="1">
              <a:solidFill>
                <a:schemeClr val="lt1"/>
              </a:solidFill>
              <a:latin typeface="Inter"/>
              <a:ea typeface="Inter"/>
              <a:cs typeface="Inter"/>
            </a:endParaRPr>
          </a:p>
        </p:txBody>
      </p:sp>
      <p:pic>
        <p:nvPicPr>
          <p:cNvPr id="130" name="Google Shape;130;p18">
            <a:extLst xmlns:a="http://schemas.openxmlformats.org/drawingml/2006/main">
              <a:ext uri="{FF2B5EF4-FFF2-40B4-BE49-F238E27FC236}">
                <a16:creationId xmlns:a16="http://schemas.microsoft.com/office/drawing/2014/main" id="{4ED9FE7D-CE97-4DF9-997C-A0C87E785575}"/>
              </a:ext>
            </a:extLst>
          </p:cNvPr>
          <p:cNvPicPr>
            <a:picLocks xmlns:a="http://schemas.openxmlformats.org/drawingml/2006/main" noChangeAspect="1"/>
          </p:cNvPicPr>
          <p:nvPr/>
        </p:nvPicPr>
        <p:blipFill>
          <a:blip xmlns:r="http://schemas.openxmlformats.org/officeDocument/2006/relationships" xmlns:a="http://schemas.openxmlformats.org/drawingml/2006/main" r:embed="R1111223e75ae4f74">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31" name="Google Shape;131;p18">
            <a:extLst xmlns:a="http://schemas.openxmlformats.org/drawingml/2006/main">
              <a:ext uri="{FF2B5EF4-FFF2-40B4-BE49-F238E27FC236}">
                <a16:creationId xmlns:a16="http://schemas.microsoft.com/office/drawing/2014/main" id="{A163264E-9DE4-482A-9EBA-E342E155319C}"/>
              </a:ext>
            </a:extLst>
          </p:cNvPr>
          <p:cNvPicPr>
            <a:picLocks xmlns:a="http://schemas.openxmlformats.org/drawingml/2006/main" noChangeAspect="1"/>
          </p:cNvPicPr>
          <p:nvPr/>
        </p:nvPicPr>
        <p:blipFill>
          <a:blip xmlns:r="http://schemas.openxmlformats.org/officeDocument/2006/relationships" xmlns:a="http://schemas.openxmlformats.org/drawingml/2006/main" r:embed="Rd8a7dbc34941412c">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53773774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3F48497F-2FD0-4F3C-B29A-20C3C8D30229}"/>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C L A S S I C   A C C O U N T S</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D560B4D2-3E74-43FE-86EE-72A42A088FD8}"/>
              </a:ext>
            </a:extLst>
          </p:cNvPr>
          <p:cNvSpPr>
            <a:spLocks xmlns:a="http://schemas.openxmlformats.org/drawingml/2006/main" noGrp="1"/>
          </p:cNvSpPr>
          <p:nvPr/>
        </p:nvSpPr>
        <p:spPr>
          <a:xfrm xmlns:a="http://schemas.openxmlformats.org/drawingml/2006/main">
            <a:off x="485775" y="1219200"/>
            <a:ext cx="4714875" cy="7086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450"/>
            </a:defPPr>
          </a:lstStyle>
          <a:p xmlns:a="http://schemas.openxmlformats.org/drawingml/2006/main">
            <a:pPr marL="0" lvl="0" indent="0" algn="l">
              <a:spcBef>
                <a:spcPts val="0"/>
              </a:spcBef>
              <a:spcAft>
                <a:spcPts val="0"/>
              </a:spcAft>
              <a:buNone/>
              <a:defRPr sz="3450"/>
            </a:pPr>
            <a:r>
              <a:rPr sz="3450" spc="-231">
                <a:solidFill>
                  <a:schemeClr val="dk1"/>
                </a:solidFill>
                <a:latin typeface="Inter Medium"/>
                <a:ea typeface="Inter Medium"/>
                <a:cs typeface="Inter Medium"/>
              </a:rPr>
              <a:t>G-ADDRESS: A KEY</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C214E13B-431C-40F2-8BE4-B76F2EA5378A}"/>
              </a:ext>
            </a:extLst>
          </p:cNvPr>
          <p:cNvSpPr>
            <a:spLocks xmlns:a="http://schemas.openxmlformats.org/drawingml/2006/main" noGrp="1"/>
          </p:cNvSpPr>
          <p:nvPr/>
        </p:nvSpPr>
        <p:spPr>
          <a:xfrm xmlns:a="http://schemas.openxmlformats.org/drawingml/2006/main">
            <a:off x="495300" y="1971675"/>
            <a:ext cx="4619625" cy="19430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Signers are ed25519 keys with weights and thresholds. The protocol fixes the rules; you set the numbers.</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You can’t say “only this contract”, “only until Friday” or “at most 2 XLM a day”.</a:t>
            </a:r>
          </a:p>
          <a:p xmlns:a="http://schemas.openxmlformats.org/drawingml/2006/main">
            <a:pPr>
              <a:lnSpc>
                <a:spcPct val="110000"/>
              </a:lnSpc>
              <a:buNone/>
              <a:defRPr sz="1500"/>
            </a:pPr>
            <a:r>
              <a:rPr sz="1500">
                <a:solidFill>
                  <a:srgbClr val="000000"/>
                </a:solidFill>
                <a:latin typeface="Inter"/>
                <a:ea typeface="Inter"/>
                <a:cs typeface="Inter"/>
              </a:rPr>
              <a:t>So an app asks you to sign every action, or holds a key that can do everything.</a:t>
            </a:r>
          </a:p>
        </p:txBody>
      </p:sp>
      <p:pic>
        <p:nvPicPr>
          <p:cNvPr id="167" name="Google Shape;167;p21">
            <a:extLst xmlns:a="http://schemas.openxmlformats.org/drawingml/2006/main">
              <a:ext uri="{FF2B5EF4-FFF2-40B4-BE49-F238E27FC236}">
                <a16:creationId xmlns:a16="http://schemas.microsoft.com/office/drawing/2014/main" id="{384AEE20-2376-4847-B0FA-2C5D63EF4BE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93fcdca08dc4c8c">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A9F2A33-F3F9-4D0B-AC50-BC235E28A8F6}"/>
              </a:ext>
            </a:extLst>
          </p:cNvPr>
          <p:cNvPicPr>
            <a:picLocks xmlns:a="http://schemas.openxmlformats.org/drawingml/2006/main" noChangeAspect="1"/>
          </p:cNvPicPr>
          <p:nvPr/>
        </p:nvPicPr>
        <p:blipFill>
          <a:blip xmlns:r="http://schemas.openxmlformats.org/officeDocument/2006/relationships" xmlns:a="http://schemas.openxmlformats.org/drawingml/2006/main" r:embed="Rc0ea0a6a8c31472e">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B83A35C1-CB69-44B8-89F0-750064604AB9}"/>
              </a:ext>
            </a:extLst>
          </p:cNvPr>
          <p:cNvPicPr>
            <a:picLocks xmlns:a="http://schemas.openxmlformats.org/drawingml/2006/main" noChangeAspect="1"/>
          </p:cNvPicPr>
          <p:nvPr/>
        </p:nvPicPr>
        <p:blipFill>
          <a:blip xmlns:r="http://schemas.openxmlformats.org/officeDocument/2006/relationships" xmlns:a="http://schemas.openxmlformats.org/drawingml/2006/main" r:embed="R86c3c0e8676c4c41">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C1D60ED2-7D36-4208-AA0D-11893D6924AA}"/>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Multisig, yes. Scoped permissions, no.</a:t>
            </a:r>
          </a:p>
        </p:txBody>
      </p:sp>
    </p:spTree>
    <p:extLst>
      <p:ext uri="{BB962C8B-B14F-4D97-AF65-F5344CB8AC3E}">
        <p14:creationId xmlns:p14="http://schemas.microsoft.com/office/powerpoint/2010/main" val="173259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171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2850"/>
            </a:defPPr>
          </a:lstStyle>
          <a:p xmlns:a="http://schemas.openxmlformats.org/drawingml/2006/main">
            <a:pPr marL="0" lvl="0" indent="0" algn="l">
              <a:spcBef>
                <a:spcPts val="0"/>
              </a:spcBef>
              <a:spcAft>
                <a:spcPts val="0"/>
              </a:spcAft>
              <a:buNone/>
              <a:defRPr sz="2850"/>
            </a:pPr>
            <a:r>
              <a:rPr sz="2850">
                <a:solidFill>
                  <a:schemeClr val="lt1"/>
                </a:solidFill>
                <a:latin typeface="Inter SemiBold"/>
                <a:ea typeface="Inter SemiBold"/>
                <a:cs typeface="Inter SemiBold"/>
              </a:rPr>
              <a:t>C-ADDRESS: THE ACCOUNT RUNS CODE</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C O N T R A C T   A C C O U N T S</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49370a6e72274361">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0ddbca304a67433a">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C5E5B8E2-E58E-4FF4-AD2E-573383A9FA3E}"/>
              </a:ext>
            </a:extLst>
          </p:cNvPr>
          <p:cNvSpPr>
            <a:spLocks xmlns:a="http://schemas.openxmlformats.org/drawingml/2006/main" noGrp="1"/>
          </p:cNvSpPr>
          <p:nvPr/>
        </p:nvSpPr>
        <p:spPr>
          <a:xfrm xmlns:a="http://schemas.openxmlformats.org/drawingml/2006/main">
            <a:off x="657225" y="1571625"/>
            <a:ext cx="7896225" cy="2000250"/>
          </a:xfrm>
          <a:prstGeom xmlns:a="http://schemas.openxmlformats.org/drawingml/2006/main" prst="roundRect">
            <a:avLst>
              <a:gd name="adj" fmla="val 3810"/>
            </a:avLst>
          </a:prstGeom>
          <a:solidFill xmlns:a="http://schemas.openxmlformats.org/drawingml/2006/main">
            <a:srgbClr val="161616"/>
          </a:solidFill>
          <a:ln xmlns:a="http://schemas.openxmlformats.org/drawingml/2006/main" w="9525">
            <a:solidFill>
              <a:srgbClr val="2E2E2E"/>
            </a:solidFill>
            <a:prstDash val="solid"/>
          </a:ln>
        </p:spPr>
      </p:sp>
      <p:sp>
        <p:nvSpPr>
          <p:cNvPr id="189" name="">
            <a:extLst xmlns:a="http://schemas.openxmlformats.org/drawingml/2006/main">
              <a:ext uri="{FF2B5EF4-FFF2-40B4-BE49-F238E27FC236}">
                <a16:creationId xmlns:a16="http://schemas.microsoft.com/office/drawing/2014/main" id="{EB888CE4-12F1-434E-BE4A-5B9FB11A451A}"/>
              </a:ext>
            </a:extLst>
          </p:cNvPr>
          <p:cNvSpPr>
            <a:spLocks xmlns:a="http://schemas.openxmlformats.org/drawingml/2006/main" noGrp="1"/>
          </p:cNvSpPr>
          <p:nvPr/>
        </p:nvSpPr>
        <p:spPr>
          <a:xfrm xmlns:a="http://schemas.openxmlformats.org/drawingml/2006/main">
            <a:off x="6858000" y="1666875"/>
            <a:ext cx="1524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lgn="r"/>
          </a:lstStyle>
          <a:p xmlns:a="http://schemas.openxmlformats.org/drawingml/2006/main">
            <a:pPr algn="r"/>
            <a:r>
              <a:rPr sz="825" b="0">
                <a:solidFill>
                  <a:srgbClr val="8C8C8C"/>
                </a:solidFill>
                <a:latin typeface="Inter"/>
                <a:ea typeface="Inter"/>
                <a:cs typeface="Inter"/>
              </a:rPr>
              <a:t>Rust</a:t>
            </a:r>
          </a:p>
        </p:txBody>
      </p:sp>
      <p:sp>
        <p:nvSpPr>
          <p:cNvPr id="190" name="">
            <a:extLst xmlns:a="http://schemas.openxmlformats.org/drawingml/2006/main">
              <a:ext uri="{FF2B5EF4-FFF2-40B4-BE49-F238E27FC236}">
                <a16:creationId xmlns:a16="http://schemas.microsoft.com/office/drawing/2014/main" id="{D4A24212-BBFE-409B-94FD-1E0C7E57D8BA}"/>
              </a:ext>
            </a:extLst>
          </p:cNvPr>
          <p:cNvSpPr>
            <a:spLocks xmlns:a="http://schemas.openxmlformats.org/drawingml/2006/main" noGrp="1"/>
          </p:cNvSpPr>
          <p:nvPr/>
        </p:nvSpPr>
        <p:spPr>
          <a:xfrm xmlns:a="http://schemas.openxmlformats.org/drawingml/2006/main">
            <a:off x="828675" y="1914525"/>
            <a:ext cx="75533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112000"/>
              </a:lnSpc>
              <a:buNone/>
            </a:pPr>
            <a:r>
              <a:rPr sz="1500" b="0">
                <a:solidFill>
                  <a:srgbClr val="FDDA24"/>
                </a:solidFill>
                <a:latin typeface="JetBrains Mono NL"/>
                <a:ea typeface="JetBrains Mono NL"/>
                <a:cs typeface="JetBrains Mono NL"/>
              </a:rPr>
              <a:t>pub</a:t>
            </a:r>
            <a:r>
              <a:rPr sz="1500" b="0">
                <a:solidFill>
                  <a:srgbClr val="ECECEC"/>
                </a:solidFill>
                <a:latin typeface="JetBrains Mono NL"/>
                <a:ea typeface="JetBrains Mono NL"/>
                <a:cs typeface="JetBrains Mono NL"/>
              </a:rPr>
              <a:t> </a:t>
            </a:r>
            <a:r>
              <a:rPr sz="1500" b="0">
                <a:solidFill>
                  <a:srgbClr val="FDDA24"/>
                </a:solidFill>
                <a:latin typeface="JetBrains Mono NL"/>
                <a:ea typeface="JetBrains Mono NL"/>
                <a:cs typeface="JetBrains Mono NL"/>
              </a:rPr>
              <a:t>fn</a:t>
            </a:r>
            <a:r>
              <a:rPr sz="1500" b="0">
                <a:solidFill>
                  <a:srgbClr val="ECECEC"/>
                </a:solidFill>
                <a:latin typeface="JetBrains Mono NL"/>
                <a:ea typeface="JetBrains Mono NL"/>
                <a:cs typeface="JetBrains Mono NL"/>
              </a:rPr>
              <a:t> </a:t>
            </a:r>
            <a:r>
              <a:rPr sz="1500" b="0">
                <a:solidFill>
                  <a:srgbClr val="89B4FA"/>
                </a:solidFill>
                <a:latin typeface="JetBrains Mono NL"/>
                <a:ea typeface="JetBrains Mono NL"/>
                <a:cs typeface="JetBrains Mono NL"/>
              </a:rPr>
              <a:t>check_in</a:t>
            </a:r>
            <a:r>
              <a:rPr sz="1500" b="0">
                <a:solidFill>
                  <a:srgbClr val="ECECEC"/>
                </a:solidFill>
                <a:latin typeface="JetBrains Mono NL"/>
                <a:ea typeface="JetBrains Mono NL"/>
                <a:cs typeface="JetBrains Mono NL"/>
              </a:rPr>
              <a:t>(env: </a:t>
            </a:r>
            <a:r>
              <a:rPr sz="1500" b="0">
                <a:solidFill>
                  <a:srgbClr val="CBA6F7"/>
                </a:solidFill>
                <a:latin typeface="JetBrains Mono NL"/>
                <a:ea typeface="JetBrains Mono NL"/>
                <a:cs typeface="JetBrains Mono NL"/>
              </a:rPr>
              <a:t>Env</a:t>
            </a:r>
            <a:r>
              <a:rPr sz="1500" b="0">
                <a:solidFill>
                  <a:srgbClr val="ECECEC"/>
                </a:solidFill>
                <a:latin typeface="JetBrains Mono NL"/>
                <a:ea typeface="JetBrains Mono NL"/>
                <a:cs typeface="JetBrains Mono NL"/>
              </a:rPr>
              <a:t>, who: </a:t>
            </a:r>
            <a:r>
              <a:rPr sz="1500" b="0">
                <a:solidFill>
                  <a:srgbClr val="CBA6F7"/>
                </a:solidFill>
                <a:latin typeface="JetBrains Mono NL"/>
                <a:ea typeface="JetBrains Mono NL"/>
                <a:cs typeface="JetBrains Mono NL"/>
              </a:rPr>
              <a:t>Address</a:t>
            </a:r>
            <a:r>
              <a:rPr sz="1500" b="0">
                <a:solidFill>
                  <a:srgbClr val="ECECEC"/>
                </a:solidFill>
                <a:latin typeface="JetBrains Mono NL"/>
                <a:ea typeface="JetBrains Mono NL"/>
                <a:cs typeface="JetBrains Mono NL"/>
              </a:rPr>
              <a:t>) -&gt; </a:t>
            </a:r>
            <a:r>
              <a:rPr sz="1500" b="0">
                <a:solidFill>
                  <a:srgbClr val="CBA6F7"/>
                </a:solidFill>
                <a:latin typeface="JetBrains Mono NL"/>
                <a:ea typeface="JetBrains Mono NL"/>
                <a:cs typeface="JetBrains Mono NL"/>
              </a:rPr>
              <a:t>u32</a:t>
            </a:r>
            <a:r>
              <a:rPr sz="1500" b="0">
                <a:solidFill>
                  <a:srgbClr val="ECECEC"/>
                </a:solidFill>
                <a:latin typeface="JetBrains Mono NL"/>
                <a:ea typeface="JetBrains Mono NL"/>
                <a:cs typeface="JetBrains Mono NL"/>
              </a:rPr>
              <a:t> {</a:t>
            </a:r>
          </a:p>
          <a:p xmlns:a="http://schemas.openxmlformats.org/drawingml/2006/main">
            <a:pPr>
              <a:lnSpc>
                <a:spcPct val="112000"/>
              </a:lnSpc>
              <a:buNone/>
            </a:pPr>
            <a:r>
              <a:rPr sz="1500" b="0">
                <a:solidFill>
                  <a:srgbClr val="ECECEC"/>
                </a:solidFill>
                <a:latin typeface="JetBrains Mono NL"/>
                <a:ea typeface="JetBrains Mono NL"/>
                <a:cs typeface="JetBrains Mono NL"/>
              </a:rPr>
              <a:t>    who.</a:t>
            </a:r>
            <a:r>
              <a:rPr sz="1500" b="0">
                <a:solidFill>
                  <a:srgbClr val="89B4FA"/>
                </a:solidFill>
                <a:latin typeface="JetBrains Mono NL"/>
                <a:ea typeface="JetBrains Mono NL"/>
                <a:cs typeface="JetBrains Mono NL"/>
              </a:rPr>
              <a:t>require_auth</a:t>
            </a:r>
            <a:r>
              <a:rPr sz="1500" b="0">
                <a:solidFill>
                  <a:srgbClr val="ECECEC"/>
                </a:solidFill>
                <a:latin typeface="JetBrains Mono NL"/>
                <a:ea typeface="JetBrains Mono NL"/>
                <a:cs typeface="JetBrains Mono NL"/>
              </a:rPr>
              <a:t>(); </a:t>
            </a:r>
            <a:r>
              <a:rPr sz="1500" b="0">
                <a:solidFill>
                  <a:srgbClr val="8C8C8C"/>
                </a:solidFill>
                <a:latin typeface="JetBrains Mono NL"/>
                <a:ea typeface="JetBrains Mono NL"/>
                <a:cs typeface="JetBrains Mono NL"/>
              </a:rPr>
              <a:t>// a C-address runs its __check_auth here</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FDDA24"/>
                </a:solidFill>
                <a:latin typeface="JetBrains Mono NL"/>
                <a:ea typeface="JetBrains Mono NL"/>
                <a:cs typeface="JetBrains Mono NL"/>
              </a:rPr>
              <a:t>let</a:t>
            </a:r>
            <a:r>
              <a:rPr sz="1500" b="0">
                <a:solidFill>
                  <a:srgbClr val="ECECEC"/>
                </a:solidFill>
                <a:latin typeface="JetBrains Mono NL"/>
                <a:ea typeface="JetBrains Mono NL"/>
                <a:cs typeface="JetBrains Mono NL"/>
              </a:rPr>
              <a:t> count = </a:t>
            </a:r>
            <a:r>
              <a:rPr sz="1500" b="0">
                <a:solidFill>
                  <a:srgbClr val="FDDA24"/>
                </a:solidFill>
                <a:latin typeface="JetBrains Mono NL"/>
                <a:ea typeface="JetBrains Mono NL"/>
                <a:cs typeface="JetBrains Mono NL"/>
              </a:rPr>
              <a:t>Self</a:t>
            </a:r>
            <a:r>
              <a:rPr sz="1500" b="0">
                <a:solidFill>
                  <a:srgbClr val="ECECEC"/>
                </a:solidFill>
                <a:latin typeface="JetBrains Mono NL"/>
                <a:ea typeface="JetBrains Mono NL"/>
                <a:cs typeface="JetBrains Mono NL"/>
              </a:rPr>
              <a:t>::</a:t>
            </a:r>
            <a:r>
              <a:rPr sz="1500" b="0">
                <a:solidFill>
                  <a:srgbClr val="89B4FA"/>
                </a:solidFill>
                <a:latin typeface="JetBrains Mono NL"/>
                <a:ea typeface="JetBrains Mono NL"/>
                <a:cs typeface="JetBrains Mono NL"/>
              </a:rPr>
              <a:t>count</a:t>
            </a:r>
            <a:r>
              <a:rPr sz="1500" b="0">
                <a:solidFill>
                  <a:srgbClr val="ECECEC"/>
                </a:solidFill>
                <a:latin typeface="JetBrains Mono NL"/>
                <a:ea typeface="JetBrains Mono NL"/>
                <a:cs typeface="JetBrains Mono NL"/>
              </a:rPr>
              <a:t>(env.</a:t>
            </a:r>
            <a:r>
              <a:rPr sz="1500" b="0">
                <a:solidFill>
                  <a:srgbClr val="89B4FA"/>
                </a:solidFill>
                <a:latin typeface="JetBrains Mono NL"/>
                <a:ea typeface="JetBrains Mono NL"/>
                <a:cs typeface="JetBrains Mono NL"/>
              </a:rPr>
              <a:t>clone</a:t>
            </a:r>
            <a:r>
              <a:rPr sz="1500" b="0">
                <a:solidFill>
                  <a:srgbClr val="ECECEC"/>
                </a:solidFill>
                <a:latin typeface="JetBrains Mono NL"/>
                <a:ea typeface="JetBrains Mono NL"/>
                <a:cs typeface="JetBrains Mono NL"/>
              </a:rPr>
              <a:t>(), who.</a:t>
            </a:r>
            <a:r>
              <a:rPr sz="1500" b="0">
                <a:solidFill>
                  <a:srgbClr val="89B4FA"/>
                </a:solidFill>
                <a:latin typeface="JetBrains Mono NL"/>
                <a:ea typeface="JetBrains Mono NL"/>
                <a:cs typeface="JetBrains Mono NL"/>
              </a:rPr>
              <a:t>clone</a:t>
            </a:r>
            <a:r>
              <a:rPr sz="1500" b="0">
                <a:solidFill>
                  <a:srgbClr val="ECECEC"/>
                </a:solidFill>
                <a:latin typeface="JetBrains Mono NL"/>
                <a:ea typeface="JetBrains Mono NL"/>
                <a:cs typeface="JetBrains Mono NL"/>
              </a:rPr>
              <a:t>()) + </a:t>
            </a:r>
            <a:r>
              <a:rPr sz="1500" b="0">
                <a:solidFill>
                  <a:srgbClr val="FAB387"/>
                </a:solidFill>
                <a:latin typeface="JetBrains Mono NL"/>
                <a:ea typeface="JetBrains Mono NL"/>
                <a:cs typeface="JetBrains Mono NL"/>
              </a:rPr>
              <a:t>1</a:t>
            </a:r>
            <a:r>
              <a:rPr sz="1500" b="0">
                <a:solidFill>
                  <a:srgbClr val="ECECEC"/>
                </a:solidFill>
                <a:latin typeface="JetBrains Mono NL"/>
                <a:ea typeface="JetBrains Mono NL"/>
                <a:cs typeface="JetBrains Mono NL"/>
              </a:rPr>
              <a:t>;</a:t>
            </a:r>
          </a:p>
          <a:p xmlns:a="http://schemas.openxmlformats.org/drawingml/2006/main">
            <a:pPr>
              <a:lnSpc>
                <a:spcPct val="112000"/>
              </a:lnSpc>
              <a:buNone/>
            </a:pPr>
            <a:r>
              <a:rPr sz="1500" b="0">
                <a:solidFill>
                  <a:srgbClr val="ECECEC"/>
                </a:solidFill>
                <a:latin typeface="JetBrains Mono NL"/>
                <a:ea typeface="JetBrains Mono NL"/>
                <a:cs typeface="JetBrains Mono NL"/>
              </a:rPr>
              <a:t>    env.</a:t>
            </a:r>
            <a:r>
              <a:rPr sz="1500" b="0">
                <a:solidFill>
                  <a:srgbClr val="89B4FA"/>
                </a:solidFill>
                <a:latin typeface="JetBrains Mono NL"/>
                <a:ea typeface="JetBrains Mono NL"/>
                <a:cs typeface="JetBrains Mono NL"/>
              </a:rPr>
              <a:t>storage</a:t>
            </a:r>
            <a:r>
              <a:rPr sz="1500" b="0">
                <a:solidFill>
                  <a:srgbClr val="ECECEC"/>
                </a:solidFill>
                <a:latin typeface="JetBrains Mono NL"/>
                <a:ea typeface="JetBrains Mono NL"/>
                <a:cs typeface="JetBrains Mono NL"/>
              </a:rPr>
              <a:t>().</a:t>
            </a:r>
            <a:r>
              <a:rPr sz="1500" b="0">
                <a:solidFill>
                  <a:srgbClr val="89B4FA"/>
                </a:solidFill>
                <a:latin typeface="JetBrains Mono NL"/>
                <a:ea typeface="JetBrains Mono NL"/>
                <a:cs typeface="JetBrains Mono NL"/>
              </a:rPr>
              <a:t>persistent</a:t>
            </a:r>
            <a:r>
              <a:rPr sz="1500" b="0">
                <a:solidFill>
                  <a:srgbClr val="ECECEC"/>
                </a:solidFill>
                <a:latin typeface="JetBrains Mono NL"/>
                <a:ea typeface="JetBrains Mono NL"/>
                <a:cs typeface="JetBrains Mono NL"/>
              </a:rPr>
              <a:t>().</a:t>
            </a:r>
            <a:r>
              <a:rPr sz="1500" b="0">
                <a:solidFill>
                  <a:srgbClr val="89B4FA"/>
                </a:solidFill>
                <a:latin typeface="JetBrains Mono NL"/>
                <a:ea typeface="JetBrains Mono NL"/>
                <a:cs typeface="JetBrains Mono NL"/>
              </a:rPr>
              <a:t>set</a:t>
            </a:r>
            <a:r>
              <a:rPr sz="1500" b="0">
                <a:solidFill>
                  <a:srgbClr val="ECECEC"/>
                </a:solidFill>
                <a:latin typeface="JetBrains Mono NL"/>
                <a:ea typeface="JetBrains Mono NL"/>
                <a:cs typeface="JetBrains Mono NL"/>
              </a:rPr>
              <a:t>(&amp;who, &amp;count);</a:t>
            </a:r>
          </a:p>
          <a:p xmlns:a="http://schemas.openxmlformats.org/drawingml/2006/main">
            <a:pPr>
              <a:lnSpc>
                <a:spcPct val="112000"/>
              </a:lnSpc>
              <a:buNone/>
            </a:pPr>
            <a:r>
              <a:rPr sz="1500" b="0">
                <a:solidFill>
                  <a:srgbClr val="ECECEC"/>
                </a:solidFill>
                <a:latin typeface="JetBrains Mono NL"/>
                <a:ea typeface="JetBrains Mono NL"/>
                <a:cs typeface="JetBrains Mono NL"/>
              </a:rPr>
              <a:t>    count</a:t>
            </a:r>
          </a:p>
          <a:p xmlns:a="http://schemas.openxmlformats.org/drawingml/2006/main">
            <a:pPr>
              <a:lnSpc>
                <a:spcPct val="112000"/>
              </a:lnSpc>
              <a:buNone/>
            </a:pPr>
            <a:r>
              <a:rPr sz="1500" b="0">
                <a:solidFill>
                  <a:srgbClr val="ECECEC"/>
                </a:solidFill>
                <a:latin typeface="JetBrains Mono NL"/>
                <a:ea typeface="JetBrains Mono NL"/>
                <a:cs typeface="JetBrains Mono NL"/>
              </a:rPr>
              <a:t>}</a:t>
            </a:r>
          </a:p>
        </p:txBody>
      </p:sp>
      <p:sp>
        <p:nvSpPr>
          <p:cNvPr id="191" name="">
            <a:extLst xmlns:a="http://schemas.openxmlformats.org/drawingml/2006/main">
              <a:ext uri="{FF2B5EF4-FFF2-40B4-BE49-F238E27FC236}">
                <a16:creationId xmlns:a16="http://schemas.microsoft.com/office/drawing/2014/main" id="{18989572-F6F4-4950-AA87-131F5532A197}"/>
              </a:ext>
            </a:extLst>
          </p:cNvPr>
          <p:cNvSpPr>
            <a:spLocks xmlns:a="http://schemas.openxmlformats.org/drawingml/2006/main" noGrp="1"/>
          </p:cNvSpPr>
          <p:nvPr/>
        </p:nvSpPr>
        <p:spPr>
          <a:xfrm xmlns:a="http://schemas.openxmlformats.org/drawingml/2006/main">
            <a:off x="657225" y="3705225"/>
            <a:ext cx="7896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Same code either way: the host checks a G-address’s signatures, and asks a C-address.</a:t>
            </a:r>
          </a:p>
        </p:txBody>
      </p:sp>
    </p:spTree>
    <p:extLst>
      <p:ext uri="{BB962C8B-B14F-4D97-AF65-F5344CB8AC3E}">
        <p14:creationId xmlns:p14="http://schemas.microsoft.com/office/powerpoint/2010/main" val="180511924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WHAT YOU CAN DO WITH RULES</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W H A T   R U L E S   B U Y   Y O U</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b091a8ea89dd450d">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9f562e8475e84605">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0d58ffb7e0b5496d">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3EB41085-771D-4757-AFFB-C8521AE45AA3}"/>
              </a:ext>
            </a:extLst>
          </p:cNvPr>
          <p:cNvSpPr>
            <a:spLocks xmlns:a="http://schemas.openxmlformats.org/drawingml/2006/main" noGrp="1"/>
          </p:cNvSpPr>
          <p:nvPr/>
        </p:nvSpPr>
        <p:spPr>
          <a:xfrm xmlns:a="http://schemas.openxmlformats.org/drawingml/2006/main">
            <a:off x="495300" y="1771650"/>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PASSKEYS</a:t>
            </a:r>
          </a:p>
        </p:txBody>
      </p:sp>
      <p:sp>
        <p:nvSpPr>
          <p:cNvPr id="161" name="">
            <a:extLst xmlns:a="http://schemas.openxmlformats.org/drawingml/2006/main">
              <a:ext uri="{FF2B5EF4-FFF2-40B4-BE49-F238E27FC236}">
                <a16:creationId xmlns:a16="http://schemas.microsoft.com/office/drawing/2014/main" id="{E8F82600-1139-48F6-9590-D70806D17749}"/>
              </a:ext>
            </a:extLst>
          </p:cNvPr>
          <p:cNvSpPr>
            <a:spLocks xmlns:a="http://schemas.openxmlformats.org/drawingml/2006/main" noGrp="1"/>
          </p:cNvSpPr>
          <p:nvPr/>
        </p:nvSpPr>
        <p:spPr>
          <a:xfrm xmlns:a="http://schemas.openxmlformats.org/drawingml/2006/main">
            <a:off x="495300" y="2019300"/>
            <a:ext cx="24955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350" b="0">
                <a:solidFill>
                  <a:srgbClr val="FFFFFF"/>
                </a:solidFill>
                <a:latin typeface="Inter"/>
                <a:ea typeface="Inter"/>
                <a:cs typeface="Inter"/>
              </a:rPr>
              <a:t>Sign in with Face ID or a fingerprint. A verifier contract checks the P-256 signature.</a:t>
            </a:r>
          </a:p>
        </p:txBody>
      </p:sp>
      <p:sp>
        <p:nvSpPr>
          <p:cNvPr id="162" name="">
            <a:extLst xmlns:a="http://schemas.openxmlformats.org/drawingml/2006/main">
              <a:ext uri="{FF2B5EF4-FFF2-40B4-BE49-F238E27FC236}">
                <a16:creationId xmlns:a16="http://schemas.microsoft.com/office/drawing/2014/main" id="{B080B2C6-3906-4DB6-B63A-36F5AAD60F74}"/>
              </a:ext>
            </a:extLst>
          </p:cNvPr>
          <p:cNvSpPr>
            <a:spLocks xmlns:a="http://schemas.openxmlformats.org/drawingml/2006/main" noGrp="1"/>
          </p:cNvSpPr>
          <p:nvPr/>
        </p:nvSpPr>
        <p:spPr>
          <a:xfrm xmlns:a="http://schemas.openxmlformats.org/drawingml/2006/main">
            <a:off x="3333750" y="1771650"/>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SCOPED KEYS</a:t>
            </a:r>
          </a:p>
        </p:txBody>
      </p:sp>
      <p:sp>
        <p:nvSpPr>
          <p:cNvPr id="163" name="">
            <a:extLst xmlns:a="http://schemas.openxmlformats.org/drawingml/2006/main">
              <a:ext uri="{FF2B5EF4-FFF2-40B4-BE49-F238E27FC236}">
                <a16:creationId xmlns:a16="http://schemas.microsoft.com/office/drawing/2014/main" id="{9E93B1EB-8EE6-4A7B-ACA7-2D9532DAD9A5}"/>
              </a:ext>
            </a:extLst>
          </p:cNvPr>
          <p:cNvSpPr>
            <a:spLocks xmlns:a="http://schemas.openxmlformats.org/drawingml/2006/main" noGrp="1"/>
          </p:cNvSpPr>
          <p:nvPr/>
        </p:nvSpPr>
        <p:spPr>
          <a:xfrm xmlns:a="http://schemas.openxmlformats.org/drawingml/2006/main">
            <a:off x="3333750" y="2019300"/>
            <a:ext cx="24955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350" b="0">
                <a:solidFill>
                  <a:srgbClr val="FFFFFF"/>
                </a:solidFill>
                <a:latin typeface="Inter"/>
                <a:ea typeface="Inter"/>
                <a:cs typeface="Inter"/>
              </a:rPr>
              <a:t>Give an app a key for one contract and a few functions, until an expiry.</a:t>
            </a:r>
          </a:p>
        </p:txBody>
      </p:sp>
      <p:sp>
        <p:nvSpPr>
          <p:cNvPr id="164" name="">
            <a:extLst xmlns:a="http://schemas.openxmlformats.org/drawingml/2006/main">
              <a:ext uri="{FF2B5EF4-FFF2-40B4-BE49-F238E27FC236}">
                <a16:creationId xmlns:a16="http://schemas.microsoft.com/office/drawing/2014/main" id="{060C66BA-2AE9-4E4C-BBEA-5150EFA53461}"/>
              </a:ext>
            </a:extLst>
          </p:cNvPr>
          <p:cNvSpPr>
            <a:spLocks xmlns:a="http://schemas.openxmlformats.org/drawingml/2006/main" noGrp="1"/>
          </p:cNvSpPr>
          <p:nvPr/>
        </p:nvSpPr>
        <p:spPr>
          <a:xfrm xmlns:a="http://schemas.openxmlformats.org/drawingml/2006/main">
            <a:off x="6172200" y="1771650"/>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SPENDING CAPS</a:t>
            </a:r>
          </a:p>
        </p:txBody>
      </p:sp>
      <p:sp>
        <p:nvSpPr>
          <p:cNvPr id="165" name="">
            <a:extLst xmlns:a="http://schemas.openxmlformats.org/drawingml/2006/main">
              <a:ext uri="{FF2B5EF4-FFF2-40B4-BE49-F238E27FC236}">
                <a16:creationId xmlns:a16="http://schemas.microsoft.com/office/drawing/2014/main" id="{BCCCBA22-FD83-4D0C-92FC-52BAD053F56D}"/>
              </a:ext>
            </a:extLst>
          </p:cNvPr>
          <p:cNvSpPr>
            <a:spLocks xmlns:a="http://schemas.openxmlformats.org/drawingml/2006/main" noGrp="1"/>
          </p:cNvSpPr>
          <p:nvPr/>
        </p:nvSpPr>
        <p:spPr>
          <a:xfrm xmlns:a="http://schemas.openxmlformats.org/drawingml/2006/main">
            <a:off x="6172200" y="2019300"/>
            <a:ext cx="24955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350" b="0">
                <a:solidFill>
                  <a:srgbClr val="FFFFFF"/>
                </a:solidFill>
                <a:latin typeface="Inter"/>
                <a:ea typeface="Inter"/>
                <a:cs typeface="Inter"/>
              </a:rPr>
              <a:t>Attach a limit, like 2 XLM a day. The account enforces it on every transfer.</a:t>
            </a:r>
          </a:p>
        </p:txBody>
      </p:sp>
      <p:sp>
        <p:nvSpPr>
          <p:cNvPr id="166" name="">
            <a:extLst xmlns:a="http://schemas.openxmlformats.org/drawingml/2006/main">
              <a:ext uri="{FF2B5EF4-FFF2-40B4-BE49-F238E27FC236}">
                <a16:creationId xmlns:a16="http://schemas.microsoft.com/office/drawing/2014/main" id="{B539F3F8-DB95-4550-867B-6B1B3883CDFD}"/>
              </a:ext>
            </a:extLst>
          </p:cNvPr>
          <p:cNvSpPr>
            <a:spLocks xmlns:a="http://schemas.openxmlformats.org/drawingml/2006/main" noGrp="1"/>
          </p:cNvSpPr>
          <p:nvPr/>
        </p:nvSpPr>
        <p:spPr>
          <a:xfrm xmlns:a="http://schemas.openxmlformats.org/drawingml/2006/main">
            <a:off x="495300" y="3248025"/>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RECOVERY</a:t>
            </a:r>
          </a:p>
        </p:txBody>
      </p:sp>
      <p:sp>
        <p:nvSpPr>
          <p:cNvPr id="167" name="">
            <a:extLst xmlns:a="http://schemas.openxmlformats.org/drawingml/2006/main">
              <a:ext uri="{FF2B5EF4-FFF2-40B4-BE49-F238E27FC236}">
                <a16:creationId xmlns:a16="http://schemas.microsoft.com/office/drawing/2014/main" id="{4FAFF4DB-D698-48F9-A445-AC7E70E27306}"/>
              </a:ext>
            </a:extLst>
          </p:cNvPr>
          <p:cNvSpPr>
            <a:spLocks xmlns:a="http://schemas.openxmlformats.org/drawingml/2006/main" noGrp="1"/>
          </p:cNvSpPr>
          <p:nvPr/>
        </p:nvSpPr>
        <p:spPr>
          <a:xfrm xmlns:a="http://schemas.openxmlformats.org/drawingml/2006/main">
            <a:off x="495300" y="3495675"/>
            <a:ext cx="24955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350" b="0">
                <a:solidFill>
                  <a:srgbClr val="FFFFFF"/>
                </a:solidFill>
                <a:latin typeface="Inter"/>
                <a:ea typeface="Inter"/>
                <a:cs typeface="Inter"/>
              </a:rPr>
              <a:t>Guardians or a recovery kit, set up before you need them. It’s opt-in.</a:t>
            </a:r>
          </a:p>
        </p:txBody>
      </p:sp>
      <p:sp>
        <p:nvSpPr>
          <p:cNvPr id="168" name="">
            <a:extLst xmlns:a="http://schemas.openxmlformats.org/drawingml/2006/main">
              <a:ext uri="{FF2B5EF4-FFF2-40B4-BE49-F238E27FC236}">
                <a16:creationId xmlns:a16="http://schemas.microsoft.com/office/drawing/2014/main" id="{A9D50499-BD03-431E-8A9E-BEAA4E7BF0ED}"/>
              </a:ext>
            </a:extLst>
          </p:cNvPr>
          <p:cNvSpPr>
            <a:spLocks xmlns:a="http://schemas.openxmlformats.org/drawingml/2006/main" noGrp="1"/>
          </p:cNvSpPr>
          <p:nvPr/>
        </p:nvSpPr>
        <p:spPr>
          <a:xfrm xmlns:a="http://schemas.openxmlformats.org/drawingml/2006/main">
            <a:off x="3333750" y="3248025"/>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SPONSORED START</a:t>
            </a:r>
          </a:p>
        </p:txBody>
      </p:sp>
      <p:sp>
        <p:nvSpPr>
          <p:cNvPr id="169" name="">
            <a:extLst xmlns:a="http://schemas.openxmlformats.org/drawingml/2006/main">
              <a:ext uri="{FF2B5EF4-FFF2-40B4-BE49-F238E27FC236}">
                <a16:creationId xmlns:a16="http://schemas.microsoft.com/office/drawing/2014/main" id="{C1AC7064-BB70-43E6-BA2E-E134F944A48F}"/>
              </a:ext>
            </a:extLst>
          </p:cNvPr>
          <p:cNvSpPr>
            <a:spLocks xmlns:a="http://schemas.openxmlformats.org/drawingml/2006/main" noGrp="1"/>
          </p:cNvSpPr>
          <p:nvPr/>
        </p:nvSpPr>
        <p:spPr>
          <a:xfrm xmlns:a="http://schemas.openxmlformats.org/drawingml/2006/main">
            <a:off x="3333750" y="3495675"/>
            <a:ext cx="24955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350" b="0">
                <a:solidFill>
                  <a:srgbClr val="FFFFFF"/>
                </a:solidFill>
                <a:latin typeface="Inter"/>
                <a:ea typeface="Inter"/>
                <a:cs typeface="Inter"/>
              </a:rPr>
              <a:t>Someone else pays to create the account and submit for it. Nido does on testnet.</a:t>
            </a:r>
          </a:p>
        </p:txBody>
      </p:sp>
      <p:sp>
        <p:nvSpPr>
          <p:cNvPr id="170" name="">
            <a:extLst xmlns:a="http://schemas.openxmlformats.org/drawingml/2006/main">
              <a:ext uri="{FF2B5EF4-FFF2-40B4-BE49-F238E27FC236}">
                <a16:creationId xmlns:a16="http://schemas.microsoft.com/office/drawing/2014/main" id="{3A4B152A-8435-466E-9F69-8399352B9364}"/>
              </a:ext>
            </a:extLst>
          </p:cNvPr>
          <p:cNvSpPr>
            <a:spLocks xmlns:a="http://schemas.openxmlformats.org/drawingml/2006/main" noGrp="1"/>
          </p:cNvSpPr>
          <p:nvPr/>
        </p:nvSpPr>
        <p:spPr>
          <a:xfrm xmlns:a="http://schemas.openxmlformats.org/drawingml/2006/main">
            <a:off x="6172200" y="3248025"/>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ONE ADDRESS</a:t>
            </a:r>
          </a:p>
        </p:txBody>
      </p:sp>
      <p:sp>
        <p:nvSpPr>
          <p:cNvPr id="171" name="">
            <a:extLst xmlns:a="http://schemas.openxmlformats.org/drawingml/2006/main">
              <a:ext uri="{FF2B5EF4-FFF2-40B4-BE49-F238E27FC236}">
                <a16:creationId xmlns:a16="http://schemas.microsoft.com/office/drawing/2014/main" id="{5B762DF0-9EBB-42AC-B42C-D5EABAEDFBC1}"/>
              </a:ext>
            </a:extLst>
          </p:cNvPr>
          <p:cNvSpPr>
            <a:spLocks xmlns:a="http://schemas.openxmlformats.org/drawingml/2006/main" noGrp="1"/>
          </p:cNvSpPr>
          <p:nvPr/>
        </p:nvSpPr>
        <p:spPr>
          <a:xfrm xmlns:a="http://schemas.openxmlformats.org/drawingml/2006/main">
            <a:off x="6172200" y="3495675"/>
            <a:ext cx="24955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350" b="0">
                <a:solidFill>
                  <a:srgbClr val="FFFFFF"/>
                </a:solidFill>
                <a:latin typeface="Inter"/>
                <a:ea typeface="Inter"/>
                <a:cs typeface="Inter"/>
              </a:rPr>
              <a:t>Add or remove devices and app keys by changing rules. The address stays.</a:t>
            </a:r>
          </a:p>
        </p:txBody>
      </p:sp>
    </p:spTree>
    <p:extLst>
      <p:ext uri="{BB962C8B-B14F-4D97-AF65-F5344CB8AC3E}">
        <p14:creationId xmlns:p14="http://schemas.microsoft.com/office/powerpoint/2010/main" val="167795666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TRADE-OFFS</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No classic operations; no Horizon account record</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H A T   I T   C O S T S</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Rent for the account and for every rule</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Testnet only, not audited, forked dependencies</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372680c3673447e8">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5205fe37ac414597">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5F57580F-3149-4F95-83F0-CC02BC6EF04D}"/>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COMPATIBILITY</a:t>
            </a:r>
          </a:p>
        </p:txBody>
      </p:sp>
      <p:sp>
        <p:nvSpPr>
          <p:cNvPr id="189" name="">
            <a:extLst xmlns:a="http://schemas.openxmlformats.org/drawingml/2006/main">
              <a:ext uri="{FF2B5EF4-FFF2-40B4-BE49-F238E27FC236}">
                <a16:creationId xmlns:a16="http://schemas.microsoft.com/office/drawing/2014/main" id="{04F25FFD-7C90-4C06-9275-F213BA204770}"/>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COST</a:t>
            </a:r>
          </a:p>
        </p:txBody>
      </p:sp>
      <p:sp>
        <p:nvSpPr>
          <p:cNvPr id="190" name="">
            <a:extLst xmlns:a="http://schemas.openxmlformats.org/drawingml/2006/main">
              <a:ext uri="{FF2B5EF4-FFF2-40B4-BE49-F238E27FC236}">
                <a16:creationId xmlns:a16="http://schemas.microsoft.com/office/drawing/2014/main" id="{72202737-CEE1-4C66-B18F-82BE1FA7B3B2}"/>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MATURITY</a:t>
            </a:r>
          </a:p>
        </p:txBody>
      </p:sp>
      <p:sp>
        <p:nvSpPr>
          <p:cNvPr id="191" name="">
            <a:extLst xmlns:a="http://schemas.openxmlformats.org/drawingml/2006/main">
              <a:ext uri="{FF2B5EF4-FFF2-40B4-BE49-F238E27FC236}">
                <a16:creationId xmlns:a16="http://schemas.microsoft.com/office/drawing/2014/main" id="{256783D2-367B-408C-B449-00D7CAA74EF5}"/>
              </a:ext>
            </a:extLst>
          </p:cNvPr>
          <p:cNvSpPr>
            <a:spLocks xmlns:a="http://schemas.openxmlformats.org/drawingml/2006/main" noGrp="1"/>
          </p:cNvSpPr>
          <p:nvPr/>
        </p:nvSpPr>
        <p:spPr>
          <a:xfrm xmlns:a="http://schemas.openxmlformats.org/drawingml/2006/main">
            <a:off x="657225" y="185737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2250" b="0">
                <a:solidFill>
                  <a:srgbClr val="FFFFFF"/>
                </a:solidFill>
                <a:latin typeface="Inter"/>
                <a:ea typeface="Inter"/>
                <a:cs typeface="Inter"/>
              </a:rPr>
              <a:t>WHAT NIDO’S</a:t>
            </a:r>
            <a:br>
              <a:rPr sz="2250" b="0">
                <a:solidFill>
                  <a:srgbClr val="FFFFFF"/>
                </a:solidFill>
                <a:latin typeface="Inter"/>
                <a:ea typeface="Inter"/>
                <a:cs typeface="Inter"/>
              </a:rPr>
            </a:br>
            <a:r>
              <a:rPr sz="2250" b="0">
                <a:solidFill>
                  <a:srgbClr val="FFFFFF"/>
                </a:solidFill>
                <a:latin typeface="Inter"/>
                <a:ea typeface="Inter"/>
                <a:cs typeface="Inter"/>
              </a:rPr>
              <a:t>RELAYER PAYS</a:t>
            </a:r>
          </a:p>
        </p:txBody>
      </p:sp>
      <p:sp>
        <p:nvSpPr>
          <p:cNvPr id="192" name="">
            <a:extLst xmlns:a="http://schemas.openxmlformats.org/drawingml/2006/main">
              <a:ext uri="{FF2B5EF4-FFF2-40B4-BE49-F238E27FC236}">
                <a16:creationId xmlns:a16="http://schemas.microsoft.com/office/drawing/2014/main" id="{9C4AD440-B79F-4D67-8AED-6B19E61ED7DA}"/>
              </a:ext>
            </a:extLst>
          </p:cNvPr>
          <p:cNvSpPr>
            <a:spLocks xmlns:a="http://schemas.openxmlformats.org/drawingml/2006/main" noGrp="1"/>
          </p:cNvSpPr>
          <p:nvPr/>
        </p:nvSpPr>
        <p:spPr>
          <a:xfrm xmlns:a="http://schemas.openxmlformats.org/drawingml/2006/main">
            <a:off x="657225" y="2971800"/>
            <a:ext cx="4095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500" b="0">
                <a:solidFill>
                  <a:srgbClr val="FFFFFF"/>
                </a:solidFill>
                <a:latin typeface="Inter"/>
                <a:ea typeface="Inter"/>
                <a:cs typeface="Inter"/>
              </a:rPr>
              <a:t>Account: about 1.4 XLM</a:t>
            </a:r>
            <a:br>
              <a:rPr sz="1500" b="0">
                <a:solidFill>
                  <a:srgbClr val="FFFFFF"/>
                </a:solidFill>
                <a:latin typeface="Inter"/>
                <a:ea typeface="Inter"/>
                <a:cs typeface="Inter"/>
              </a:rPr>
            </a:br>
            <a:r>
              <a:rPr sz="1500" b="0">
                <a:solidFill>
                  <a:srgbClr val="FFFFFF"/>
                </a:solidFill>
                <a:latin typeface="Inter"/>
                <a:ea typeface="Inter"/>
                <a:cs typeface="Inter"/>
              </a:rPr>
              <a:t>First grant: about 4.5 XLM</a:t>
            </a:r>
            <a:br>
              <a:rPr sz="1500" b="0">
                <a:solidFill>
                  <a:srgbClr val="FFFFFF"/>
                </a:solidFill>
                <a:latin typeface="Inter"/>
                <a:ea typeface="Inter"/>
                <a:cs typeface="Inter"/>
              </a:rPr>
            </a:br>
            <a:r>
              <a:rPr sz="1500" b="0">
                <a:solidFill>
                  <a:srgbClr val="FFFFFF"/>
                </a:solidFill>
                <a:latin typeface="Inter"/>
                <a:ea typeface="Inter"/>
                <a:cs typeface="Inter"/>
              </a:rPr>
              <a:t>Capped grant: about 2.7 XLM</a:t>
            </a:r>
          </a:p>
        </p:txBody>
      </p:sp>
      <p:sp>
        <p:nvSpPr>
          <p:cNvPr id="193" name="">
            <a:extLst xmlns:a="http://schemas.openxmlformats.org/drawingml/2006/main">
              <a:ext uri="{FF2B5EF4-FFF2-40B4-BE49-F238E27FC236}">
                <a16:creationId xmlns:a16="http://schemas.microsoft.com/office/drawing/2014/main" id="{8E793FB4-DFEE-4078-A9F2-E88403B15BD7}"/>
              </a:ext>
            </a:extLst>
          </p:cNvPr>
          <p:cNvSpPr>
            <a:spLocks xmlns:a="http://schemas.openxmlformats.org/drawingml/2006/main" noGrp="1"/>
          </p:cNvSpPr>
          <p:nvPr/>
        </p:nvSpPr>
        <p:spPr>
          <a:xfrm xmlns:a="http://schemas.openxmlformats.org/drawingml/2006/main">
            <a:off x="657225" y="4114800"/>
            <a:ext cx="4143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One 100 XLM/day pot for all of testnet</a:t>
            </a:r>
          </a:p>
        </p:txBody>
      </p:sp>
    </p:spTree>
    <p:extLst>
      <p:ext uri="{BB962C8B-B14F-4D97-AF65-F5344CB8AC3E}">
        <p14:creationId xmlns:p14="http://schemas.microsoft.com/office/powerpoint/2010/main" val="180511924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PERCH: A RULE YOU CAN READ</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P E R C H   ·   T H E   P O L I C Y   L A Y E R</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ef03ea2728704503">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a86eaa40d84c4eb8">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D1A4555C-9E18-4FCB-9297-B85CC19B731E}"/>
              </a:ext>
            </a:extLst>
          </p:cNvPr>
          <p:cNvSpPr>
            <a:spLocks xmlns:a="http://schemas.openxmlformats.org/drawingml/2006/main" noGrp="1"/>
          </p:cNvSpPr>
          <p:nvPr/>
        </p:nvSpPr>
        <p:spPr>
          <a:xfrm xmlns:a="http://schemas.openxmlformats.org/drawingml/2006/main">
            <a:off x="657225" y="1600200"/>
            <a:ext cx="7896225" cy="2495550"/>
          </a:xfrm>
          <a:prstGeom xmlns:a="http://schemas.openxmlformats.org/drawingml/2006/main" prst="roundRect">
            <a:avLst>
              <a:gd name="adj" fmla="val 3053"/>
            </a:avLst>
          </a:prstGeom>
          <a:solidFill xmlns:a="http://schemas.openxmlformats.org/drawingml/2006/main">
            <a:srgbClr val="161616"/>
          </a:solidFill>
          <a:ln xmlns:a="http://schemas.openxmlformats.org/drawingml/2006/main" w="9525">
            <a:solidFill>
              <a:srgbClr val="2E2E2E"/>
            </a:solidFill>
            <a:prstDash val="solid"/>
          </a:ln>
        </p:spPr>
      </p:sp>
      <p:sp>
        <p:nvSpPr>
          <p:cNvPr id="189" name="">
            <a:extLst xmlns:a="http://schemas.openxmlformats.org/drawingml/2006/main">
              <a:ext uri="{FF2B5EF4-FFF2-40B4-BE49-F238E27FC236}">
                <a16:creationId xmlns:a16="http://schemas.microsoft.com/office/drawing/2014/main" id="{2F90BD60-B228-42EE-9FDB-0C1D31AE159F}"/>
              </a:ext>
            </a:extLst>
          </p:cNvPr>
          <p:cNvSpPr>
            <a:spLocks xmlns:a="http://schemas.openxmlformats.org/drawingml/2006/main" noGrp="1"/>
          </p:cNvSpPr>
          <p:nvPr/>
        </p:nvSpPr>
        <p:spPr>
          <a:xfrm xmlns:a="http://schemas.openxmlformats.org/drawingml/2006/main">
            <a:off x="6858000" y="1695450"/>
            <a:ext cx="1524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lgn="r"/>
          </a:lstStyle>
          <a:p xmlns:a="http://schemas.openxmlformats.org/drawingml/2006/main">
            <a:pPr algn="r"/>
            <a:r>
              <a:rPr sz="825" b="0">
                <a:solidFill>
                  <a:srgbClr val="8C8C8C"/>
                </a:solidFill>
                <a:latin typeface="Inter"/>
                <a:ea typeface="Inter"/>
                <a:cs typeface="Inter"/>
              </a:rPr>
              <a:t>JSON</a:t>
            </a:r>
          </a:p>
        </p:txBody>
      </p:sp>
      <p:sp>
        <p:nvSpPr>
          <p:cNvPr id="190" name="">
            <a:extLst xmlns:a="http://schemas.openxmlformats.org/drawingml/2006/main">
              <a:ext uri="{FF2B5EF4-FFF2-40B4-BE49-F238E27FC236}">
                <a16:creationId xmlns:a16="http://schemas.microsoft.com/office/drawing/2014/main" id="{5A7DFCC9-21A2-4882-A0C3-1DE1BD6C537C}"/>
              </a:ext>
            </a:extLst>
          </p:cNvPr>
          <p:cNvSpPr>
            <a:spLocks xmlns:a="http://schemas.openxmlformats.org/drawingml/2006/main" noGrp="1"/>
          </p:cNvSpPr>
          <p:nvPr/>
        </p:nvSpPr>
        <p:spPr>
          <a:xfrm xmlns:a="http://schemas.openxmlformats.org/drawingml/2006/main">
            <a:off x="828675" y="1943100"/>
            <a:ext cx="7553325"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112000"/>
              </a:lnSpc>
              <a:buNone/>
            </a:pPr>
            <a:r>
              <a:rPr sz="1500" b="0">
                <a:solidFill>
                  <a:srgbClr val="ECECEC"/>
                </a:solidFill>
                <a:latin typeface="JetBrains Mono NL"/>
                <a:ea typeface="JetBrains Mono NL"/>
                <a:cs typeface="JetBrains Mono NL"/>
              </a:rPr>
              <a:t>{</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"name"</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"kudos-xlm"</a:t>
            </a:r>
            <a:r>
              <a:rPr sz="1500" b="0">
                <a:solidFill>
                  <a:srgbClr val="ECECEC"/>
                </a:solidFill>
                <a:latin typeface="JetBrains Mono NL"/>
                <a:ea typeface="JetBrains Mono NL"/>
                <a:cs typeface="JetBrains Mono NL"/>
              </a:rPr>
              <a:t>,</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"scope"</a:t>
            </a:r>
            <a:r>
              <a:rPr sz="1500" b="0">
                <a:solidFill>
                  <a:srgbClr val="ECECEC"/>
                </a:solidFill>
                <a:latin typeface="JetBrains Mono NL"/>
                <a:ea typeface="JetBrains Mono NL"/>
                <a:cs typeface="JetBrains Mono NL"/>
              </a:rPr>
              <a:t>: { </a:t>
            </a:r>
            <a:r>
              <a:rPr sz="1500" b="0">
                <a:solidFill>
                  <a:srgbClr val="89DCEB"/>
                </a:solidFill>
                <a:latin typeface="JetBrains Mono NL"/>
                <a:ea typeface="JetBrains Mono NL"/>
                <a:cs typeface="JetBrains Mono NL"/>
              </a:rPr>
              <a:t>"type"</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"contract"</a:t>
            </a: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"address"</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"CDLZ…CYSC"</a:t>
            </a:r>
            <a:r>
              <a:rPr sz="1500" b="0">
                <a:solidFill>
                  <a:srgbClr val="ECECEC"/>
                </a:solidFill>
                <a:latin typeface="JetBrains Mono NL"/>
                <a:ea typeface="JetBrains Mono NL"/>
                <a:cs typeface="JetBrains Mono NL"/>
              </a:rPr>
              <a:t> },</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"principals"</a:t>
            </a:r>
            <a:r>
              <a:rPr sz="1500" b="0">
                <a:solidFill>
                  <a:srgbClr val="ECECEC"/>
                </a:solidFill>
                <a:latin typeface="JetBrains Mono NL"/>
                <a:ea typeface="JetBrains Mono NL"/>
                <a:cs typeface="JetBrains Mono NL"/>
              </a:rPr>
              <a:t>: { </a:t>
            </a:r>
            <a:r>
              <a:rPr sz="1500" b="0">
                <a:solidFill>
                  <a:srgbClr val="89DCEB"/>
                </a:solidFill>
                <a:latin typeface="JetBrains Mono NL"/>
                <a:ea typeface="JetBrains Mono NL"/>
                <a:cs typeface="JetBrains Mono NL"/>
              </a:rPr>
              <a:t>"type"</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"all"</a:t>
            </a: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"signers"</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"session"</a:t>
            </a:r>
            <a:r>
              <a:rPr sz="1500" b="0">
                <a:solidFill>
                  <a:srgbClr val="ECECEC"/>
                </a:solidFill>
                <a:latin typeface="JetBrains Mono NL"/>
                <a:ea typeface="JetBrains Mono NL"/>
                <a:cs typeface="JetBrains Mono NL"/>
              </a:rPr>
              <a:t>] },</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"functions"</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"transfer"</a:t>
            </a:r>
            <a:r>
              <a:rPr sz="1500" b="0">
                <a:solidFill>
                  <a:srgbClr val="ECECEC"/>
                </a:solidFill>
                <a:latin typeface="JetBrains Mono NL"/>
                <a:ea typeface="JetBrains Mono NL"/>
                <a:cs typeface="JetBrains Mono NL"/>
              </a:rPr>
              <a:t>],</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"cap"</a:t>
            </a:r>
            <a:r>
              <a:rPr sz="1500" b="0">
                <a:solidFill>
                  <a:srgbClr val="ECECEC"/>
                </a:solidFill>
                <a:latin typeface="JetBrains Mono NL"/>
                <a:ea typeface="JetBrains Mono NL"/>
                <a:cs typeface="JetBrains Mono NL"/>
              </a:rPr>
              <a:t>: { </a:t>
            </a:r>
            <a:r>
              <a:rPr sz="1500" b="0">
                <a:solidFill>
                  <a:srgbClr val="89DCEB"/>
                </a:solidFill>
                <a:latin typeface="JetBrains Mono NL"/>
                <a:ea typeface="JetBrains Mono NL"/>
                <a:cs typeface="JetBrains Mono NL"/>
              </a:rPr>
              <a:t>"limit"</a:t>
            </a:r>
            <a:r>
              <a:rPr sz="1500" b="0">
                <a:solidFill>
                  <a:srgbClr val="ECECEC"/>
                </a:solidFill>
                <a:latin typeface="JetBrains Mono NL"/>
                <a:ea typeface="JetBrains Mono NL"/>
                <a:cs typeface="JetBrains Mono NL"/>
              </a:rPr>
              <a:t>: </a:t>
            </a:r>
            <a:r>
              <a:rPr sz="1500" b="0">
                <a:solidFill>
                  <a:srgbClr val="A6E3A1"/>
                </a:solidFill>
                <a:latin typeface="JetBrains Mono NL"/>
                <a:ea typeface="JetBrains Mono NL"/>
                <a:cs typeface="JetBrains Mono NL"/>
              </a:rPr>
              <a:t>"20000000"</a:t>
            </a: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"period-ledgers"</a:t>
            </a:r>
            <a:r>
              <a:rPr sz="1500" b="0">
                <a:solidFill>
                  <a:srgbClr val="ECECEC"/>
                </a:solidFill>
                <a:latin typeface="JetBrains Mono NL"/>
                <a:ea typeface="JetBrains Mono NL"/>
                <a:cs typeface="JetBrains Mono NL"/>
              </a:rPr>
              <a:t>: </a:t>
            </a:r>
            <a:r>
              <a:rPr sz="1500" b="0">
                <a:solidFill>
                  <a:srgbClr val="FAB387"/>
                </a:solidFill>
                <a:latin typeface="JetBrains Mono NL"/>
                <a:ea typeface="JetBrains Mono NL"/>
                <a:cs typeface="JetBrains Mono NL"/>
              </a:rPr>
              <a:t>17280</a:t>
            </a:r>
            <a:r>
              <a:rPr sz="1500" b="0">
                <a:solidFill>
                  <a:srgbClr val="ECECEC"/>
                </a:solidFill>
                <a:latin typeface="JetBrains Mono NL"/>
                <a:ea typeface="JetBrains Mono NL"/>
                <a:cs typeface="JetBrains Mono NL"/>
              </a:rPr>
              <a:t> },</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"not-after-ledger"</a:t>
            </a:r>
            <a:r>
              <a:rPr sz="1500" b="0">
                <a:solidFill>
                  <a:srgbClr val="ECECEC"/>
                </a:solidFill>
                <a:latin typeface="JetBrains Mono NL"/>
                <a:ea typeface="JetBrains Mono NL"/>
                <a:cs typeface="JetBrains Mono NL"/>
              </a:rPr>
              <a:t>: </a:t>
            </a:r>
            <a:r>
              <a:rPr sz="1500" b="0">
                <a:solidFill>
                  <a:srgbClr val="FAB387"/>
                </a:solidFill>
                <a:latin typeface="JetBrains Mono NL"/>
                <a:ea typeface="JetBrains Mono NL"/>
                <a:cs typeface="JetBrains Mono NL"/>
              </a:rPr>
              <a:t>5342393</a:t>
            </a:r>
          </a:p>
          <a:p xmlns:a="http://schemas.openxmlformats.org/drawingml/2006/main">
            <a:pPr>
              <a:lnSpc>
                <a:spcPct val="112000"/>
              </a:lnSpc>
              <a:buNone/>
            </a:pPr>
            <a:r>
              <a:rPr sz="1500" b="0">
                <a:solidFill>
                  <a:srgbClr val="ECECEC"/>
                </a:solidFill>
                <a:latin typeface="JetBrains Mono NL"/>
                <a:ea typeface="JetBrains Mono NL"/>
                <a:cs typeface="JetBrains Mono NL"/>
              </a:rPr>
              <a:t>}</a:t>
            </a:r>
          </a:p>
        </p:txBody>
      </p:sp>
      <p:sp>
        <p:nvSpPr>
          <p:cNvPr id="191" name="">
            <a:extLst xmlns:a="http://schemas.openxmlformats.org/drawingml/2006/main">
              <a:ext uri="{FF2B5EF4-FFF2-40B4-BE49-F238E27FC236}">
                <a16:creationId xmlns:a16="http://schemas.microsoft.com/office/drawing/2014/main" id="{0BB25CB6-8333-403C-A3CA-A677B09A27F4}"/>
              </a:ext>
            </a:extLst>
          </p:cNvPr>
          <p:cNvSpPr>
            <a:spLocks xmlns:a="http://schemas.openxmlformats.org/drawingml/2006/main" noGrp="1"/>
          </p:cNvSpPr>
          <p:nvPr/>
        </p:nvSpPr>
        <p:spPr>
          <a:xfrm xmlns:a="http://schemas.openxmlformats.org/drawingml/2006/main">
            <a:off x="657225" y="4229100"/>
            <a:ext cx="7896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Perch compiles the account’s document on chain; the account enforces it in __check_auth.</a:t>
            </a:r>
          </a:p>
        </p:txBody>
      </p:sp>
    </p:spTree>
    <p:extLst>
      <p:ext uri="{BB962C8B-B14F-4D97-AF65-F5344CB8AC3E}">
        <p14:creationId xmlns:p14="http://schemas.microsoft.com/office/powerpoint/2010/main" val="180511924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3F48497F-2FD0-4F3C-B29A-20C3C8D30229}"/>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T H E   W A L L E T</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D560B4D2-3E74-43FE-86EE-72A42A088FD8}"/>
              </a:ext>
            </a:extLst>
          </p:cNvPr>
          <p:cNvSpPr>
            <a:spLocks xmlns:a="http://schemas.openxmlformats.org/drawingml/2006/main" noGrp="1"/>
          </p:cNvSpPr>
          <p:nvPr/>
        </p:nvSpPr>
        <p:spPr>
          <a:xfrm xmlns:a="http://schemas.openxmlformats.org/drawingml/2006/main">
            <a:off x="485775" y="1352550"/>
            <a:ext cx="4714875" cy="9600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5100"/>
            </a:defPPr>
          </a:lstStyle>
          <a:p xmlns:a="http://schemas.openxmlformats.org/drawingml/2006/main">
            <a:pPr marL="0" lvl="0" indent="0" algn="l">
              <a:spcBef>
                <a:spcPts val="0"/>
              </a:spcBef>
              <a:spcAft>
                <a:spcPts val="0"/>
              </a:spcAft>
              <a:buNone/>
              <a:defRPr sz="5100"/>
            </a:pPr>
            <a:r>
              <a:rPr sz="5100" spc="-231">
                <a:solidFill>
                  <a:schemeClr val="dk1"/>
                </a:solidFill>
                <a:latin typeface="Inter Medium"/>
                <a:ea typeface="Inter Medium"/>
                <a:cs typeface="Inter Medium"/>
              </a:rPr>
              <a:t>NIDO</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C214E13B-431C-40F2-8BE4-B76F2EA5378A}"/>
              </a:ext>
            </a:extLst>
          </p:cNvPr>
          <p:cNvSpPr>
            <a:spLocks xmlns:a="http://schemas.openxmlformats.org/drawingml/2006/main" noGrp="1"/>
          </p:cNvSpPr>
          <p:nvPr/>
        </p:nvSpPr>
        <p:spPr>
          <a:xfrm xmlns:a="http://schemas.openxmlformats.org/drawingml/2006/main">
            <a:off x="495300" y="2352675"/>
            <a:ext cx="4619625" cy="144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A passkey wallet in which every account is a Perch account.</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One passkey creates a C-address with 5 test XLM; Nido’s relayer pays.</a:t>
            </a:r>
          </a:p>
          <a:p xmlns:a="http://schemas.openxmlformats.org/drawingml/2006/main">
            <a:pPr>
              <a:lnSpc>
                <a:spcPct val="110000"/>
              </a:lnSpc>
              <a:buNone/>
              <a:defRPr sz="1500"/>
            </a:pPr>
            <a:r>
              <a:rPr sz="1500">
                <a:solidFill>
                  <a:srgbClr val="000000"/>
                </a:solidFill>
                <a:latin typeface="Inter"/>
                <a:ea typeface="Inter"/>
                <a:cs typeface="Inter"/>
              </a:rPr>
              <a:t>Your app finds it in Stellar Wallets Kit.</a:t>
            </a:r>
          </a:p>
        </p:txBody>
      </p:sp>
      <p:pic>
        <p:nvPicPr>
          <p:cNvPr id="167" name="Google Shape;167;p21">
            <a:extLst xmlns:a="http://schemas.openxmlformats.org/drawingml/2006/main">
              <a:ext uri="{FF2B5EF4-FFF2-40B4-BE49-F238E27FC236}">
                <a16:creationId xmlns:a16="http://schemas.microsoft.com/office/drawing/2014/main" id="{384AEE20-2376-4847-B0FA-2C5D63EF4BE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87ca06f0e3c469c">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A9F2A33-F3F9-4D0B-AC50-BC235E28A8F6}"/>
              </a:ext>
            </a:extLst>
          </p:cNvPr>
          <p:cNvPicPr>
            <a:picLocks xmlns:a="http://schemas.openxmlformats.org/drawingml/2006/main" noChangeAspect="1"/>
          </p:cNvPicPr>
          <p:nvPr/>
        </p:nvPicPr>
        <p:blipFill>
          <a:blip xmlns:r="http://schemas.openxmlformats.org/officeDocument/2006/relationships" xmlns:a="http://schemas.openxmlformats.org/drawingml/2006/main" r:embed="Rc48ff585e3c844d7">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B83A35C1-CB69-44B8-89F0-750064604AB9}"/>
              </a:ext>
            </a:extLst>
          </p:cNvPr>
          <p:cNvPicPr>
            <a:picLocks xmlns:a="http://schemas.openxmlformats.org/drawingml/2006/main" noChangeAspect="1"/>
          </p:cNvPicPr>
          <p:nvPr/>
        </p:nvPicPr>
        <p:blipFill>
          <a:blip xmlns:r="http://schemas.openxmlformats.org/officeDocument/2006/relationships" xmlns:a="http://schemas.openxmlformats.org/drawingml/2006/main" r:embed="R88d4735196424f38">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F0F37CCE-DF2D-4310-BD61-A2DE178DEF50}"/>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test.nido.fyi · testnet</a:t>
            </a:r>
          </a:p>
        </p:txBody>
      </p:sp>
    </p:spTree>
    <p:extLst>
      <p:ext uri="{BB962C8B-B14F-4D97-AF65-F5344CB8AC3E}">
        <p14:creationId xmlns:p14="http://schemas.microsoft.com/office/powerpoint/2010/main" val="17325993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109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NIDO’S POPUP CAN’T SIGN</a:t>
            </a:r>
            <a:endParaRPr sz="30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FOR YOUR CONTRACT</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F O U N D   O N   T E S T N E T</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f45d274a23694177">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49deaf0dbff6484b">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C3CE6D1F-AE1B-4199-8E95-1BB06672175F}"/>
              </a:ext>
            </a:extLst>
          </p:cNvPr>
          <p:cNvSpPr>
            <a:spLocks xmlns:a="http://schemas.openxmlformats.org/drawingml/2006/main" noGrp="1"/>
          </p:cNvSpPr>
          <p:nvPr/>
        </p:nvSpPr>
        <p:spPr>
          <a:xfrm xmlns:a="http://schemas.openxmlformats.org/drawingml/2006/main">
            <a:off x="657225" y="2047875"/>
            <a:ext cx="7896225" cy="1752600"/>
          </a:xfrm>
          <a:prstGeom xmlns:a="http://schemas.openxmlformats.org/drawingml/2006/main" prst="roundRect">
            <a:avLst>
              <a:gd name="adj" fmla="val 4348"/>
            </a:avLst>
          </a:prstGeom>
          <a:solidFill xmlns:a="http://schemas.openxmlformats.org/drawingml/2006/main">
            <a:srgbClr val="161616"/>
          </a:solidFill>
          <a:ln xmlns:a="http://schemas.openxmlformats.org/drawingml/2006/main" w="9525">
            <a:solidFill>
              <a:srgbClr val="2E2E2E"/>
            </a:solidFill>
            <a:prstDash val="solid"/>
          </a:ln>
        </p:spPr>
      </p:sp>
      <p:sp>
        <p:nvSpPr>
          <p:cNvPr id="189" name="">
            <a:extLst xmlns:a="http://schemas.openxmlformats.org/drawingml/2006/main">
              <a:ext uri="{FF2B5EF4-FFF2-40B4-BE49-F238E27FC236}">
                <a16:creationId xmlns:a16="http://schemas.microsoft.com/office/drawing/2014/main" id="{0EBF0388-943D-41E1-B1B0-13EE2B4DA75E}"/>
              </a:ext>
            </a:extLst>
          </p:cNvPr>
          <p:cNvSpPr>
            <a:spLocks xmlns:a="http://schemas.openxmlformats.org/drawingml/2006/main" noGrp="1"/>
          </p:cNvSpPr>
          <p:nvPr/>
        </p:nvSpPr>
        <p:spPr>
          <a:xfrm xmlns:a="http://schemas.openxmlformats.org/drawingml/2006/main">
            <a:off x="6858000" y="2143125"/>
            <a:ext cx="1524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lgn="r"/>
          </a:lstStyle>
          <a:p xmlns:a="http://schemas.openxmlformats.org/drawingml/2006/main">
            <a:pPr algn="r"/>
            <a:r>
              <a:rPr sz="825" b="0">
                <a:solidFill>
                  <a:srgbClr val="8C8C8C"/>
                </a:solidFill>
                <a:latin typeface="Inter"/>
                <a:ea typeface="Inter"/>
                <a:cs typeface="Inter"/>
              </a:rPr>
              <a:t>auth trace</a:t>
            </a:r>
          </a:p>
        </p:txBody>
      </p:sp>
      <p:sp>
        <p:nvSpPr>
          <p:cNvPr id="190" name="">
            <a:extLst xmlns:a="http://schemas.openxmlformats.org/drawingml/2006/main">
              <a:ext uri="{FF2B5EF4-FFF2-40B4-BE49-F238E27FC236}">
                <a16:creationId xmlns:a16="http://schemas.microsoft.com/office/drawing/2014/main" id="{48E4195E-57E1-46B5-A290-3AA6A28158FA}"/>
              </a:ext>
            </a:extLst>
          </p:cNvPr>
          <p:cNvSpPr>
            <a:spLocks xmlns:a="http://schemas.openxmlformats.org/drawingml/2006/main" noGrp="1"/>
          </p:cNvSpPr>
          <p:nvPr/>
        </p:nvSpPr>
        <p:spPr>
          <a:xfrm xmlns:a="http://schemas.openxmlformats.org/drawingml/2006/main">
            <a:off x="828675" y="2390775"/>
            <a:ext cx="75533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112000"/>
              </a:lnSpc>
              <a:buNone/>
            </a:pPr>
            <a:r>
              <a:rPr sz="1500" b="0">
                <a:solidFill>
                  <a:srgbClr val="89B4FA"/>
                </a:solidFill>
                <a:latin typeface="JetBrains Mono NL"/>
                <a:ea typeface="JetBrains Mono NL"/>
                <a:cs typeface="JetBrains Mono NL"/>
              </a:rPr>
              <a:t>game.guess</a:t>
            </a:r>
            <a:r>
              <a:rPr sz="1500" b="0">
                <a:solidFill>
                  <a:srgbClr val="ECECEC"/>
                </a:solidFill>
                <a:latin typeface="JetBrains Mono NL"/>
                <a:ea typeface="JetBrains Mono NL"/>
                <a:cs typeface="JetBrains Mono NL"/>
              </a:rPr>
              <a:t>(</a:t>
            </a:r>
            <a:r>
              <a:rPr sz="1500" b="0">
                <a:solidFill>
                  <a:srgbClr val="FAB387"/>
                </a:solidFill>
                <a:latin typeface="JetBrains Mono NL"/>
                <a:ea typeface="JetBrains Mono NL"/>
                <a:cs typeface="JetBrains Mono NL"/>
              </a:rPr>
              <a:t>3</a:t>
            </a:r>
            <a:r>
              <a:rPr sz="1500" b="0">
                <a:solidFill>
                  <a:srgbClr val="ECECEC"/>
                </a:solidFill>
                <a:latin typeface="JetBrains Mono NL"/>
                <a:ea typeface="JetBrains Mono NL"/>
                <a:cs typeface="JetBrains Mono NL"/>
              </a:rPr>
              <a:t>, CAXS…)                     </a:t>
            </a:r>
            <a:r>
              <a:rPr sz="1500" b="0">
                <a:solidFill>
                  <a:srgbClr val="8C8C8C"/>
                </a:solidFill>
                <a:latin typeface="JetBrains Mono NL"/>
                <a:ea typeface="JetBrains Mono NL"/>
                <a:cs typeface="JetBrains Mono NL"/>
              </a:rPr>
              <a:t>// the app’s call</a:t>
            </a:r>
          </a:p>
          <a:p xmlns:a="http://schemas.openxmlformats.org/drawingml/2006/main">
            <a:pPr>
              <a:lnSpc>
                <a:spcPct val="112000"/>
              </a:lnSpc>
              <a:buNone/>
            </a:pPr>
            <a:r>
              <a:rPr sz="1500" b="0">
                <a:solidFill>
                  <a:srgbClr val="ECECEC"/>
                </a:solidFill>
                <a:latin typeface="JetBrains Mono NL"/>
                <a:ea typeface="JetBrains Mono NL"/>
                <a:cs typeface="JetBrains Mono NL"/>
              </a:rPr>
              <a:t>→ CAXS…::</a:t>
            </a:r>
            <a:r>
              <a:rPr sz="1500" b="0">
                <a:solidFill>
                  <a:srgbClr val="89B4FA"/>
                </a:solidFill>
                <a:latin typeface="JetBrains Mono NL"/>
                <a:ea typeface="JetBrains Mono NL"/>
                <a:cs typeface="JetBrains Mono NL"/>
              </a:rPr>
              <a:t>__check_auth</a:t>
            </a:r>
            <a:r>
              <a:rPr sz="1500" b="0">
                <a:solidFill>
                  <a:srgbClr val="ECECEC"/>
                </a:solidFill>
                <a:latin typeface="JetBrains Mono NL"/>
                <a:ea typeface="JetBrains Mono NL"/>
                <a:cs typeface="JetBrains Mono NL"/>
              </a:rPr>
              <a:t>(signatures, contexts)</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contexts</a:t>
            </a:r>
            <a:r>
              <a:rPr sz="1500" b="0">
                <a:solidFill>
                  <a:srgbClr val="ECECEC"/>
                </a:solidFill>
                <a:latin typeface="JetBrains Mono NL"/>
                <a:ea typeface="JetBrains Mono NL"/>
                <a:cs typeface="JetBrains Mono NL"/>
              </a:rPr>
              <a:t>: guess, xlm.transfer        </a:t>
            </a:r>
            <a:r>
              <a:rPr sz="1500" b="0">
                <a:solidFill>
                  <a:srgbClr val="8C8C8C"/>
                </a:solidFill>
                <a:latin typeface="JetBrains Mono NL"/>
                <a:ea typeface="JetBrains Mono NL"/>
                <a:cs typeface="JetBrains Mono NL"/>
              </a:rPr>
              <a:t>// two calls</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89DCEB"/>
                </a:solidFill>
                <a:latin typeface="JetBrains Mono NL"/>
                <a:ea typeface="JetBrains Mono NL"/>
                <a:cs typeface="JetBrains Mono NL"/>
              </a:rPr>
              <a:t>context_rule_ids</a:t>
            </a:r>
            <a:r>
              <a:rPr sz="1500" b="0">
                <a:solidFill>
                  <a:srgbClr val="ECECEC"/>
                </a:solidFill>
                <a:latin typeface="JetBrains Mono NL"/>
                <a:ea typeface="JetBrains Mono NL"/>
                <a:cs typeface="JetBrains Mono NL"/>
              </a:rPr>
              <a:t>: [</a:t>
            </a:r>
            <a:r>
              <a:rPr sz="1500" b="0">
                <a:solidFill>
                  <a:srgbClr val="FAB387"/>
                </a:solidFill>
                <a:latin typeface="JetBrains Mono NL"/>
                <a:ea typeface="JetBrains Mono NL"/>
                <a:cs typeface="JetBrains Mono NL"/>
              </a:rPr>
              <a:t>0</a:t>
            </a:r>
            <a:r>
              <a:rPr sz="1500" b="0">
                <a:solidFill>
                  <a:srgbClr val="ECECEC"/>
                </a:solidFill>
                <a:latin typeface="JetBrains Mono NL"/>
                <a:ea typeface="JetBrains Mono NL"/>
                <a:cs typeface="JetBrains Mono NL"/>
              </a:rPr>
              <a:t>]                </a:t>
            </a:r>
            <a:r>
              <a:rPr sz="1500" b="0">
                <a:solidFill>
                  <a:srgbClr val="8C8C8C"/>
                </a:solidFill>
                <a:latin typeface="JetBrains Mono NL"/>
                <a:ea typeface="JetBrains Mono NL"/>
                <a:cs typeface="JetBrains Mono NL"/>
              </a:rPr>
              <a:t>// one rule: "admin"</a:t>
            </a:r>
          </a:p>
          <a:p xmlns:a="http://schemas.openxmlformats.org/drawingml/2006/main">
            <a:pPr>
              <a:lnSpc>
                <a:spcPct val="112000"/>
              </a:lnSpc>
              <a:buNone/>
            </a:pPr>
            <a:r>
              <a:rPr sz="1500" b="0">
                <a:solidFill>
                  <a:srgbClr val="ECECEC"/>
                </a:solidFill>
                <a:latin typeface="JetBrains Mono NL"/>
                <a:ea typeface="JetBrains Mono NL"/>
                <a:cs typeface="JetBrains Mono NL"/>
              </a:rPr>
              <a:t>→ </a:t>
            </a:r>
            <a:r>
              <a:rPr sz="1500" b="0">
                <a:solidFill>
                  <a:srgbClr val="F38BA8"/>
                </a:solidFill>
                <a:latin typeface="JetBrains Mono NL"/>
                <a:ea typeface="JetBrains Mono NL"/>
                <a:cs typeface="JetBrains Mono NL"/>
              </a:rPr>
              <a:t>Error(Contract, #3014) ContextRuleIdsLengthMismatch</a:t>
            </a:r>
          </a:p>
        </p:txBody>
      </p:sp>
      <p:sp>
        <p:nvSpPr>
          <p:cNvPr id="191" name="">
            <a:extLst xmlns:a="http://schemas.openxmlformats.org/drawingml/2006/main">
              <a:ext uri="{FF2B5EF4-FFF2-40B4-BE49-F238E27FC236}">
                <a16:creationId xmlns:a16="http://schemas.microsoft.com/office/drawing/2014/main" id="{95F470BF-FBE8-4C83-B5D9-34390E1839EE}"/>
              </a:ext>
            </a:extLst>
          </p:cNvPr>
          <p:cNvSpPr>
            <a:spLocks xmlns:a="http://schemas.openxmlformats.org/drawingml/2006/main" noGrp="1"/>
          </p:cNvSpPr>
          <p:nvPr/>
        </p:nvSpPr>
        <p:spPr>
          <a:xfrm xmlns:a="http://schemas.openxmlformats.org/drawingml/2006/main">
            <a:off x="657225" y="3933825"/>
            <a:ext cx="7896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A call into one contract fails with #3002 instead. Either way the fix is a session.</a:t>
            </a:r>
          </a:p>
        </p:txBody>
      </p:sp>
    </p:spTree>
    <p:extLst>
      <p:ext uri="{BB962C8B-B14F-4D97-AF65-F5344CB8AC3E}">
        <p14:creationId xmlns:p14="http://schemas.microsoft.com/office/powerpoint/2010/main" val="180511924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36" name="Google Shape;136;p19">
            <a:extLst xmlns:a="http://schemas.openxmlformats.org/drawingml/2006/main">
              <a:ext uri="{FF2B5EF4-FFF2-40B4-BE49-F238E27FC236}">
                <a16:creationId xmlns:a16="http://schemas.microsoft.com/office/drawing/2014/main" id="{6E8251FA-265D-4926-AD3B-EBF261F506F2}"/>
              </a:ext>
            </a:extLst>
          </p:cNvPr>
          <p:cNvSpPr>
            <a:spLocks xmlns:a="http://schemas.openxmlformats.org/drawingml/2006/main" noGrp="1"/>
          </p:cNvSpPr>
          <p:nvPr/>
        </p:nvSpPr>
        <p:spPr>
          <a:xfrm xmlns:a="http://schemas.openxmlformats.org/drawingml/2006/main">
            <a:off x="3031396" y="849570"/>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A   T E S T   R U N</a:t>
            </a:r>
            <a:endParaRPr sz="1000" b="1">
              <a:solidFill>
                <a:schemeClr val="dk1"/>
              </a:solidFill>
              <a:latin typeface="Inter"/>
              <a:ea typeface="Inter"/>
              <a:cs typeface="Inter"/>
            </a:endParaRPr>
          </a:p>
        </p:txBody>
      </p:sp>
      <p:sp>
        <p:nvSpPr>
          <p:cNvPr id="137" name="Google Shape;137;p19">
            <a:extLst xmlns:a="http://schemas.openxmlformats.org/drawingml/2006/main">
              <a:ext uri="{FF2B5EF4-FFF2-40B4-BE49-F238E27FC236}">
                <a16:creationId xmlns:a16="http://schemas.microsoft.com/office/drawing/2014/main" id="{4E94503B-D305-4E29-91D0-1D91CAC31978}"/>
              </a:ext>
            </a:extLst>
          </p:cNvPr>
          <p:cNvSpPr>
            <a:spLocks xmlns:a="http://schemas.openxmlformats.org/drawingml/2006/main" noGrp="1"/>
          </p:cNvSpPr>
          <p:nvPr/>
        </p:nvSpPr>
        <p:spPr>
          <a:xfrm xmlns:a="http://schemas.openxmlformats.org/drawingml/2006/main">
            <a:off x="3028950" y="1219200"/>
            <a:ext cx="57150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AN AGENT BUILT</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KUDOS JAR</a:t>
            </a:r>
            <a:endParaRPr sz="3900" spc="-231">
              <a:solidFill>
                <a:schemeClr val="dk1"/>
              </a:solidFill>
              <a:latin typeface="Inter Medium"/>
              <a:ea typeface="Inter Medium"/>
              <a:cs typeface="Inter Medium"/>
            </a:endParaRPr>
          </a:p>
        </p:txBody>
      </p:sp>
      <p:sp>
        <p:nvSpPr>
          <p:cNvPr id="138" name="Google Shape;138;p19">
            <a:extLst xmlns:a="http://schemas.openxmlformats.org/drawingml/2006/main">
              <a:ext uri="{FF2B5EF4-FFF2-40B4-BE49-F238E27FC236}">
                <a16:creationId xmlns:a16="http://schemas.microsoft.com/office/drawing/2014/main" id="{D59B081D-7B3D-4815-A077-469375FB208E}"/>
              </a:ext>
            </a:extLst>
          </p:cNvPr>
          <p:cNvSpPr>
            <a:spLocks xmlns:a="http://schemas.openxmlformats.org/drawingml/2006/main" noGrp="1"/>
          </p:cNvSpPr>
          <p:nvPr/>
        </p:nvSpPr>
        <p:spPr>
          <a:xfrm xmlns:a="http://schemas.openxmlformats.org/drawingml/2006/main">
            <a:off x="3038475" y="2619375"/>
            <a:ext cx="5619750" cy="144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We gave a coding agent the template and one prompt: build a small smart account app, live on testnet.</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It built Kudos Jar: tip a team in XLM, up to 2 XLM a day, with a public tally.</a:t>
            </a:r>
          </a:p>
          <a:p xmlns:a="http://schemas.openxmlformats.org/drawingml/2006/main">
            <a:pPr>
              <a:lnSpc>
                <a:spcPct val="110000"/>
              </a:lnSpc>
              <a:buNone/>
              <a:defRPr sz="1500"/>
            </a:pPr>
            <a:r>
              <a:rPr sz="1500">
                <a:solidFill>
                  <a:srgbClr val="000000"/>
                </a:solidFill>
                <a:latin typeface="Inter"/>
                <a:ea typeface="Inter"/>
                <a:cs typeface="Inter"/>
              </a:rPr>
              <a:t>It ran with a real Nido account and a virtual passkey.</a:t>
            </a:r>
          </a:p>
        </p:txBody>
      </p:sp>
      <p:pic>
        <p:nvPicPr>
          <p:cNvPr id="139" name="Google Shape;139;p19">
            <a:extLst xmlns:a="http://schemas.openxmlformats.org/drawingml/2006/main">
              <a:ext uri="{FF2B5EF4-FFF2-40B4-BE49-F238E27FC236}">
                <a16:creationId xmlns:a16="http://schemas.microsoft.com/office/drawing/2014/main" id="{5826448D-0A09-478E-990F-C3A369DF09C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219e9b5aab24def">
            <a:alphaModFix/>
          </a:blip>
          <a:srcRect xmlns:a="http://schemas.openxmlformats.org/drawingml/2006/main" l="44448" t="2095" r="26037" b="0"/>
          <a:stretch xmlns:a="http://schemas.openxmlformats.org/drawingml/2006/main"/>
        </p:blipFill>
        <p:spPr>
          <a:xfrm xmlns:a="http://schemas.openxmlformats.org/drawingml/2006/main">
            <a:off x="0" y="0"/>
            <a:ext cx="2520000" cy="5035825"/>
          </a:xfrm>
          <a:prstGeom xmlns:a="http://schemas.openxmlformats.org/drawingml/2006/main" prst="rect">
            <a:avLst/>
          </a:prstGeom>
          <a:ln xmlns:a="http://schemas.openxmlformats.org/drawingml/2006/main">
            <a:noFill/>
          </a:ln>
        </p:spPr>
      </p:pic>
      <p:pic>
        <p:nvPicPr>
          <p:cNvPr id="140" name="Google Shape;140;p19">
            <a:extLst xmlns:a="http://schemas.openxmlformats.org/drawingml/2006/main">
              <a:ext uri="{FF2B5EF4-FFF2-40B4-BE49-F238E27FC236}">
                <a16:creationId xmlns:a16="http://schemas.microsoft.com/office/drawing/2014/main" id="{89C8D730-15E7-49A9-AB77-796CFD73C4D9}"/>
              </a:ext>
            </a:extLst>
          </p:cNvPr>
          <p:cNvPicPr>
            <a:picLocks xmlns:a="http://schemas.openxmlformats.org/drawingml/2006/main" noChangeAspect="1"/>
          </p:cNvPicPr>
          <p:nvPr/>
        </p:nvPicPr>
        <p:blipFill>
          <a:blip xmlns:r="http://schemas.openxmlformats.org/officeDocument/2006/relationships" xmlns:a="http://schemas.openxmlformats.org/drawingml/2006/main" r:embed="R65ec92dc3c164d28">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41" name="Google Shape;141;p19">
            <a:extLst xmlns:a="http://schemas.openxmlformats.org/drawingml/2006/main">
              <a:ext uri="{FF2B5EF4-FFF2-40B4-BE49-F238E27FC236}">
                <a16:creationId xmlns:a16="http://schemas.microsoft.com/office/drawing/2014/main" id="{2164DA10-1420-4DB7-8FAA-B309FC7ECF59}"/>
              </a:ext>
            </a:extLst>
          </p:cNvPr>
          <p:cNvPicPr>
            <a:picLocks xmlns:a="http://schemas.openxmlformats.org/drawingml/2006/main" noChangeAspect="1"/>
          </p:cNvPicPr>
          <p:nvPr/>
        </p:nvPicPr>
        <p:blipFill>
          <a:blip xmlns:r="http://schemas.openxmlformats.org/officeDocument/2006/relationships" xmlns:a="http://schemas.openxmlformats.org/drawingml/2006/main" r:embed="R544de55261bc412e">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56152811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APPROVING THE RULE IN NIDO</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Only transfer, only on the XLM token</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A P P R O V E   O N C E</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Up to 2 XLM a day</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About 24 hours, then it stops</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b12a9bda5e014666">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c990a3592f0549f7">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9EF34944-0313-4304-BAB0-16A27957DC8D}"/>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SCOPE</a:t>
            </a:r>
          </a:p>
        </p:txBody>
      </p:sp>
      <p:sp>
        <p:nvSpPr>
          <p:cNvPr id="189" name="">
            <a:extLst xmlns:a="http://schemas.openxmlformats.org/drawingml/2006/main">
              <a:ext uri="{FF2B5EF4-FFF2-40B4-BE49-F238E27FC236}">
                <a16:creationId xmlns:a16="http://schemas.microsoft.com/office/drawing/2014/main" id="{E058A72C-55A8-4BA0-9287-62E360BBA590}"/>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CAP</a:t>
            </a:r>
          </a:p>
        </p:txBody>
      </p:sp>
      <p:sp>
        <p:nvSpPr>
          <p:cNvPr id="190" name="">
            <a:extLst xmlns:a="http://schemas.openxmlformats.org/drawingml/2006/main">
              <a:ext uri="{FF2B5EF4-FFF2-40B4-BE49-F238E27FC236}">
                <a16:creationId xmlns:a16="http://schemas.microsoft.com/office/drawing/2014/main" id="{E9877C8E-D05C-4649-958D-E8FE32E1300A}"/>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EXPIRY</a:t>
            </a:r>
          </a:p>
        </p:txBody>
      </p:sp>
      <p:pic>
        <p:nvPicPr>
          <p:cNvPr id="191" name="">
            <a:extLst xmlns:a="http://schemas.openxmlformats.org/drawingml/2006/main">
              <a:ext uri="{FF2B5EF4-FFF2-40B4-BE49-F238E27FC236}">
                <a16:creationId xmlns:a16="http://schemas.microsoft.com/office/drawing/2014/main" id="{7D789321-21E2-425B-BCA6-F55C3DB8EA6D}"/>
              </a:ext>
            </a:extLst>
          </p:cNvPr>
          <p:cNvPicPr>
            <a:picLocks xmlns:a="http://schemas.openxmlformats.org/drawingml/2006/main" noChangeAspect="1"/>
          </p:cNvPicPr>
          <p:nvPr/>
        </p:nvPicPr>
        <p:blipFill>
          <a:blip xmlns:r="http://schemas.openxmlformats.org/officeDocument/2006/relationships" xmlns:a="http://schemas.openxmlformats.org/drawingml/2006/main" r:embed="Ra93e1efdb2bf4d96"/>
          <a:srcRect xmlns:a="http://schemas.openxmlformats.org/drawingml/2006/main" l="41000" t="45000" r="23000" b="30000"/>
          <a:stretch xmlns:a="http://schemas.openxmlformats.org/drawingml/2006/main"/>
        </p:blipFill>
        <p:spPr>
          <a:xfrm xmlns:a="http://schemas.openxmlformats.org/drawingml/2006/main">
            <a:off x="896127" y="1619250"/>
            <a:ext cx="3713196"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717B0561-7351-4BA2-A358-791669B88372}"/>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Nido’s grant page, before the passkey</a:t>
            </a:r>
          </a:p>
        </p:txBody>
      </p:sp>
    </p:spTree>
    <p:extLst>
      <p:ext uri="{BB962C8B-B14F-4D97-AF65-F5344CB8AC3E}">
        <p14:creationId xmlns:p14="http://schemas.microsoft.com/office/powerpoint/2010/main" val="180511924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FOUR TIPS, THEN A REFUSAL</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Four tips, each confirmed on chain</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T I P   U N T I L   T H E   C A P</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 fifth would pass 2 XLM for the day</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The account, with error #3221</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3fa229ff2f664382">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1238bb2934e540c8">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4E2C7337-7A28-4AA3-8B0C-01A7CFA6D8CF}"/>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NO PROMPTS</a:t>
            </a:r>
          </a:p>
        </p:txBody>
      </p:sp>
      <p:sp>
        <p:nvSpPr>
          <p:cNvPr id="189" name="">
            <a:extLst xmlns:a="http://schemas.openxmlformats.org/drawingml/2006/main">
              <a:ext uri="{FF2B5EF4-FFF2-40B4-BE49-F238E27FC236}">
                <a16:creationId xmlns:a16="http://schemas.microsoft.com/office/drawing/2014/main" id="{E58B5A29-5178-46AE-A46C-928C693ED4D5}"/>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THE CAP</a:t>
            </a:r>
          </a:p>
        </p:txBody>
      </p:sp>
      <p:sp>
        <p:nvSpPr>
          <p:cNvPr id="190" name="">
            <a:extLst xmlns:a="http://schemas.openxmlformats.org/drawingml/2006/main">
              <a:ext uri="{FF2B5EF4-FFF2-40B4-BE49-F238E27FC236}">
                <a16:creationId xmlns:a16="http://schemas.microsoft.com/office/drawing/2014/main" id="{FF92ACA8-5DA5-4DCC-A5F3-B6FEF125B9B5}"/>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WHO SAID NO</a:t>
            </a:r>
          </a:p>
        </p:txBody>
      </p:sp>
      <p:pic>
        <p:nvPicPr>
          <p:cNvPr id="191" name="">
            <a:extLst xmlns:a="http://schemas.openxmlformats.org/drawingml/2006/main">
              <a:ext uri="{FF2B5EF4-FFF2-40B4-BE49-F238E27FC236}">
                <a16:creationId xmlns:a16="http://schemas.microsoft.com/office/drawing/2014/main" id="{00C487FE-05BF-486F-AA10-30F175176060}"/>
              </a:ext>
            </a:extLst>
          </p:cNvPr>
          <p:cNvPicPr>
            <a:picLocks xmlns:a="http://schemas.openxmlformats.org/drawingml/2006/main" noChangeAspect="1"/>
          </p:cNvPicPr>
          <p:nvPr/>
        </p:nvPicPr>
        <p:blipFill>
          <a:blip xmlns:r="http://schemas.openxmlformats.org/officeDocument/2006/relationships" xmlns:a="http://schemas.openxmlformats.org/drawingml/2006/main" r:embed="R5886198e4b05431d"/>
          <a:srcRect xmlns:a="http://schemas.openxmlformats.org/drawingml/2006/main" l="18000" t="28000" r="18000" b="11000"/>
          <a:stretch xmlns:a="http://schemas.openxmlformats.org/drawingml/2006/main"/>
        </p:blipFill>
        <p:spPr>
          <a:xfrm xmlns:a="http://schemas.openxmlformats.org/drawingml/2006/main">
            <a:off x="875696" y="1619250"/>
            <a:ext cx="3754058"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CE6744F6-7809-4AEA-88E8-45546A6399B1}"/>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Live testnet, 22 Oct 2026</a:t>
            </a:r>
          </a:p>
        </p:txBody>
      </p:sp>
    </p:spTree>
    <p:extLst>
      <p:ext uri="{BB962C8B-B14F-4D97-AF65-F5344CB8AC3E}">
        <p14:creationId xmlns:p14="http://schemas.microsoft.com/office/powerpoint/2010/main" val="180511924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WHEN A GRANT DOESN’T CONFIRM</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Nothing was sent. Wait, or pay your own fee</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H E N   I T   G O E S   W R O N G</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Nothing was sent. Retry in a moment</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It may have landed. Check, then retry</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1a0939633fc34660">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5e725e80af8a4ac8">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CFC9AB4C-779B-4955-BE21-856FF833E0D7}"/>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429 · BUDGET USED UP</a:t>
            </a:r>
          </a:p>
        </p:txBody>
      </p:sp>
      <p:sp>
        <p:nvSpPr>
          <p:cNvPr id="189" name="">
            <a:extLst xmlns:a="http://schemas.openxmlformats.org/drawingml/2006/main">
              <a:ext uri="{FF2B5EF4-FFF2-40B4-BE49-F238E27FC236}">
                <a16:creationId xmlns:a16="http://schemas.microsoft.com/office/drawing/2014/main" id="{54667F94-7814-47EB-A059-CAFC34A73FE4}"/>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503 · RELAYER BUSY</a:t>
            </a:r>
          </a:p>
        </p:txBody>
      </p:sp>
      <p:sp>
        <p:nvSpPr>
          <p:cNvPr id="190" name="">
            <a:extLst xmlns:a="http://schemas.openxmlformats.org/drawingml/2006/main">
              <a:ext uri="{FF2B5EF4-FFF2-40B4-BE49-F238E27FC236}">
                <a16:creationId xmlns:a16="http://schemas.microsoft.com/office/drawing/2014/main" id="{EA4FD1AD-939E-4E0C-BFD3-97BD39263503}"/>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504 · TIMED OUT</a:t>
            </a:r>
          </a:p>
        </p:txBody>
      </p:sp>
      <p:sp>
        <p:nvSpPr>
          <p:cNvPr id="191" name="">
            <a:extLst xmlns:a="http://schemas.openxmlformats.org/drawingml/2006/main">
              <a:ext uri="{FF2B5EF4-FFF2-40B4-BE49-F238E27FC236}">
                <a16:creationId xmlns:a16="http://schemas.microsoft.com/office/drawing/2014/main" id="{8F4CB7C9-9DE3-4448-8928-1735DF481C0B}"/>
              </a:ext>
            </a:extLst>
          </p:cNvPr>
          <p:cNvSpPr>
            <a:spLocks xmlns:a="http://schemas.openxmlformats.org/drawingml/2006/main" noGrp="1"/>
          </p:cNvSpPr>
          <p:nvPr/>
        </p:nvSpPr>
        <p:spPr>
          <a:xfrm xmlns:a="http://schemas.openxmlformats.org/drawingml/2006/main">
            <a:off x="657225" y="185737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2250" b="0">
                <a:solidFill>
                  <a:srgbClr val="FFFFFF"/>
                </a:solidFill>
                <a:latin typeface="Inter"/>
                <a:ea typeface="Inter"/>
                <a:cs typeface="Inter"/>
              </a:rPr>
              <a:t>CHECK THE CHAIN</a:t>
            </a:r>
            <a:br>
              <a:rPr sz="2250" b="0">
                <a:solidFill>
                  <a:srgbClr val="FFFFFF"/>
                </a:solidFill>
                <a:latin typeface="Inter"/>
                <a:ea typeface="Inter"/>
                <a:cs typeface="Inter"/>
              </a:rPr>
            </a:br>
            <a:r>
              <a:rPr sz="2250" b="0">
                <a:solidFill>
                  <a:srgbClr val="FFFFFF"/>
                </a:solidFill>
                <a:latin typeface="Inter"/>
                <a:ea typeface="Inter"/>
                <a:cs typeface="Inter"/>
              </a:rPr>
              <a:t>BEFORE YOU RETRY</a:t>
            </a:r>
          </a:p>
        </p:txBody>
      </p:sp>
      <p:sp>
        <p:nvSpPr>
          <p:cNvPr id="192" name="">
            <a:extLst xmlns:a="http://schemas.openxmlformats.org/drawingml/2006/main">
              <a:ext uri="{FF2B5EF4-FFF2-40B4-BE49-F238E27FC236}">
                <a16:creationId xmlns:a16="http://schemas.microsoft.com/office/drawing/2014/main" id="{24EB924B-0FB4-4AB3-A320-87A26E26DA52}"/>
              </a:ext>
            </a:extLst>
          </p:cNvPr>
          <p:cNvSpPr>
            <a:spLocks xmlns:a="http://schemas.openxmlformats.org/drawingml/2006/main" noGrp="1"/>
          </p:cNvSpPr>
          <p:nvPr/>
        </p:nvSpPr>
        <p:spPr>
          <a:xfrm xmlns:a="http://schemas.openxmlformats.org/drawingml/2006/main">
            <a:off x="657225" y="2971800"/>
            <a:ext cx="4095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500" b="0">
                <a:solidFill>
                  <a:srgbClr val="FFFFFF"/>
                </a:solidFill>
                <a:latin typeface="Inter"/>
                <a:ea typeface="Inter"/>
                <a:cs typeface="Inter"/>
              </a:rPr>
              <a:t>Go back to the app, press Check again:</a:t>
            </a:r>
            <a:br>
              <a:rPr sz="1500" b="0">
                <a:solidFill>
                  <a:srgbClr val="FFFFFF"/>
                </a:solidFill>
                <a:latin typeface="Inter"/>
                <a:ea typeface="Inter"/>
                <a:cs typeface="Inter"/>
              </a:rPr>
            </a:br>
            <a:r>
              <a:rPr sz="1500" b="0">
                <a:solidFill>
                  <a:srgbClr val="FFFFFF"/>
                </a:solidFill>
                <a:latin typeface="Inter"/>
                <a:ea typeface="Inter"/>
                <a:cs typeface="Inter"/>
              </a:rPr>
              <a:t>it reads the account’s rules on chain.</a:t>
            </a:r>
            <a:br>
              <a:rPr sz="1500" b="0">
                <a:solidFill>
                  <a:srgbClr val="FFFFFF"/>
                </a:solidFill>
                <a:latin typeface="Inter"/>
                <a:ea typeface="Inter"/>
                <a:cs typeface="Inter"/>
              </a:rPr>
            </a:br>
            <a:r>
              <a:rPr sz="1500" b="0">
                <a:solidFill>
                  <a:srgbClr val="FFFFFF"/>
                </a:solidFill>
                <a:latin typeface="Inter"/>
                <a:ea typeface="Inter"/>
                <a:cs typeface="Inter"/>
              </a:rPr>
              <a:t>Nothing there? Ask Nido again.</a:t>
            </a:r>
          </a:p>
        </p:txBody>
      </p:sp>
      <p:sp>
        <p:nvSpPr>
          <p:cNvPr id="193" name="">
            <a:extLst xmlns:a="http://schemas.openxmlformats.org/drawingml/2006/main">
              <a:ext uri="{FF2B5EF4-FFF2-40B4-BE49-F238E27FC236}">
                <a16:creationId xmlns:a16="http://schemas.microsoft.com/office/drawing/2014/main" id="{07B94ECA-C436-48F2-92CE-4B8FB19280DB}"/>
              </a:ext>
            </a:extLst>
          </p:cNvPr>
          <p:cNvSpPr>
            <a:spLocks xmlns:a="http://schemas.openxmlformats.org/drawingml/2006/main" noGrp="1"/>
          </p:cNvSpPr>
          <p:nvPr/>
        </p:nvSpPr>
        <p:spPr>
          <a:xfrm xmlns:a="http://schemas.openxmlformats.org/drawingml/2006/main">
            <a:off x="657225" y="4114800"/>
            <a:ext cx="4143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A timeout can follow a success</a:t>
            </a:r>
          </a:p>
        </p:txBody>
      </p:sp>
    </p:spTree>
    <p:extLst>
      <p:ext uri="{BB962C8B-B14F-4D97-AF65-F5344CB8AC3E}">
        <p14:creationId xmlns:p14="http://schemas.microsoft.com/office/powerpoint/2010/main" val="180511924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PATTERNS THAT WORKED</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W H A T   S I X   T E A M S   B U I L T</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d982979c6c954f26">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63cbf25370814a7d">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a1a7a7dc4ebf45c3">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7999F4B7-E3A7-4A2E-B057-EBDAB6216689}"/>
              </a:ext>
            </a:extLst>
          </p:cNvPr>
          <p:cNvSpPr>
            <a:spLocks xmlns:a="http://schemas.openxmlformats.org/drawingml/2006/main" noGrp="1"/>
          </p:cNvSpPr>
          <p:nvPr/>
        </p:nvSpPr>
        <p:spPr>
          <a:xfrm xmlns:a="http://schemas.openxmlformats.org/drawingml/2006/main">
            <a:off x="495300" y="1771650"/>
            <a:ext cx="8172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350" b="0">
                <a:solidFill>
                  <a:srgbClr val="FFFFFF"/>
                </a:solidFill>
                <a:latin typeface="Inter"/>
                <a:ea typeface="Inter"/>
                <a:cs typeface="Inter"/>
              </a:rPr>
              <a:t>Six AI-driven teams, two hours each on testnet. All six prototypes worked.</a:t>
            </a:r>
          </a:p>
        </p:txBody>
      </p:sp>
      <p:sp>
        <p:nvSpPr>
          <p:cNvPr id="161" name="">
            <a:extLst xmlns:a="http://schemas.openxmlformats.org/drawingml/2006/main">
              <a:ext uri="{FF2B5EF4-FFF2-40B4-BE49-F238E27FC236}">
                <a16:creationId xmlns:a16="http://schemas.microsoft.com/office/drawing/2014/main" id="{9D0C63A4-030F-4578-B8C9-C4916A9F4A33}"/>
              </a:ext>
            </a:extLst>
          </p:cNvPr>
          <p:cNvSpPr>
            <a:spLocks xmlns:a="http://schemas.openxmlformats.org/drawingml/2006/main" noGrp="1"/>
          </p:cNvSpPr>
          <p:nvPr/>
        </p:nvSpPr>
        <p:spPr>
          <a:xfrm xmlns:a="http://schemas.openxmlformats.org/drawingml/2006/main">
            <a:off x="495300" y="224790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A CAPPED PAYMENT</a:t>
            </a:r>
          </a:p>
        </p:txBody>
      </p:sp>
      <p:sp>
        <p:nvSpPr>
          <p:cNvPr id="162" name="">
            <a:extLst xmlns:a="http://schemas.openxmlformats.org/drawingml/2006/main">
              <a:ext uri="{FF2B5EF4-FFF2-40B4-BE49-F238E27FC236}">
                <a16:creationId xmlns:a16="http://schemas.microsoft.com/office/drawing/2014/main" id="{B8E20294-EF43-488B-88DE-50C59D5FB127}"/>
              </a:ext>
            </a:extLst>
          </p:cNvPr>
          <p:cNvSpPr>
            <a:spLocks xmlns:a="http://schemas.openxmlformats.org/drawingml/2006/main" noGrp="1"/>
          </p:cNvSpPr>
          <p:nvPr/>
        </p:nvSpPr>
        <p:spPr>
          <a:xfrm xmlns:a="http://schemas.openxmlformats.org/drawingml/2006/main">
            <a:off x="495300" y="2495550"/>
            <a:ext cx="39147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Tips or purchases: one rule on your contract, one on the token with a cap.</a:t>
            </a:r>
          </a:p>
        </p:txBody>
      </p:sp>
      <p:sp>
        <p:nvSpPr>
          <p:cNvPr id="163" name="">
            <a:extLst xmlns:a="http://schemas.openxmlformats.org/drawingml/2006/main">
              <a:ext uri="{FF2B5EF4-FFF2-40B4-BE49-F238E27FC236}">
                <a16:creationId xmlns:a16="http://schemas.microsoft.com/office/drawing/2014/main" id="{4558885A-FAB3-4D1B-BC75-8FB2AA097C3F}"/>
              </a:ext>
            </a:extLst>
          </p:cNvPr>
          <p:cNvSpPr>
            <a:spLocks xmlns:a="http://schemas.openxmlformats.org/drawingml/2006/main" noGrp="1"/>
          </p:cNvSpPr>
          <p:nvPr/>
        </p:nvSpPr>
        <p:spPr>
          <a:xfrm xmlns:a="http://schemas.openxmlformats.org/drawingml/2006/main">
            <a:off x="4752975" y="224790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NO MONEY MOVES</a:t>
            </a:r>
          </a:p>
        </p:txBody>
      </p:sp>
      <p:sp>
        <p:nvSpPr>
          <p:cNvPr id="164" name="">
            <a:extLst xmlns:a="http://schemas.openxmlformats.org/drawingml/2006/main">
              <a:ext uri="{FF2B5EF4-FFF2-40B4-BE49-F238E27FC236}">
                <a16:creationId xmlns:a16="http://schemas.microsoft.com/office/drawing/2014/main" id="{F700DC31-2D02-433A-A47E-9C077183BBBF}"/>
              </a:ext>
            </a:extLst>
          </p:cNvPr>
          <p:cNvSpPr>
            <a:spLocks xmlns:a="http://schemas.openxmlformats.org/drawingml/2006/main" noGrp="1"/>
          </p:cNvSpPr>
          <p:nvPr/>
        </p:nvSpPr>
        <p:spPr>
          <a:xfrm xmlns:a="http://schemas.openxmlformats.org/drawingml/2006/main">
            <a:off x="4752975" y="2495550"/>
            <a:ext cx="39147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Tickets, a poll, a guestbook: one rule on your contract and no cap.</a:t>
            </a:r>
          </a:p>
        </p:txBody>
      </p:sp>
      <p:sp>
        <p:nvSpPr>
          <p:cNvPr id="165" name="">
            <a:extLst xmlns:a="http://schemas.openxmlformats.org/drawingml/2006/main">
              <a:ext uri="{FF2B5EF4-FFF2-40B4-BE49-F238E27FC236}">
                <a16:creationId xmlns:a16="http://schemas.microsoft.com/office/drawing/2014/main" id="{899DB7B3-2723-4C5E-9BEA-7C77909AB91D}"/>
              </a:ext>
            </a:extLst>
          </p:cNvPr>
          <p:cNvSpPr>
            <a:spLocks xmlns:a="http://schemas.openxmlformats.org/drawingml/2006/main" noGrp="1"/>
          </p:cNvSpPr>
          <p:nvPr/>
        </p:nvSpPr>
        <p:spPr>
          <a:xfrm xmlns:a="http://schemas.openxmlformats.org/drawingml/2006/main">
            <a:off x="495300" y="34861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SHARED FUNDS</a:t>
            </a:r>
          </a:p>
        </p:txBody>
      </p:sp>
      <p:sp>
        <p:nvSpPr>
          <p:cNvPr id="166" name="">
            <a:extLst xmlns:a="http://schemas.openxmlformats.org/drawingml/2006/main">
              <a:ext uri="{FF2B5EF4-FFF2-40B4-BE49-F238E27FC236}">
                <a16:creationId xmlns:a16="http://schemas.microsoft.com/office/drawing/2014/main" id="{A3421FB4-203D-4E76-9F16-B087D5A20477}"/>
              </a:ext>
            </a:extLst>
          </p:cNvPr>
          <p:cNvSpPr>
            <a:spLocks xmlns:a="http://schemas.openxmlformats.org/drawingml/2006/main" noGrp="1"/>
          </p:cNvSpPr>
          <p:nvPr/>
        </p:nvSpPr>
        <p:spPr>
          <a:xfrm xmlns:a="http://schemas.openxmlformats.org/drawingml/2006/main">
            <a:off x="495300" y="3733800"/>
            <a:ext cx="39147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A contract holds the pot and pays out when 2 of 3 members approve.</a:t>
            </a:r>
          </a:p>
        </p:txBody>
      </p:sp>
      <p:sp>
        <p:nvSpPr>
          <p:cNvPr id="167" name="">
            <a:extLst xmlns:a="http://schemas.openxmlformats.org/drawingml/2006/main">
              <a:ext uri="{FF2B5EF4-FFF2-40B4-BE49-F238E27FC236}">
                <a16:creationId xmlns:a16="http://schemas.microsoft.com/office/drawing/2014/main" id="{47E9D7CC-BFAA-424A-9B9F-8990EDCF5151}"/>
              </a:ext>
            </a:extLst>
          </p:cNvPr>
          <p:cNvSpPr>
            <a:spLocks xmlns:a="http://schemas.openxmlformats.org/drawingml/2006/main" noGrp="1"/>
          </p:cNvSpPr>
          <p:nvPr/>
        </p:nvSpPr>
        <p:spPr>
          <a:xfrm xmlns:a="http://schemas.openxmlformats.org/drawingml/2006/main">
            <a:off x="4752975" y="34861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LIMITS THEY CAN’T UNDO</a:t>
            </a:r>
          </a:p>
        </p:txBody>
      </p:sp>
      <p:sp>
        <p:nvSpPr>
          <p:cNvPr id="168" name="">
            <a:extLst xmlns:a="http://schemas.openxmlformats.org/drawingml/2006/main">
              <a:ext uri="{FF2B5EF4-FFF2-40B4-BE49-F238E27FC236}">
                <a16:creationId xmlns:a16="http://schemas.microsoft.com/office/drawing/2014/main" id="{C5CC5C83-B2E0-45B1-A5EC-71D12D01C135}"/>
              </a:ext>
            </a:extLst>
          </p:cNvPr>
          <p:cNvSpPr>
            <a:spLocks xmlns:a="http://schemas.openxmlformats.org/drawingml/2006/main" noGrp="1"/>
          </p:cNvSpPr>
          <p:nvPr/>
        </p:nvSpPr>
        <p:spPr>
          <a:xfrm xmlns:a="http://schemas.openxmlformats.org/drawingml/2006/main">
            <a:off x="4752975" y="3733800"/>
            <a:ext cx="39147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A cap limits a key, not the owner. Put allowances and time locks in a contract.</a:t>
            </a:r>
          </a:p>
        </p:txBody>
      </p:sp>
    </p:spTree>
    <p:extLst>
      <p:ext uri="{BB962C8B-B14F-4D97-AF65-F5344CB8AC3E}">
        <p14:creationId xmlns:p14="http://schemas.microsoft.com/office/powerpoint/2010/main" val="167795666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PART YOU WRITE</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Y O U R   A P P</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3a025d1871fe4716">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97526c38b1324263">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367ED927-ED8A-4699-83C7-AECA2A1C888C}"/>
              </a:ext>
            </a:extLst>
          </p:cNvPr>
          <p:cNvSpPr>
            <a:spLocks xmlns:a="http://schemas.openxmlformats.org/drawingml/2006/main" noGrp="1"/>
          </p:cNvSpPr>
          <p:nvPr/>
        </p:nvSpPr>
        <p:spPr>
          <a:xfrm xmlns:a="http://schemas.openxmlformats.org/drawingml/2006/main">
            <a:off x="657225" y="1600200"/>
            <a:ext cx="7896225" cy="2400300"/>
          </a:xfrm>
          <a:prstGeom xmlns:a="http://schemas.openxmlformats.org/drawingml/2006/main" prst="roundRect">
            <a:avLst>
              <a:gd name="adj" fmla="val 3175"/>
            </a:avLst>
          </a:prstGeom>
          <a:solidFill xmlns:a="http://schemas.openxmlformats.org/drawingml/2006/main">
            <a:srgbClr val="161616"/>
          </a:solidFill>
          <a:ln xmlns:a="http://schemas.openxmlformats.org/drawingml/2006/main" w="9525">
            <a:solidFill>
              <a:srgbClr val="2E2E2E"/>
            </a:solidFill>
            <a:prstDash val="solid"/>
          </a:ln>
        </p:spPr>
      </p:sp>
      <p:sp>
        <p:nvSpPr>
          <p:cNvPr id="189" name="">
            <a:extLst xmlns:a="http://schemas.openxmlformats.org/drawingml/2006/main">
              <a:ext uri="{FF2B5EF4-FFF2-40B4-BE49-F238E27FC236}">
                <a16:creationId xmlns:a16="http://schemas.microsoft.com/office/drawing/2014/main" id="{8591247A-3859-4218-A3CC-71609BF87246}"/>
              </a:ext>
            </a:extLst>
          </p:cNvPr>
          <p:cNvSpPr>
            <a:spLocks xmlns:a="http://schemas.openxmlformats.org/drawingml/2006/main" noGrp="1"/>
          </p:cNvSpPr>
          <p:nvPr/>
        </p:nvSpPr>
        <p:spPr>
          <a:xfrm xmlns:a="http://schemas.openxmlformats.org/drawingml/2006/main">
            <a:off x="6858000" y="1695450"/>
            <a:ext cx="1524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lgn="r"/>
          </a:lstStyle>
          <a:p xmlns:a="http://schemas.openxmlformats.org/drawingml/2006/main">
            <a:pPr algn="r"/>
            <a:r>
              <a:rPr sz="825" b="0">
                <a:solidFill>
                  <a:srgbClr val="8C8C8C"/>
                </a:solidFill>
                <a:latin typeface="Inter"/>
                <a:ea typeface="Inter"/>
                <a:cs typeface="Inter"/>
              </a:rPr>
              <a:t>TypeScript</a:t>
            </a:r>
          </a:p>
        </p:txBody>
      </p:sp>
      <p:sp>
        <p:nvSpPr>
          <p:cNvPr id="190" name="">
            <a:extLst xmlns:a="http://schemas.openxmlformats.org/drawingml/2006/main">
              <a:ext uri="{FF2B5EF4-FFF2-40B4-BE49-F238E27FC236}">
                <a16:creationId xmlns:a16="http://schemas.microsoft.com/office/drawing/2014/main" id="{C600E3C7-89BA-4504-A317-04A5A197D330}"/>
              </a:ext>
            </a:extLst>
          </p:cNvPr>
          <p:cNvSpPr>
            <a:spLocks xmlns:a="http://schemas.openxmlformats.org/drawingml/2006/main" noGrp="1"/>
          </p:cNvSpPr>
          <p:nvPr/>
        </p:nvSpPr>
        <p:spPr>
          <a:xfrm xmlns:a="http://schemas.openxmlformats.org/drawingml/2006/main">
            <a:off x="828675" y="1943100"/>
            <a:ext cx="7553325"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112000"/>
              </a:lnSpc>
              <a:buNone/>
            </a:pPr>
            <a:r>
              <a:rPr sz="1425" b="0">
                <a:solidFill>
                  <a:srgbClr val="8C8C8C"/>
                </a:solidFill>
                <a:latin typeface="JetBrains Mono NL"/>
                <a:ea typeface="JetBrains Mono NL"/>
                <a:cs typeface="JetBrains Mono NL"/>
              </a:rPr>
              <a:t>// One grant per contract in the call’s env.auths()</a:t>
            </a:r>
          </a:p>
          <a:p xmlns:a="http://schemas.openxmlformats.org/drawingml/2006/main">
            <a:pPr>
              <a:lnSpc>
                <a:spcPct val="112000"/>
              </a:lnSpc>
              <a:buNone/>
            </a:pPr>
            <a:r>
              <a:rPr sz="1425" b="0">
                <a:solidFill>
                  <a:srgbClr val="FDDA24"/>
                </a:solidFill>
                <a:latin typeface="JetBrains Mono NL"/>
                <a:ea typeface="JetBrains Mono NL"/>
                <a:cs typeface="JetBrains Mono NL"/>
              </a:rPr>
              <a:t>const</a:t>
            </a:r>
            <a:r>
              <a:rPr sz="1425" b="0">
                <a:solidFill>
                  <a:srgbClr val="ECECEC"/>
                </a:solidFill>
                <a:latin typeface="JetBrains Mono NL"/>
                <a:ea typeface="JetBrains Mono NL"/>
                <a:cs typeface="JetBrains Mono NL"/>
              </a:rPr>
              <a:t> </a:t>
            </a:r>
            <a:r>
              <a:rPr sz="1425" b="0">
                <a:solidFill>
                  <a:srgbClr val="89DCEB"/>
                </a:solidFill>
                <a:latin typeface="JetBrains Mono NL"/>
                <a:ea typeface="JetBrains Mono NL"/>
                <a:cs typeface="JetBrains Mono NL"/>
              </a:rPr>
              <a:t>grants</a:t>
            </a:r>
            <a:r>
              <a:rPr sz="1425" b="0">
                <a:solidFill>
                  <a:srgbClr val="ECECEC"/>
                </a:solidFill>
                <a:latin typeface="JetBrains Mono NL"/>
                <a:ea typeface="JetBrains Mono NL"/>
                <a:cs typeface="JetBrains Mono NL"/>
              </a:rPr>
              <a:t>: </a:t>
            </a:r>
            <a:r>
              <a:rPr sz="1425" b="0">
                <a:solidFill>
                  <a:srgbClr val="CBA6F7"/>
                </a:solidFill>
                <a:latin typeface="JetBrains Mono NL"/>
                <a:ea typeface="JetBrains Mono NL"/>
                <a:cs typeface="JetBrains Mono NL"/>
              </a:rPr>
              <a:t>Grant</a:t>
            </a:r>
            <a:r>
              <a:rPr sz="1425" b="0">
                <a:solidFill>
                  <a:srgbClr val="ECECEC"/>
                </a:solidFill>
                <a:latin typeface="JetBrains Mono NL"/>
                <a:ea typeface="JetBrains Mono NL"/>
                <a:cs typeface="JetBrains Mono NL"/>
              </a:rPr>
              <a:t>[] = [</a:t>
            </a:r>
          </a:p>
          <a:p xmlns:a="http://schemas.openxmlformats.org/drawingml/2006/main">
            <a:pPr>
              <a:lnSpc>
                <a:spcPct val="112000"/>
              </a:lnSpc>
              <a:buNone/>
            </a:pPr>
            <a:r>
              <a:rPr sz="1425" b="0">
                <a:solidFill>
                  <a:srgbClr val="ECECEC"/>
                </a:solidFill>
                <a:latin typeface="JetBrains Mono NL"/>
                <a:ea typeface="JetBrains Mono NL"/>
                <a:cs typeface="JetBrains Mono NL"/>
              </a:rPr>
              <a:t>  { </a:t>
            </a:r>
            <a:r>
              <a:rPr sz="1425" b="0">
                <a:solidFill>
                  <a:srgbClr val="89DCEB"/>
                </a:solidFill>
                <a:latin typeface="JetBrains Mono NL"/>
                <a:ea typeface="JetBrains Mono NL"/>
                <a:cs typeface="JetBrains Mono NL"/>
              </a:rPr>
              <a:t>target</a:t>
            </a:r>
            <a:r>
              <a:rPr sz="1425" b="0">
                <a:solidFill>
                  <a:srgbClr val="ECECEC"/>
                </a:solidFill>
                <a:latin typeface="JetBrains Mono NL"/>
                <a:ea typeface="JetBrains Mono NL"/>
                <a:cs typeface="JetBrains Mono NL"/>
              </a:rPr>
              <a:t>: myContract.options.contractId, </a:t>
            </a:r>
            <a:r>
              <a:rPr sz="1425" b="0">
                <a:solidFill>
                  <a:srgbClr val="89DCEB"/>
                </a:solidFill>
                <a:latin typeface="JetBrains Mono NL"/>
                <a:ea typeface="JetBrains Mono NL"/>
                <a:cs typeface="JetBrains Mono NL"/>
              </a:rPr>
              <a:t>functions</a:t>
            </a:r>
            <a:r>
              <a:rPr sz="1425" b="0">
                <a:solidFill>
                  <a:srgbClr val="ECECEC"/>
                </a:solidFill>
                <a:latin typeface="JetBrains Mono NL"/>
                <a:ea typeface="JetBrains Mono NL"/>
                <a:cs typeface="JetBrains Mono NL"/>
              </a:rPr>
              <a:t>: [</a:t>
            </a:r>
            <a:r>
              <a:rPr sz="1425" b="0">
                <a:solidFill>
                  <a:srgbClr val="A6E3A1"/>
                </a:solidFill>
                <a:latin typeface="JetBrains Mono NL"/>
                <a:ea typeface="JetBrains Mono NL"/>
                <a:cs typeface="JetBrains Mono NL"/>
              </a:rPr>
              <a:t>"my_fn"</a:t>
            </a:r>
            <a:r>
              <a:rPr sz="1425" b="0">
                <a:solidFill>
                  <a:srgbClr val="ECECEC"/>
                </a:solidFill>
                <a:latin typeface="JetBrains Mono NL"/>
                <a:ea typeface="JetBrains Mono NL"/>
                <a:cs typeface="JetBrains Mono NL"/>
              </a:rPr>
              <a:t>],</a:t>
            </a:r>
          </a:p>
          <a:p xmlns:a="http://schemas.openxmlformats.org/drawingml/2006/main">
            <a:pPr>
              <a:lnSpc>
                <a:spcPct val="112000"/>
              </a:lnSpc>
              <a:buNone/>
            </a:pPr>
            <a:r>
              <a:rPr sz="1425" b="0">
                <a:solidFill>
                  <a:srgbClr val="ECECEC"/>
                </a:solidFill>
                <a:latin typeface="JetBrains Mono NL"/>
                <a:ea typeface="JetBrains Mono NL"/>
                <a:cs typeface="JetBrains Mono NL"/>
              </a:rPr>
              <a:t>    </a:t>
            </a:r>
            <a:r>
              <a:rPr sz="1425" b="0">
                <a:solidFill>
                  <a:srgbClr val="89DCEB"/>
                </a:solidFill>
                <a:latin typeface="JetBrains Mono NL"/>
                <a:ea typeface="JetBrains Mono NL"/>
                <a:cs typeface="JetBrains Mono NL"/>
              </a:rPr>
              <a:t>duration</a:t>
            </a:r>
            <a:r>
              <a:rPr sz="1425" b="0">
                <a:solidFill>
                  <a:srgbClr val="ECECEC"/>
                </a:solidFill>
                <a:latin typeface="JetBrains Mono NL"/>
                <a:ea typeface="JetBrains Mono NL"/>
                <a:cs typeface="JetBrains Mono NL"/>
              </a:rPr>
              <a:t>: </a:t>
            </a:r>
            <a:r>
              <a:rPr sz="1425" b="0">
                <a:solidFill>
                  <a:srgbClr val="A6E3A1"/>
                </a:solidFill>
                <a:latin typeface="JetBrains Mono NL"/>
                <a:ea typeface="JetBrains Mono NL"/>
                <a:cs typeface="JetBrains Mono NL"/>
              </a:rPr>
              <a:t>"24h"</a:t>
            </a:r>
            <a:r>
              <a:rPr sz="1425" b="0">
                <a:solidFill>
                  <a:srgbClr val="ECECEC"/>
                </a:solidFill>
                <a:latin typeface="JetBrains Mono NL"/>
                <a:ea typeface="JetBrains Mono NL"/>
                <a:cs typeface="JetBrains Mono NL"/>
              </a:rPr>
              <a:t>, </a:t>
            </a:r>
            <a:r>
              <a:rPr sz="1425" b="0">
                <a:solidFill>
                  <a:srgbClr val="89DCEB"/>
                </a:solidFill>
                <a:latin typeface="JetBrains Mono NL"/>
                <a:ea typeface="JetBrains Mono NL"/>
                <a:cs typeface="JetBrains Mono NL"/>
              </a:rPr>
              <a:t>label</a:t>
            </a:r>
            <a:r>
              <a:rPr sz="1425" b="0">
                <a:solidFill>
                  <a:srgbClr val="ECECEC"/>
                </a:solidFill>
                <a:latin typeface="JetBrains Mono NL"/>
                <a:ea typeface="JetBrains Mono NL"/>
                <a:cs typeface="JetBrains Mono NL"/>
              </a:rPr>
              <a:t>: </a:t>
            </a:r>
            <a:r>
              <a:rPr sz="1425" b="0">
                <a:solidFill>
                  <a:srgbClr val="A6E3A1"/>
                </a:solidFill>
                <a:latin typeface="JetBrains Mono NL"/>
                <a:ea typeface="JetBrains Mono NL"/>
                <a:cs typeface="JetBrains Mono NL"/>
              </a:rPr>
              <a:t>"my-app"</a:t>
            </a:r>
            <a:r>
              <a:rPr sz="1425" b="0">
                <a:solidFill>
                  <a:srgbClr val="ECECEC"/>
                </a:solidFill>
                <a:latin typeface="JetBrains Mono NL"/>
                <a:ea typeface="JetBrains Mono NL"/>
                <a:cs typeface="JetBrains Mono NL"/>
              </a:rPr>
              <a:t> },</a:t>
            </a:r>
          </a:p>
          <a:p xmlns:a="http://schemas.openxmlformats.org/drawingml/2006/main">
            <a:pPr>
              <a:lnSpc>
                <a:spcPct val="112000"/>
              </a:lnSpc>
              <a:buNone/>
            </a:pPr>
            <a:r>
              <a:rPr sz="1425" b="0">
                <a:solidFill>
                  <a:srgbClr val="ECECEC"/>
                </a:solidFill>
                <a:latin typeface="JetBrains Mono NL"/>
                <a:ea typeface="JetBrains Mono NL"/>
                <a:cs typeface="JetBrains Mono NL"/>
              </a:rPr>
              <a:t>]</a:t>
            </a:r>
          </a:p>
          <a:p xmlns:a="http://schemas.openxmlformats.org/drawingml/2006/main">
            <a:pPr>
              <a:lnSpc>
                <a:spcPct val="112000"/>
              </a:lnSpc>
              <a:buNone/>
            </a:pPr>
            <a:r>
              <a:rPr sz="1425" b="0">
                <a:solidFill>
                  <a:srgbClr val="8C8C8C"/>
                </a:solidFill>
                <a:latin typeface="JetBrains Mono NL"/>
                <a:ea typeface="JetBrains Mono NL"/>
                <a:cs typeface="JetBrains Mono NL"/>
              </a:rPr>
              <a:t>// Inside &lt;SessionGate grants={grants}&gt;, on click:</a:t>
            </a:r>
          </a:p>
          <a:p xmlns:a="http://schemas.openxmlformats.org/drawingml/2006/main">
            <a:pPr>
              <a:lnSpc>
                <a:spcPct val="112000"/>
              </a:lnSpc>
              <a:buNone/>
            </a:pPr>
            <a:r>
              <a:rPr sz="1425" b="0">
                <a:solidFill>
                  <a:srgbClr val="FDDA24"/>
                </a:solidFill>
                <a:latin typeface="JetBrains Mono NL"/>
                <a:ea typeface="JetBrains Mono NL"/>
                <a:cs typeface="JetBrains Mono NL"/>
              </a:rPr>
              <a:t>const</a:t>
            </a:r>
            <a:r>
              <a:rPr sz="1425" b="0">
                <a:solidFill>
                  <a:srgbClr val="ECECEC"/>
                </a:solidFill>
                <a:latin typeface="JetBrains Mono NL"/>
                <a:ea typeface="JetBrains Mono NL"/>
                <a:cs typeface="JetBrains Mono NL"/>
              </a:rPr>
              <a:t> { result, hash } = </a:t>
            </a:r>
            <a:r>
              <a:rPr sz="1425" b="0">
                <a:solidFill>
                  <a:srgbClr val="FDDA24"/>
                </a:solidFill>
                <a:latin typeface="JetBrains Mono NL"/>
                <a:ea typeface="JetBrains Mono NL"/>
                <a:cs typeface="JetBrains Mono NL"/>
              </a:rPr>
              <a:t>await</a:t>
            </a:r>
            <a:r>
              <a:rPr sz="1425" b="0">
                <a:solidFill>
                  <a:srgbClr val="ECECEC"/>
                </a:solidFill>
                <a:latin typeface="JetBrains Mono NL"/>
                <a:ea typeface="JetBrains Mono NL"/>
                <a:cs typeface="JetBrains Mono NL"/>
              </a:rPr>
              <a:t> </a:t>
            </a:r>
            <a:r>
              <a:rPr sz="1425" b="0">
                <a:solidFill>
                  <a:srgbClr val="89B4FA"/>
                </a:solidFill>
                <a:latin typeface="JetBrains Mono NL"/>
                <a:ea typeface="JetBrains Mono NL"/>
                <a:cs typeface="JetBrains Mono NL"/>
              </a:rPr>
              <a:t>submitCall</a:t>
            </a:r>
            <a:r>
              <a:rPr sz="1425" b="0">
                <a:solidFill>
                  <a:srgbClr val="ECECEC"/>
                </a:solidFill>
                <a:latin typeface="JetBrains Mono NL"/>
                <a:ea typeface="JetBrains Mono NL"/>
                <a:cs typeface="JetBrains Mono NL"/>
              </a:rPr>
              <a:t>(address, (publicKey) =&gt;</a:t>
            </a:r>
          </a:p>
          <a:p xmlns:a="http://schemas.openxmlformats.org/drawingml/2006/main">
            <a:pPr>
              <a:lnSpc>
                <a:spcPct val="112000"/>
              </a:lnSpc>
              <a:buNone/>
            </a:pPr>
            <a:r>
              <a:rPr sz="1425" b="0">
                <a:solidFill>
                  <a:srgbClr val="ECECEC"/>
                </a:solidFill>
                <a:latin typeface="JetBrains Mono NL"/>
                <a:ea typeface="JetBrains Mono NL"/>
                <a:cs typeface="JetBrains Mono NL"/>
              </a:rPr>
              <a:t>  myContract.</a:t>
            </a:r>
            <a:r>
              <a:rPr sz="1425" b="0">
                <a:solidFill>
                  <a:srgbClr val="89B4FA"/>
                </a:solidFill>
                <a:latin typeface="JetBrains Mono NL"/>
                <a:ea typeface="JetBrains Mono NL"/>
                <a:cs typeface="JetBrains Mono NL"/>
              </a:rPr>
              <a:t>my_fn</a:t>
            </a:r>
            <a:r>
              <a:rPr sz="1425" b="0">
                <a:solidFill>
                  <a:srgbClr val="ECECEC"/>
                </a:solidFill>
                <a:latin typeface="JetBrains Mono NL"/>
                <a:ea typeface="JetBrains Mono NL"/>
                <a:cs typeface="JetBrains Mono NL"/>
              </a:rPr>
              <a:t>({ </a:t>
            </a:r>
            <a:r>
              <a:rPr sz="1425" b="0">
                <a:solidFill>
                  <a:srgbClr val="89DCEB"/>
                </a:solidFill>
                <a:latin typeface="JetBrains Mono NL"/>
                <a:ea typeface="JetBrains Mono NL"/>
                <a:cs typeface="JetBrains Mono NL"/>
              </a:rPr>
              <a:t>user</a:t>
            </a:r>
            <a:r>
              <a:rPr sz="1425" b="0">
                <a:solidFill>
                  <a:srgbClr val="ECECEC"/>
                </a:solidFill>
                <a:latin typeface="JetBrains Mono NL"/>
                <a:ea typeface="JetBrains Mono NL"/>
                <a:cs typeface="JetBrains Mono NL"/>
              </a:rPr>
              <a:t>: address }, { publicKey }))</a:t>
            </a:r>
          </a:p>
        </p:txBody>
      </p:sp>
      <p:sp>
        <p:nvSpPr>
          <p:cNvPr id="191" name="">
            <a:extLst xmlns:a="http://schemas.openxmlformats.org/drawingml/2006/main">
              <a:ext uri="{FF2B5EF4-FFF2-40B4-BE49-F238E27FC236}">
                <a16:creationId xmlns:a16="http://schemas.microsoft.com/office/drawing/2014/main" id="{90727F02-8332-4569-99D8-4741E260A331}"/>
              </a:ext>
            </a:extLst>
          </p:cNvPr>
          <p:cNvSpPr>
            <a:spLocks xmlns:a="http://schemas.openxmlformats.org/drawingml/2006/main" noGrp="1"/>
          </p:cNvSpPr>
          <p:nvPr/>
        </p:nvSpPr>
        <p:spPr>
          <a:xfrm xmlns:a="http://schemas.openxmlformats.org/drawingml/2006/main">
            <a:off x="657225" y="4133850"/>
            <a:ext cx="7896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Keep require_auth first in your contract function. submitCall signs with whatever the user connected.</a:t>
            </a:r>
          </a:p>
        </p:txBody>
      </p:sp>
    </p:spTree>
    <p:extLst>
      <p:ext uri="{BB962C8B-B14F-4D97-AF65-F5344CB8AC3E}">
        <p14:creationId xmlns:p14="http://schemas.microsoft.com/office/powerpoint/2010/main" val="180511924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3F48497F-2FD0-4F3C-B29A-20C3C8D30229}"/>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Q U I C K   S T A R T</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D560B4D2-3E74-43FE-86EE-72A42A088FD8}"/>
              </a:ext>
            </a:extLst>
          </p:cNvPr>
          <p:cNvSpPr>
            <a:spLocks xmlns:a="http://schemas.openxmlformats.org/drawingml/2006/main" noGrp="1"/>
          </p:cNvSpPr>
          <p:nvPr/>
        </p:nvSpPr>
        <p:spPr>
          <a:xfrm xmlns:a="http://schemas.openxmlformats.org/drawingml/2006/main">
            <a:off x="485775" y="1219200"/>
            <a:ext cx="4714875" cy="5486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2400"/>
            </a:defPPr>
          </a:lstStyle>
          <a:p xmlns:a="http://schemas.openxmlformats.org/drawingml/2006/main">
            <a:pPr marL="0" lvl="0" indent="0" algn="l">
              <a:spcBef>
                <a:spcPts val="0"/>
              </a:spcBef>
              <a:spcAft>
                <a:spcPts val="0"/>
              </a:spcAft>
              <a:buNone/>
              <a:defRPr sz="2400"/>
            </a:pPr>
            <a:r>
              <a:rPr sz="2400" spc="-231">
                <a:solidFill>
                  <a:schemeClr val="dk1"/>
                </a:solidFill>
                <a:latin typeface="Inter Medium"/>
                <a:ea typeface="Inter Medium"/>
                <a:cs typeface="Inter Medium"/>
              </a:rPr>
              <a:t>START FROM THE TEMPLATE</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C214E13B-431C-40F2-8BE4-B76F2EA5378A}"/>
              </a:ext>
            </a:extLst>
          </p:cNvPr>
          <p:cNvSpPr>
            <a:spLocks xmlns:a="http://schemas.openxmlformats.org/drawingml/2006/main" noGrp="1"/>
          </p:cNvSpPr>
          <p:nvPr/>
        </p:nvSpPr>
        <p:spPr>
          <a:xfrm xmlns:a="http://schemas.openxmlformats.org/drawingml/2006/main">
            <a:off x="495300" y="1809750"/>
            <a:ext cx="4619625" cy="144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github.com/nidohq/scaffold-template</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Its quick start, template/NIDO.md, takes a fresh copy to a deployed contract and a running app.</a:t>
            </a:r>
          </a:p>
          <a:p xmlns:a="http://schemas.openxmlformats.org/drawingml/2006/main">
            <a:pPr>
              <a:lnSpc>
                <a:spcPct val="110000"/>
              </a:lnSpc>
              <a:buNone/>
              <a:defRPr sz="1500"/>
            </a:pPr>
            <a:r>
              <a:rPr sz="1500">
                <a:solidFill>
                  <a:srgbClr val="000000"/>
                </a:solidFill>
                <a:latin typeface="Inter"/>
                <a:ea typeface="Inter"/>
                <a:cs typeface="Inter"/>
              </a:rPr>
              <a:t>AGENTS.md has the same rules, written for coding agents.</a:t>
            </a:r>
          </a:p>
        </p:txBody>
      </p:sp>
      <p:pic>
        <p:nvPicPr>
          <p:cNvPr id="167" name="Google Shape;167;p21">
            <a:extLst xmlns:a="http://schemas.openxmlformats.org/drawingml/2006/main">
              <a:ext uri="{FF2B5EF4-FFF2-40B4-BE49-F238E27FC236}">
                <a16:creationId xmlns:a16="http://schemas.microsoft.com/office/drawing/2014/main" id="{384AEE20-2376-4847-B0FA-2C5D63EF4BE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4ecf4529f2541e1">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A9F2A33-F3F9-4D0B-AC50-BC235E28A8F6}"/>
              </a:ext>
            </a:extLst>
          </p:cNvPr>
          <p:cNvPicPr>
            <a:picLocks xmlns:a="http://schemas.openxmlformats.org/drawingml/2006/main" noChangeAspect="1"/>
          </p:cNvPicPr>
          <p:nvPr/>
        </p:nvPicPr>
        <p:blipFill>
          <a:blip xmlns:r="http://schemas.openxmlformats.org/officeDocument/2006/relationships" xmlns:a="http://schemas.openxmlformats.org/drawingml/2006/main" r:embed="Rc4f930f4f1bd4ea2">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B83A35C1-CB69-44B8-89F0-750064604AB9}"/>
              </a:ext>
            </a:extLst>
          </p:cNvPr>
          <p:cNvPicPr>
            <a:picLocks xmlns:a="http://schemas.openxmlformats.org/drawingml/2006/main" noChangeAspect="1"/>
          </p:cNvPicPr>
          <p:nvPr/>
        </p:nvPicPr>
        <p:blipFill>
          <a:blip xmlns:r="http://schemas.openxmlformats.org/officeDocument/2006/relationships" xmlns:a="http://schemas.openxmlformats.org/drawingml/2006/main" r:embed="R484e0596a8fd4954">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FE5840A8-2A74-494B-9D7A-71E3A40C80EA}"/>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Testnet only. Throwaway keys only.</a:t>
            </a:r>
          </a:p>
        </p:txBody>
      </p:sp>
    </p:spTree>
    <p:extLst>
      <p:ext uri="{BB962C8B-B14F-4D97-AF65-F5344CB8AC3E}">
        <p14:creationId xmlns:p14="http://schemas.microsoft.com/office/powerpoint/2010/main" val="1732599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04" name="Google Shape;204;p24">
            <a:extLst xmlns:a="http://schemas.openxmlformats.org/drawingml/2006/main">
              <a:ext uri="{FF2B5EF4-FFF2-40B4-BE49-F238E27FC236}">
                <a16:creationId xmlns:a16="http://schemas.microsoft.com/office/drawing/2014/main" id="{3687BB7F-DB45-4C43-8B85-18A839B4E7D0}"/>
              </a:ext>
            </a:extLst>
          </p:cNvPr>
          <p:cNvSpPr>
            <a:spLocks xmlns:a="http://schemas.openxmlformats.org/drawingml/2006/main" noGrp="1"/>
          </p:cNvSpPr>
          <p:nvPr/>
        </p:nvSpPr>
        <p:spPr>
          <a:xfrm xmlns:a="http://schemas.openxmlformats.org/drawingml/2006/main">
            <a:off x="495300" y="942975"/>
            <a:ext cx="8248650" cy="6629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150"/>
            </a:defPPr>
          </a:lstStyle>
          <a:p xmlns:a="http://schemas.openxmlformats.org/drawingml/2006/main">
            <a:pPr marL="0" lvl="0" indent="0" algn="l">
              <a:spcBef>
                <a:spcPts val="0"/>
              </a:spcBef>
              <a:spcAft>
                <a:spcPts val="0"/>
              </a:spcAft>
              <a:buNone/>
              <a:defRPr sz="3150"/>
            </a:pPr>
            <a:r>
              <a:rPr sz="3150" spc="-231">
                <a:solidFill>
                  <a:schemeClr val="dk1"/>
                </a:solidFill>
                <a:latin typeface="Inter Medium"/>
                <a:ea typeface="Inter Medium"/>
                <a:cs typeface="Inter Medium"/>
              </a:rPr>
              <a:t>YOUR FIRST SMART ACCOUNT APP</a:t>
            </a:r>
            <a:endParaRPr sz="3900">
              <a:latin typeface="Inter Medium"/>
              <a:ea typeface="Inter Medium"/>
              <a:cs typeface="Inter Medium"/>
            </a:endParaRPr>
          </a:p>
        </p:txBody>
      </p:sp>
      <p:sp>
        <p:nvSpPr>
          <p:cNvPr id="205" name="Google Shape;205;p24">
            <a:extLst xmlns:a="http://schemas.openxmlformats.org/drawingml/2006/main">
              <a:ext uri="{FF2B5EF4-FFF2-40B4-BE49-F238E27FC236}">
                <a16:creationId xmlns:a16="http://schemas.microsoft.com/office/drawing/2014/main" id="{8A7E663B-69D1-468E-905C-989B9DD9B2BA}"/>
              </a:ext>
            </a:extLst>
          </p:cNvPr>
          <p:cNvSpPr>
            <a:spLocks xmlns:a="http://schemas.openxmlformats.org/drawingml/2006/main" noGrp="1"/>
          </p:cNvSpPr>
          <p:nvPr/>
        </p:nvSpPr>
        <p:spPr>
          <a:xfrm xmlns:a="http://schemas.openxmlformats.org/drawingml/2006/main">
            <a:off x="504825" y="1714500"/>
            <a:ext cx="5476875"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Find the one thing your app does</a:t>
            </a:r>
            <a:endParaRPr sz="1800">
              <a:latin typeface="Inter"/>
              <a:ea typeface="Inter"/>
              <a:cs typeface="Inter"/>
            </a:endParaRPr>
          </a:p>
          <a:p xmlns:a="http://schemas.openxmlformats.org/drawingml/2006/main">
            <a:pPr marL="0" lvl="0" indent="0" algn="l">
              <a:spcBef>
                <a:spcPts val="0"/>
              </a:spcBef>
              <a:spcAft>
                <a:spcPts val="0"/>
              </a:spcAft>
              <a:buNone/>
              <a:defRPr sz="1800"/>
            </a:pPr>
            <a:r>
              <a:rPr sz="1800">
                <a:latin typeface="Inter"/>
                <a:ea typeface="Inter"/>
                <a:cs typeface="Inter"/>
              </a:rPr>
              <a:t>for a user, and the rule that limits it.</a:t>
            </a:r>
            <a:endParaRPr sz="1800">
              <a:latin typeface="Inter"/>
              <a:ea typeface="Inter"/>
              <a:cs typeface="Inter"/>
            </a:endParaRPr>
          </a:p>
        </p:txBody>
      </p:sp>
      <p:pic>
        <p:nvPicPr>
          <p:cNvPr id="206" name="Google Shape;206;p24">
            <a:extLst xmlns:a="http://schemas.openxmlformats.org/drawingml/2006/main">
              <a:ext uri="{FF2B5EF4-FFF2-40B4-BE49-F238E27FC236}">
                <a16:creationId xmlns:a16="http://schemas.microsoft.com/office/drawing/2014/main" id="{4BF4D123-7EB9-4D96-A099-CE282B5A469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381d875767a4a1c">
            <a:alphaModFix/>
          </a:blip>
          <a:srcRect xmlns:a="http://schemas.openxmlformats.org/drawingml/2006/main" l="0" t="37145" r="0" b="40645"/>
          <a:stretch xmlns:a="http://schemas.openxmlformats.org/drawingml/2006/main"/>
        </p:blipFill>
        <p:spPr>
          <a:xfrm xmlns:a="http://schemas.openxmlformats.org/drawingml/2006/main">
            <a:off x="0" y="3510000"/>
            <a:ext cx="9144000" cy="1523075"/>
          </a:xfrm>
          <a:prstGeom xmlns:a="http://schemas.openxmlformats.org/drawingml/2006/main" prst="rect">
            <a:avLst/>
          </a:prstGeom>
          <a:ln xmlns:a="http://schemas.openxmlformats.org/drawingml/2006/main">
            <a:noFill/>
          </a:ln>
        </p:spPr>
      </p:pic>
      <p:sp>
        <p:nvSpPr>
          <p:cNvPr id="207" name="Google Shape;207;p24">
            <a:extLst xmlns:a="http://schemas.openxmlformats.org/drawingml/2006/main">
              <a:ext uri="{FF2B5EF4-FFF2-40B4-BE49-F238E27FC236}">
                <a16:creationId xmlns:a16="http://schemas.microsoft.com/office/drawing/2014/main" id="{A6E33B45-414A-4319-903D-A9C8DCE8CFAE}"/>
              </a:ext>
            </a:extLst>
          </p:cNvPr>
          <p:cNvSpPr>
            <a:spLocks xmlns:a="http://schemas.openxmlformats.org/drawingml/2006/main" noGrp="1"/>
          </p:cNvSpPr>
          <p:nvPr/>
        </p:nvSpPr>
        <p:spPr>
          <a:xfrm xmlns:a="http://schemas.openxmlformats.org/drawingml/2006/main">
            <a:off x="514350" y="314325"/>
            <a:ext cx="6286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K E E P   B U I L D I N G</a:t>
            </a:r>
            <a:endParaRPr sz="900" b="1">
              <a:solidFill>
                <a:schemeClr val="dk1"/>
              </a:solidFill>
              <a:latin typeface="Inter"/>
              <a:ea typeface="Inter"/>
              <a:cs typeface="Inter"/>
            </a:endParaRPr>
          </a:p>
        </p:txBody>
      </p:sp>
      <p:pic>
        <p:nvPicPr>
          <p:cNvPr id="208" name="Google Shape;208;p24">
            <a:extLst xmlns:a="http://schemas.openxmlformats.org/drawingml/2006/main">
              <a:ext uri="{FF2B5EF4-FFF2-40B4-BE49-F238E27FC236}">
                <a16:creationId xmlns:a16="http://schemas.microsoft.com/office/drawing/2014/main" id="{14902598-625A-4D1B-AE7F-D4A5A7252D9C}"/>
              </a:ext>
            </a:extLst>
          </p:cNvPr>
          <p:cNvPicPr>
            <a:picLocks xmlns:a="http://schemas.openxmlformats.org/drawingml/2006/main" noChangeAspect="1"/>
          </p:cNvPicPr>
          <p:nvPr/>
        </p:nvPicPr>
        <p:blipFill>
          <a:blip xmlns:r="http://schemas.openxmlformats.org/officeDocument/2006/relationships" xmlns:a="http://schemas.openxmlformats.org/drawingml/2006/main" r:embed="R923f8b9b56c6412a">
            <a:alphaModFix/>
          </a:blip>
          <a:stretch xmlns:a="http://schemas.openxmlformats.org/drawingml/2006/main">
            <a:fillRect l="0" t="0" r="0" b="0"/>
          </a:stretch>
        </p:blipFill>
        <p:spPr>
          <a:xfrm xmlns:a="http://schemas.openxmlformats.org/drawingml/2006/main">
            <a:off x="7524521" y="444352"/>
            <a:ext cx="1149929" cy="200042"/>
          </a:xfrm>
          <a:prstGeom xmlns:a="http://schemas.openxmlformats.org/drawingml/2006/main" prst="rect">
            <a:avLst/>
          </a:prstGeom>
          <a:ln xmlns:a="http://schemas.openxmlformats.org/drawingml/2006/main">
            <a:noFill/>
          </a:ln>
        </p:spPr>
      </p:pic>
      <p:pic>
        <p:nvPicPr>
          <p:cNvPr id="209" name="Google Shape;209;p24">
            <a:extLst xmlns:a="http://schemas.openxmlformats.org/drawingml/2006/main">
              <a:ext uri="{FF2B5EF4-FFF2-40B4-BE49-F238E27FC236}">
                <a16:creationId xmlns:a16="http://schemas.microsoft.com/office/drawing/2014/main" id="{0DA13C87-9A49-4977-A7DA-C63E40258E50}"/>
              </a:ext>
            </a:extLst>
          </p:cNvPr>
          <p:cNvPicPr>
            <a:picLocks xmlns:a="http://schemas.openxmlformats.org/drawingml/2006/main" noChangeAspect="1"/>
          </p:cNvPicPr>
          <p:nvPr/>
        </p:nvPicPr>
        <p:blipFill>
          <a:blip xmlns:r="http://schemas.openxmlformats.org/officeDocument/2006/relationships" xmlns:a="http://schemas.openxmlformats.org/drawingml/2006/main" r:embed="R4ddc451916e247d0">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sp>
        <p:nvSpPr>
          <p:cNvPr id="210" name="Google Shape;210;p24">
            <a:extLst xmlns:a="http://schemas.openxmlformats.org/drawingml/2006/main">
              <a:ext uri="{FF2B5EF4-FFF2-40B4-BE49-F238E27FC236}">
                <a16:creationId xmlns:a16="http://schemas.microsoft.com/office/drawing/2014/main" id="{64E93102-120F-4E9C-8B85-9F3E2D08268F}"/>
              </a:ext>
            </a:extLst>
          </p:cNvPr>
          <p:cNvSpPr>
            <a:spLocks xmlns:a="http://schemas.openxmlformats.org/drawingml/2006/main" noGrp="1"/>
          </p:cNvSpPr>
          <p:nvPr/>
        </p:nvSpPr>
        <p:spPr>
          <a:xfrm xmlns:a="http://schemas.openxmlformats.org/drawingml/2006/main">
            <a:off x="6339875" y="2312625"/>
            <a:ext cx="1578900" cy="1578900"/>
          </a:xfrm>
          <a:prstGeom xmlns:a="http://schemas.openxmlformats.org/drawingml/2006/main" prst="rect">
            <a:avLst/>
          </a:prstGeom>
          <a:solidFill xmlns:a="http://schemas.openxmlformats.org/drawingml/2006/main">
            <a:schemeClr val="lt1"/>
          </a:solidFill>
          <a:ln xmlns:a="http://schemas.openxmlformats.org/drawingml/2006/main" w="9525" cap="flat" cmpd="sng">
            <a:solidFill>
              <a:schemeClr val="dk2"/>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212" name="Google Shape;212;p24">
            <a:extLst xmlns:a="http://schemas.openxmlformats.org/drawingml/2006/main">
              <a:ext uri="{FF2B5EF4-FFF2-40B4-BE49-F238E27FC236}">
                <a16:creationId xmlns:a16="http://schemas.microsoft.com/office/drawing/2014/main" id="{86A43D97-5938-496A-9CAA-DE39492828BB}"/>
              </a:ext>
            </a:extLst>
          </p:cNvPr>
          <p:cNvPicPr>
            <a:picLocks xmlns:a="http://schemas.openxmlformats.org/drawingml/2006/main" noChangeAspect="1"/>
          </p:cNvPicPr>
          <p:nvPr/>
        </p:nvPicPr>
        <p:blipFill>
          <a:blip xmlns:r="http://schemas.openxmlformats.org/officeDocument/2006/relationships" xmlns:a="http://schemas.openxmlformats.org/drawingml/2006/main" r:embed="Rc91178fb731248e8">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213" name="">
            <a:extLst xmlns:a="http://schemas.openxmlformats.org/drawingml/2006/main">
              <a:ext uri="{FF2B5EF4-FFF2-40B4-BE49-F238E27FC236}">
                <a16:creationId xmlns:a16="http://schemas.microsoft.com/office/drawing/2014/main" id="{ED9C5D18-CB31-4FC1-AA56-BC93B138CF60}"/>
              </a:ext>
            </a:extLst>
          </p:cNvPr>
          <p:cNvSpPr>
            <a:spLocks xmlns:a="http://schemas.openxmlformats.org/drawingml/2006/main" noGrp="1"/>
          </p:cNvSpPr>
          <p:nvPr/>
        </p:nvSpPr>
        <p:spPr>
          <a:xfrm xmlns:a="http://schemas.openxmlformats.org/drawingml/2006/main">
            <a:off x="514350" y="2771775"/>
            <a:ext cx="5524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350" b="0">
                <a:solidFill>
                  <a:srgbClr val="000000"/>
                </a:solidFill>
                <a:latin typeface="Inter"/>
                <a:ea typeface="Inter"/>
                <a:cs typeface="Inter"/>
              </a:rPr>
              <a:t>test.nido.fyi  ·  testnet</a:t>
            </a:r>
            <a:br>
              <a:rPr sz="1350" b="0">
                <a:solidFill>
                  <a:srgbClr val="000000"/>
                </a:solidFill>
                <a:latin typeface="Inter"/>
                <a:ea typeface="Inter"/>
                <a:cs typeface="Inter"/>
              </a:rPr>
            </a:br>
            <a:r>
              <a:rPr sz="1350" b="0">
                <a:solidFill>
                  <a:srgbClr val="000000"/>
                </a:solidFill>
                <a:latin typeface="Inter"/>
                <a:ea typeface="Inter"/>
                <a:cs typeface="Inter"/>
              </a:rPr>
              <a:t>github.com/nidohq/scaffold-template</a:t>
            </a:r>
            <a:br>
              <a:rPr sz="1350" b="0">
                <a:solidFill>
                  <a:srgbClr val="000000"/>
                </a:solidFill>
                <a:latin typeface="Inter"/>
                <a:ea typeface="Inter"/>
                <a:cs typeface="Inter"/>
              </a:rPr>
            </a:br>
            <a:r>
              <a:rPr sz="1350" b="0">
                <a:solidFill>
                  <a:srgbClr val="000000"/>
                </a:solidFill>
                <a:latin typeface="Inter"/>
                <a:ea typeface="Inter"/>
                <a:cs typeface="Inter"/>
              </a:rPr>
              <a:t>github.com/stellar-registry/perch</a:t>
            </a:r>
          </a:p>
        </p:txBody>
      </p:sp>
      <p:pic>
        <p:nvPicPr>
          <p:cNvPr id="214" name="">
            <a:extLst xmlns:a="http://schemas.openxmlformats.org/drawingml/2006/main">
              <a:ext uri="{FF2B5EF4-FFF2-40B4-BE49-F238E27FC236}">
                <a16:creationId xmlns:a16="http://schemas.microsoft.com/office/drawing/2014/main" id="{C29ECCC1-7FE7-4D11-A813-EA744F4475F7}"/>
              </a:ext>
            </a:extLst>
          </p:cNvPr>
          <p:cNvPicPr>
            <a:picLocks xmlns:a="http://schemas.openxmlformats.org/drawingml/2006/main" noChangeAspect="1"/>
          </p:cNvPicPr>
          <p:nvPr/>
        </p:nvPicPr>
        <p:blipFill>
          <a:blip xmlns:r="http://schemas.openxmlformats.org/officeDocument/2006/relationships" xmlns:a="http://schemas.openxmlformats.org/drawingml/2006/main" r:embed="R9d683bfaae4d48ac"/>
          <a:stretch xmlns:a="http://schemas.openxmlformats.org/drawingml/2006/main"/>
        </p:blipFill>
        <p:spPr>
          <a:xfrm xmlns:a="http://schemas.openxmlformats.org/drawingml/2006/main">
            <a:off x="6343650" y="2314575"/>
            <a:ext cx="1571625" cy="1571625"/>
          </a:xfrm>
          <a:prstGeom xmlns:a="http://schemas.openxmlformats.org/drawingml/2006/main" prst="rect">
            <a:avLst/>
          </a:prstGeom>
        </p:spPr>
      </p:pic>
    </p:spTree>
    <p:extLst>
      <p:ext uri="{BB962C8B-B14F-4D97-AF65-F5344CB8AC3E}">
        <p14:creationId xmlns:p14="http://schemas.microsoft.com/office/powerpoint/2010/main" val="110876286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25" name="Google Shape;125;p18">
            <a:extLst xmlns:a="http://schemas.openxmlformats.org/drawingml/2006/main">
              <a:ext uri="{FF2B5EF4-FFF2-40B4-BE49-F238E27FC236}">
                <a16:creationId xmlns:a16="http://schemas.microsoft.com/office/drawing/2014/main" id="{96DF8CC6-B8E4-4AE0-8804-74F5E78556C3}"/>
              </a:ext>
            </a:extLst>
          </p:cNvPr>
          <p:cNvSpPr>
            <a:spLocks xmlns:a="http://schemas.openxmlformats.org/drawingml/2006/main" noGrp="1"/>
          </p:cNvSpPr>
          <p:nvPr/>
        </p:nvSpPr>
        <p:spPr>
          <a:xfrm xmlns:a="http://schemas.openxmlformats.org/drawingml/2006/main">
            <a:off x="0" y="-10375"/>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26" name="Google Shape;126;p18">
            <a:extLst xmlns:a="http://schemas.openxmlformats.org/drawingml/2006/main">
              <a:ext uri="{FF2B5EF4-FFF2-40B4-BE49-F238E27FC236}">
                <a16:creationId xmlns:a16="http://schemas.microsoft.com/office/drawing/2014/main" id="{23D3F7D8-108F-4B23-ACD2-F08048EF681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459fceedfa04a2d">
            <a:alphaModFix amt="39000"/>
          </a:blip>
          <a:srcRect xmlns:a="http://schemas.openxmlformats.org/drawingml/2006/main" l="0" t="0" r="0" b="6621"/>
          <a:stretch xmlns:a="http://schemas.openxmlformats.org/drawingml/2006/main"/>
        </p:blipFill>
        <p:spPr>
          <a:xfrm xmlns:a="http://schemas.openxmlformats.org/drawingml/2006/main">
            <a:off x="0" y="-10375"/>
            <a:ext cx="9144000" cy="5143500"/>
          </a:xfrm>
          <a:prstGeom xmlns:a="http://schemas.openxmlformats.org/drawingml/2006/main" prst="rect">
            <a:avLst/>
          </a:prstGeom>
          <a:ln xmlns:a="http://schemas.openxmlformats.org/drawingml/2006/main">
            <a:noFill/>
          </a:ln>
        </p:spPr>
      </p:pic>
      <p:sp>
        <p:nvSpPr>
          <p:cNvPr id="127" name="Google Shape;127;p18">
            <a:extLst xmlns:a="http://schemas.openxmlformats.org/drawingml/2006/main">
              <a:ext uri="{FF2B5EF4-FFF2-40B4-BE49-F238E27FC236}">
                <a16:creationId xmlns:a16="http://schemas.microsoft.com/office/drawing/2014/main" id="{7968BA79-1136-4F13-8151-4DD85F0D87D3}"/>
              </a:ext>
            </a:extLst>
          </p:cNvPr>
          <p:cNvSpPr>
            <a:spLocks xmlns:a="http://schemas.openxmlformats.org/drawingml/2006/main" noGrp="1"/>
          </p:cNvSpPr>
          <p:nvPr/>
        </p:nvSpPr>
        <p:spPr>
          <a:xfrm xmlns:a="http://schemas.openxmlformats.org/drawingml/2006/main">
            <a:off x="1104900" y="1638300"/>
            <a:ext cx="74295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BACKUP</a:t>
            </a:r>
            <a:endParaRPr sz="39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SLIDES</a:t>
            </a:r>
            <a:endParaRPr sz="3900">
              <a:solidFill>
                <a:schemeClr val="lt1"/>
              </a:solidFill>
              <a:latin typeface="Inter SemiBold"/>
              <a:ea typeface="Inter SemiBold"/>
              <a:cs typeface="Inter SemiBold"/>
            </a:endParaRPr>
          </a:p>
        </p:txBody>
      </p:sp>
      <p:sp>
        <p:nvSpPr>
          <p:cNvPr id="128" name="Google Shape;128;p18">
            <a:extLst xmlns:a="http://schemas.openxmlformats.org/drawingml/2006/main">
              <a:ext uri="{FF2B5EF4-FFF2-40B4-BE49-F238E27FC236}">
                <a16:creationId xmlns:a16="http://schemas.microsoft.com/office/drawing/2014/main" id="{69BCD9AA-26BD-4FDB-958C-B403E9166F40}"/>
              </a:ext>
            </a:extLst>
          </p:cNvPr>
          <p:cNvSpPr>
            <a:spLocks xmlns:a="http://schemas.openxmlformats.org/drawingml/2006/main" noGrp="1"/>
          </p:cNvSpPr>
          <p:nvPr/>
        </p:nvSpPr>
        <p:spPr>
          <a:xfrm xmlns:a="http://schemas.openxmlformats.org/drawingml/2006/main">
            <a:off x="1152525" y="3019425"/>
            <a:ext cx="6572250" cy="4343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i="0"/>
            </a:defPPr>
          </a:lstStyle>
          <a:p xmlns:a="http://schemas.openxmlformats.org/drawingml/2006/main">
            <a:pPr marL="0" lvl="0" indent="0" algn="l">
              <a:spcBef>
                <a:spcPts val="0"/>
              </a:spcBef>
              <a:spcAft>
                <a:spcPts val="0"/>
              </a:spcAft>
              <a:buNone/>
              <a:defRPr sz="1650" i="0"/>
            </a:pPr>
            <a:r>
              <a:rPr sz="1650" i="0">
                <a:solidFill>
                  <a:schemeClr val="lt1"/>
                </a:solidFill>
                <a:latin typeface="Inter"/>
                <a:ea typeface="Inter"/>
                <a:cs typeface="Inter"/>
              </a:rPr>
              <a:t>Perch in depth, the rest of the walkthrough, and what broke</a:t>
            </a:r>
            <a:endParaRPr sz="1200" i="1">
              <a:solidFill>
                <a:schemeClr val="lt1"/>
              </a:solidFill>
              <a:latin typeface="Inter"/>
              <a:ea typeface="Inter"/>
              <a:cs typeface="Inter"/>
            </a:endParaRPr>
          </a:p>
        </p:txBody>
      </p:sp>
      <p:sp>
        <p:nvSpPr>
          <p:cNvPr id="129" name="Google Shape;129;p18">
            <a:extLst xmlns:a="http://schemas.openxmlformats.org/drawingml/2006/main">
              <a:ext uri="{FF2B5EF4-FFF2-40B4-BE49-F238E27FC236}">
                <a16:creationId xmlns:a16="http://schemas.microsoft.com/office/drawing/2014/main" id="{95CCCFF0-17D7-4550-ACB0-6F9B309DE2B9}"/>
              </a:ext>
            </a:extLst>
          </p:cNvPr>
          <p:cNvSpPr>
            <a:spLocks xmlns:a="http://schemas.openxmlformats.org/drawingml/2006/main" noGrp="1"/>
          </p:cNvSpPr>
          <p:nvPr/>
        </p:nvSpPr>
        <p:spPr>
          <a:xfrm xmlns:a="http://schemas.openxmlformats.org/drawingml/2006/main">
            <a:off x="514350" y="314325"/>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A P P E N D I X</a:t>
            </a:r>
            <a:endParaRPr sz="900" b="1">
              <a:solidFill>
                <a:schemeClr val="lt1"/>
              </a:solidFill>
              <a:latin typeface="Inter"/>
              <a:ea typeface="Inter"/>
              <a:cs typeface="Inter"/>
            </a:endParaRPr>
          </a:p>
        </p:txBody>
      </p:sp>
      <p:pic>
        <p:nvPicPr>
          <p:cNvPr id="130" name="Google Shape;130;p18">
            <a:extLst xmlns:a="http://schemas.openxmlformats.org/drawingml/2006/main">
              <a:ext uri="{FF2B5EF4-FFF2-40B4-BE49-F238E27FC236}">
                <a16:creationId xmlns:a16="http://schemas.microsoft.com/office/drawing/2014/main" id="{4ED9FE7D-CE97-4DF9-997C-A0C87E785575}"/>
              </a:ext>
            </a:extLst>
          </p:cNvPr>
          <p:cNvPicPr>
            <a:picLocks xmlns:a="http://schemas.openxmlformats.org/drawingml/2006/main" noChangeAspect="1"/>
          </p:cNvPicPr>
          <p:nvPr/>
        </p:nvPicPr>
        <p:blipFill>
          <a:blip xmlns:r="http://schemas.openxmlformats.org/officeDocument/2006/relationships" xmlns:a="http://schemas.openxmlformats.org/drawingml/2006/main" r:embed="R6f58792ae0824ea7">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31" name="Google Shape;131;p18">
            <a:extLst xmlns:a="http://schemas.openxmlformats.org/drawingml/2006/main">
              <a:ext uri="{FF2B5EF4-FFF2-40B4-BE49-F238E27FC236}">
                <a16:creationId xmlns:a16="http://schemas.microsoft.com/office/drawing/2014/main" id="{A163264E-9DE4-482A-9EBA-E342E155319C}"/>
              </a:ext>
            </a:extLst>
          </p:cNvPr>
          <p:cNvPicPr>
            <a:picLocks xmlns:a="http://schemas.openxmlformats.org/drawingml/2006/main" noChangeAspect="1"/>
          </p:cNvPicPr>
          <p:nvPr/>
        </p:nvPicPr>
        <p:blipFill>
          <a:blip xmlns:r="http://schemas.openxmlformats.org/officeDocument/2006/relationships" xmlns:a="http://schemas.openxmlformats.org/drawingml/2006/main" r:embed="Rc51fe273def64ca0">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53773774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36" name="Google Shape;136;p19">
            <a:extLst xmlns:a="http://schemas.openxmlformats.org/drawingml/2006/main">
              <a:ext uri="{FF2B5EF4-FFF2-40B4-BE49-F238E27FC236}">
                <a16:creationId xmlns:a16="http://schemas.microsoft.com/office/drawing/2014/main" id="{6E8251FA-265D-4926-AD3B-EBF261F506F2}"/>
              </a:ext>
            </a:extLst>
          </p:cNvPr>
          <p:cNvSpPr>
            <a:spLocks xmlns:a="http://schemas.openxmlformats.org/drawingml/2006/main" noGrp="1"/>
          </p:cNvSpPr>
          <p:nvPr/>
        </p:nvSpPr>
        <p:spPr>
          <a:xfrm xmlns:a="http://schemas.openxmlformats.org/drawingml/2006/main">
            <a:off x="3031396" y="849570"/>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P O L I C Y   D O C U M E N T S</a:t>
            </a:r>
            <a:endParaRPr sz="1000" b="1">
              <a:solidFill>
                <a:schemeClr val="dk1"/>
              </a:solidFill>
              <a:latin typeface="Inter"/>
              <a:ea typeface="Inter"/>
              <a:cs typeface="Inter"/>
            </a:endParaRPr>
          </a:p>
        </p:txBody>
      </p:sp>
      <p:sp>
        <p:nvSpPr>
          <p:cNvPr id="137" name="Google Shape;137;p19">
            <a:extLst xmlns:a="http://schemas.openxmlformats.org/drawingml/2006/main">
              <a:ext uri="{FF2B5EF4-FFF2-40B4-BE49-F238E27FC236}">
                <a16:creationId xmlns:a16="http://schemas.microsoft.com/office/drawing/2014/main" id="{4E94503B-D305-4E29-91D0-1D91CAC31978}"/>
              </a:ext>
            </a:extLst>
          </p:cNvPr>
          <p:cNvSpPr>
            <a:spLocks xmlns:a="http://schemas.openxmlformats.org/drawingml/2006/main" noGrp="1"/>
          </p:cNvSpPr>
          <p:nvPr/>
        </p:nvSpPr>
        <p:spPr>
          <a:xfrm xmlns:a="http://schemas.openxmlformats.org/drawingml/2006/main">
            <a:off x="3028950" y="1219200"/>
            <a:ext cx="57150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ONE DOCUMENT,</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ONE HASH</a:t>
            </a:r>
            <a:endParaRPr sz="3900" spc="-231">
              <a:solidFill>
                <a:schemeClr val="dk1"/>
              </a:solidFill>
              <a:latin typeface="Inter Medium"/>
              <a:ea typeface="Inter Medium"/>
              <a:cs typeface="Inter Medium"/>
            </a:endParaRPr>
          </a:p>
        </p:txBody>
      </p:sp>
      <p:sp>
        <p:nvSpPr>
          <p:cNvPr id="138" name="Google Shape;138;p19">
            <a:extLst xmlns:a="http://schemas.openxmlformats.org/drawingml/2006/main">
              <a:ext uri="{FF2B5EF4-FFF2-40B4-BE49-F238E27FC236}">
                <a16:creationId xmlns:a16="http://schemas.microsoft.com/office/drawing/2014/main" id="{D59B081D-7B3D-4815-A077-469375FB208E}"/>
              </a:ext>
            </a:extLst>
          </p:cNvPr>
          <p:cNvSpPr>
            <a:spLocks xmlns:a="http://schemas.openxmlformats.org/drawingml/2006/main" noGrp="1"/>
          </p:cNvSpPr>
          <p:nvPr/>
        </p:nvSpPr>
        <p:spPr>
          <a:xfrm xmlns:a="http://schemas.openxmlformats.org/drawingml/2006/main">
            <a:off x="3038475" y="2619375"/>
            <a:ext cx="5619750" cy="16916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A policy is signers, rules and optional recovery, as canonical JSON. The account stores its hash.</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Anyone can fetch the document, hash it, and compare it with the chain.</a:t>
            </a:r>
          </a:p>
          <a:p xmlns:a="http://schemas.openxmlformats.org/drawingml/2006/main">
            <a:pPr>
              <a:lnSpc>
                <a:spcPct val="110000"/>
              </a:lnSpc>
              <a:buNone/>
              <a:defRPr sz="1500"/>
            </a:pPr>
            <a:r>
              <a:rPr sz="1500">
                <a:solidFill>
                  <a:srgbClr val="000000"/>
                </a:solidFill>
                <a:latin typeface="Inter"/>
                <a:ea typeface="Inter"/>
                <a:cs typeface="Inter"/>
              </a:rPr>
              <a:t>apply_doc is the only way to change an account’s authorization.</a:t>
            </a:r>
          </a:p>
        </p:txBody>
      </p:sp>
      <p:pic>
        <p:nvPicPr>
          <p:cNvPr id="139" name="Google Shape;139;p19">
            <a:extLst xmlns:a="http://schemas.openxmlformats.org/drawingml/2006/main">
              <a:ext uri="{FF2B5EF4-FFF2-40B4-BE49-F238E27FC236}">
                <a16:creationId xmlns:a16="http://schemas.microsoft.com/office/drawing/2014/main" id="{5826448D-0A09-478E-990F-C3A369DF09C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9258023b5f54152">
            <a:alphaModFix/>
          </a:blip>
          <a:srcRect xmlns:a="http://schemas.openxmlformats.org/drawingml/2006/main" l="44448" t="2095" r="26037" b="0"/>
          <a:stretch xmlns:a="http://schemas.openxmlformats.org/drawingml/2006/main"/>
        </p:blipFill>
        <p:spPr>
          <a:xfrm xmlns:a="http://schemas.openxmlformats.org/drawingml/2006/main">
            <a:off x="0" y="0"/>
            <a:ext cx="2520000" cy="5035825"/>
          </a:xfrm>
          <a:prstGeom xmlns:a="http://schemas.openxmlformats.org/drawingml/2006/main" prst="rect">
            <a:avLst/>
          </a:prstGeom>
          <a:ln xmlns:a="http://schemas.openxmlformats.org/drawingml/2006/main">
            <a:noFill/>
          </a:ln>
        </p:spPr>
      </p:pic>
      <p:pic>
        <p:nvPicPr>
          <p:cNvPr id="140" name="Google Shape;140;p19">
            <a:extLst xmlns:a="http://schemas.openxmlformats.org/drawingml/2006/main">
              <a:ext uri="{FF2B5EF4-FFF2-40B4-BE49-F238E27FC236}">
                <a16:creationId xmlns:a16="http://schemas.microsoft.com/office/drawing/2014/main" id="{89C8D730-15E7-49A9-AB77-796CFD73C4D9}"/>
              </a:ext>
            </a:extLst>
          </p:cNvPr>
          <p:cNvPicPr>
            <a:picLocks xmlns:a="http://schemas.openxmlformats.org/drawingml/2006/main" noChangeAspect="1"/>
          </p:cNvPicPr>
          <p:nvPr/>
        </p:nvPicPr>
        <p:blipFill>
          <a:blip xmlns:r="http://schemas.openxmlformats.org/officeDocument/2006/relationships" xmlns:a="http://schemas.openxmlformats.org/drawingml/2006/main" r:embed="R096483e4d83a4d95">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41" name="Google Shape;141;p19">
            <a:extLst xmlns:a="http://schemas.openxmlformats.org/drawingml/2006/main">
              <a:ext uri="{FF2B5EF4-FFF2-40B4-BE49-F238E27FC236}">
                <a16:creationId xmlns:a16="http://schemas.microsoft.com/office/drawing/2014/main" id="{2164DA10-1420-4DB7-8FAA-B309FC7ECF59}"/>
              </a:ext>
            </a:extLst>
          </p:cNvPr>
          <p:cNvPicPr>
            <a:picLocks xmlns:a="http://schemas.openxmlformats.org/drawingml/2006/main" noChangeAspect="1"/>
          </p:cNvPicPr>
          <p:nvPr/>
        </p:nvPicPr>
        <p:blipFill>
          <a:blip xmlns:r="http://schemas.openxmlformats.org/officeDocument/2006/relationships" xmlns:a="http://schemas.openxmlformats.org/drawingml/2006/main" r:embed="R0e5ed707793e49b0">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56152811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FROM DOCUMENT TO ENFORCEMENT</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H O W   I T   R U N S</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e4faf2072fe24650">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5803761905524ed4">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ca1b6c76d6b4443a">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37783056-75F3-4197-8462-F015A8E48D84}"/>
              </a:ext>
            </a:extLst>
          </p:cNvPr>
          <p:cNvSpPr>
            <a:spLocks xmlns:a="http://schemas.openxmlformats.org/drawingml/2006/main" noGrp="1"/>
          </p:cNvSpPr>
          <p:nvPr/>
        </p:nvSpPr>
        <p:spPr>
          <a:xfrm xmlns:a="http://schemas.openxmlformats.org/drawingml/2006/main">
            <a:off x="495300"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THE COMPILER IS A CONTRACT</a:t>
            </a:r>
          </a:p>
        </p:txBody>
      </p:sp>
      <p:sp>
        <p:nvSpPr>
          <p:cNvPr id="161" name="">
            <a:extLst xmlns:a="http://schemas.openxmlformats.org/drawingml/2006/main">
              <a:ext uri="{FF2B5EF4-FFF2-40B4-BE49-F238E27FC236}">
                <a16:creationId xmlns:a16="http://schemas.microsoft.com/office/drawing/2014/main" id="{5ADBFC14-D765-4B1C-B3EB-62D39CAC29D7}"/>
              </a:ext>
            </a:extLst>
          </p:cNvPr>
          <p:cNvSpPr>
            <a:spLocks xmlns:a="http://schemas.openxmlformats.org/drawingml/2006/main" noGrp="1"/>
          </p:cNvSpPr>
          <p:nvPr/>
        </p:nvSpPr>
        <p:spPr>
          <a:xfrm xmlns:a="http://schemas.openxmlformats.org/drawingml/2006/main">
            <a:off x="495300"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The account sends its document to Perch’s doc compiler, so compiling happens on chain.</a:t>
            </a:r>
          </a:p>
        </p:txBody>
      </p:sp>
      <p:sp>
        <p:nvSpPr>
          <p:cNvPr id="162" name="">
            <a:extLst xmlns:a="http://schemas.openxmlformats.org/drawingml/2006/main">
              <a:ext uri="{FF2B5EF4-FFF2-40B4-BE49-F238E27FC236}">
                <a16:creationId xmlns:a16="http://schemas.microsoft.com/office/drawing/2014/main" id="{CD6CDF9E-D552-46E9-BA83-7E3577BA13FE}"/>
              </a:ext>
            </a:extLst>
          </p:cNvPr>
          <p:cNvSpPr>
            <a:spLocks xmlns:a="http://schemas.openxmlformats.org/drawingml/2006/main" noGrp="1"/>
          </p:cNvSpPr>
          <p:nvPr/>
        </p:nvSpPr>
        <p:spPr>
          <a:xfrm xmlns:a="http://schemas.openxmlformats.org/drawingml/2006/main">
            <a:off x="4752975"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RULES BECOME CONTEXT RULES</a:t>
            </a:r>
          </a:p>
        </p:txBody>
      </p:sp>
      <p:sp>
        <p:nvSpPr>
          <p:cNvPr id="163" name="">
            <a:extLst xmlns:a="http://schemas.openxmlformats.org/drawingml/2006/main">
              <a:ext uri="{FF2B5EF4-FFF2-40B4-BE49-F238E27FC236}">
                <a16:creationId xmlns:a16="http://schemas.microsoft.com/office/drawing/2014/main" id="{370B30D7-B229-4CFA-9D2E-214C8266A175}"/>
              </a:ext>
            </a:extLst>
          </p:cNvPr>
          <p:cNvSpPr>
            <a:spLocks xmlns:a="http://schemas.openxmlformats.org/drawingml/2006/main" noGrp="1"/>
          </p:cNvSpPr>
          <p:nvPr/>
        </p:nvSpPr>
        <p:spPr>
          <a:xfrm xmlns:a="http://schemas.openxmlformats.org/drawingml/2006/main">
            <a:off x="4752975"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Each rule lowers onto an OpenZeppelin context rule; a cap adds the spending-limit policy.</a:t>
            </a:r>
          </a:p>
        </p:txBody>
      </p:sp>
      <p:sp>
        <p:nvSpPr>
          <p:cNvPr id="164" name="">
            <a:extLst xmlns:a="http://schemas.openxmlformats.org/drawingml/2006/main">
              <a:ext uri="{FF2B5EF4-FFF2-40B4-BE49-F238E27FC236}">
                <a16:creationId xmlns:a16="http://schemas.microsoft.com/office/drawing/2014/main" id="{78D57615-F816-4E37-9CE8-57F19E93A429}"/>
              </a:ext>
            </a:extLst>
          </p:cNvPr>
          <p:cNvSpPr>
            <a:spLocks xmlns:a="http://schemas.openxmlformats.org/drawingml/2006/main" noGrp="1"/>
          </p:cNvSpPr>
          <p:nvPr/>
        </p:nvSpPr>
        <p:spPr>
          <a:xfrm xmlns:a="http://schemas.openxmlformats.org/drawingml/2006/main">
            <a:off x="495300"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CONSTRAINTS ARE PROGRAMS</a:t>
            </a:r>
          </a:p>
        </p:txBody>
      </p:sp>
      <p:sp>
        <p:nvSpPr>
          <p:cNvPr id="165" name="">
            <a:extLst xmlns:a="http://schemas.openxmlformats.org/drawingml/2006/main">
              <a:ext uri="{FF2B5EF4-FFF2-40B4-BE49-F238E27FC236}">
                <a16:creationId xmlns:a16="http://schemas.microsoft.com/office/drawing/2014/main" id="{9FF5425A-09C8-4EF3-A14B-D39D41CA15E0}"/>
              </a:ext>
            </a:extLst>
          </p:cNvPr>
          <p:cNvSpPr>
            <a:spLocks xmlns:a="http://schemas.openxmlformats.org/drawingml/2006/main" noGrp="1"/>
          </p:cNvSpPr>
          <p:nvPr/>
        </p:nvSpPr>
        <p:spPr>
          <a:xfrm xmlns:a="http://schemas.openxmlformats.org/drawingml/2006/main">
            <a:off x="495300"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Rules with constraints get a small program for Perch’s interpreter.</a:t>
            </a:r>
          </a:p>
        </p:txBody>
      </p:sp>
      <p:sp>
        <p:nvSpPr>
          <p:cNvPr id="166" name="">
            <a:extLst xmlns:a="http://schemas.openxmlformats.org/drawingml/2006/main">
              <a:ext uri="{FF2B5EF4-FFF2-40B4-BE49-F238E27FC236}">
                <a16:creationId xmlns:a16="http://schemas.microsoft.com/office/drawing/2014/main" id="{782ACF61-8832-4BA3-AF65-C0B67BFFA0FE}"/>
              </a:ext>
            </a:extLst>
          </p:cNvPr>
          <p:cNvSpPr>
            <a:spLocks xmlns:a="http://schemas.openxmlformats.org/drawingml/2006/main" noGrp="1"/>
          </p:cNvSpPr>
          <p:nvPr/>
        </p:nvSpPr>
        <p:spPr>
          <a:xfrm xmlns:a="http://schemas.openxmlformats.org/drawingml/2006/main">
            <a:off x="4752975"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EVERY CALL IS CHECKED</a:t>
            </a:r>
          </a:p>
        </p:txBody>
      </p:sp>
      <p:sp>
        <p:nvSpPr>
          <p:cNvPr id="167" name="">
            <a:extLst xmlns:a="http://schemas.openxmlformats.org/drawingml/2006/main">
              <a:ext uri="{FF2B5EF4-FFF2-40B4-BE49-F238E27FC236}">
                <a16:creationId xmlns:a16="http://schemas.microsoft.com/office/drawing/2014/main" id="{1492923F-9293-44DE-915A-4A21328E65DE}"/>
              </a:ext>
            </a:extLst>
          </p:cNvPr>
          <p:cNvSpPr>
            <a:spLocks xmlns:a="http://schemas.openxmlformats.org/drawingml/2006/main" noGrp="1"/>
          </p:cNvSpPr>
          <p:nvPr/>
        </p:nvSpPr>
        <p:spPr>
          <a:xfrm xmlns:a="http://schemas.openxmlformats.org/drawingml/2006/main">
            <a:off x="4752975"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The named rule’s scope, expiry, signers and every policy must pass. Anything undecodable is denied.</a:t>
            </a:r>
          </a:p>
        </p:txBody>
      </p:sp>
    </p:spTree>
    <p:extLst>
      <p:ext uri="{BB962C8B-B14F-4D97-AF65-F5344CB8AC3E}">
        <p14:creationId xmlns:p14="http://schemas.microsoft.com/office/powerpoint/2010/main" val="167795666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VERIFIERS</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W H O   M A Y   S I G N</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788a725908b74ace">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00bb9b604290456d">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18e637eb40924377">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FA85AA5A-12A9-4AC7-AE95-2174CC3112FB}"/>
              </a:ext>
            </a:extLst>
          </p:cNvPr>
          <p:cNvSpPr>
            <a:spLocks xmlns:a="http://schemas.openxmlformats.org/drawingml/2006/main" noGrp="1"/>
          </p:cNvSpPr>
          <p:nvPr/>
        </p:nvSpPr>
        <p:spPr>
          <a:xfrm xmlns:a="http://schemas.openxmlformats.org/drawingml/2006/main">
            <a:off x="495300"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ED25519</a:t>
            </a:r>
          </a:p>
        </p:txBody>
      </p:sp>
      <p:sp>
        <p:nvSpPr>
          <p:cNvPr id="161" name="">
            <a:extLst xmlns:a="http://schemas.openxmlformats.org/drawingml/2006/main">
              <a:ext uri="{FF2B5EF4-FFF2-40B4-BE49-F238E27FC236}">
                <a16:creationId xmlns:a16="http://schemas.microsoft.com/office/drawing/2014/main" id="{CF613199-BC33-4127-82EF-C31191475603}"/>
              </a:ext>
            </a:extLst>
          </p:cNvPr>
          <p:cNvSpPr>
            <a:spLocks xmlns:a="http://schemas.openxmlformats.org/drawingml/2006/main" noGrp="1"/>
          </p:cNvSpPr>
          <p:nvPr/>
        </p:nvSpPr>
        <p:spPr>
          <a:xfrm xmlns:a="http://schemas.openxmlformats.org/drawingml/2006/main">
            <a:off x="495300"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Classic keys, checked by a verifier contract.</a:t>
            </a:r>
          </a:p>
        </p:txBody>
      </p:sp>
      <p:sp>
        <p:nvSpPr>
          <p:cNvPr id="162" name="">
            <a:extLst xmlns:a="http://schemas.openxmlformats.org/drawingml/2006/main">
              <a:ext uri="{FF2B5EF4-FFF2-40B4-BE49-F238E27FC236}">
                <a16:creationId xmlns:a16="http://schemas.microsoft.com/office/drawing/2014/main" id="{97E2C1D4-52D2-417E-A7C9-2BB3EA3985C9}"/>
              </a:ext>
            </a:extLst>
          </p:cNvPr>
          <p:cNvSpPr>
            <a:spLocks xmlns:a="http://schemas.openxmlformats.org/drawingml/2006/main" noGrp="1"/>
          </p:cNvSpPr>
          <p:nvPr/>
        </p:nvSpPr>
        <p:spPr>
          <a:xfrm xmlns:a="http://schemas.openxmlformats.org/drawingml/2006/main">
            <a:off x="4752975"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WEBAUTHN</a:t>
            </a:r>
          </a:p>
        </p:txBody>
      </p:sp>
      <p:sp>
        <p:nvSpPr>
          <p:cNvPr id="163" name="">
            <a:extLst xmlns:a="http://schemas.openxmlformats.org/drawingml/2006/main">
              <a:ext uri="{FF2B5EF4-FFF2-40B4-BE49-F238E27FC236}">
                <a16:creationId xmlns:a16="http://schemas.microsoft.com/office/drawing/2014/main" id="{4ADEDBCC-6E86-4EBD-A926-C566570C8D88}"/>
              </a:ext>
            </a:extLst>
          </p:cNvPr>
          <p:cNvSpPr>
            <a:spLocks xmlns:a="http://schemas.openxmlformats.org/drawingml/2006/main" noGrp="1"/>
          </p:cNvSpPr>
          <p:nvPr/>
        </p:nvSpPr>
        <p:spPr>
          <a:xfrm xmlns:a="http://schemas.openxmlformats.org/drawingml/2006/main">
            <a:off x="4752975"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Passkeys on P-256. Nido’s admin key is one.</a:t>
            </a:r>
          </a:p>
        </p:txBody>
      </p:sp>
      <p:sp>
        <p:nvSpPr>
          <p:cNvPr id="164" name="">
            <a:extLst xmlns:a="http://schemas.openxmlformats.org/drawingml/2006/main">
              <a:ext uri="{FF2B5EF4-FFF2-40B4-BE49-F238E27FC236}">
                <a16:creationId xmlns:a16="http://schemas.microsoft.com/office/drawing/2014/main" id="{945188C4-E497-4AD6-B23E-C2C0624DA2F7}"/>
              </a:ext>
            </a:extLst>
          </p:cNvPr>
          <p:cNvSpPr>
            <a:spLocks xmlns:a="http://schemas.openxmlformats.org/drawingml/2006/main" noGrp="1"/>
          </p:cNvSpPr>
          <p:nvPr/>
        </p:nvSpPr>
        <p:spPr>
          <a:xfrm xmlns:a="http://schemas.openxmlformats.org/drawingml/2006/main">
            <a:off x="495300"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DELEGATED</a:t>
            </a:r>
          </a:p>
        </p:txBody>
      </p:sp>
      <p:sp>
        <p:nvSpPr>
          <p:cNvPr id="165" name="">
            <a:extLst xmlns:a="http://schemas.openxmlformats.org/drawingml/2006/main">
              <a:ext uri="{FF2B5EF4-FFF2-40B4-BE49-F238E27FC236}">
                <a16:creationId xmlns:a16="http://schemas.microsoft.com/office/drawing/2014/main" id="{4E6D7E9B-D311-4E62-B971-249CFAC81DDE}"/>
              </a:ext>
            </a:extLst>
          </p:cNvPr>
          <p:cNvSpPr>
            <a:spLocks xmlns:a="http://schemas.openxmlformats.org/drawingml/2006/main" noGrp="1"/>
          </p:cNvSpPr>
          <p:nvPr/>
        </p:nvSpPr>
        <p:spPr>
          <a:xfrm xmlns:a="http://schemas.openxmlformats.org/drawingml/2006/main">
            <a:off x="495300"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Any G or C address, authenticated by the host through CAP-71. The demo’s session key is one.</a:t>
            </a:r>
          </a:p>
        </p:txBody>
      </p:sp>
      <p:sp>
        <p:nvSpPr>
          <p:cNvPr id="166" name="">
            <a:extLst xmlns:a="http://schemas.openxmlformats.org/drawingml/2006/main">
              <a:ext uri="{FF2B5EF4-FFF2-40B4-BE49-F238E27FC236}">
                <a16:creationId xmlns:a16="http://schemas.microsoft.com/office/drawing/2014/main" id="{345E3762-998A-4959-A14F-379E1BFD0E73}"/>
              </a:ext>
            </a:extLst>
          </p:cNvPr>
          <p:cNvSpPr>
            <a:spLocks xmlns:a="http://schemas.openxmlformats.org/drawingml/2006/main" noGrp="1"/>
          </p:cNvSpPr>
          <p:nvPr/>
        </p:nvSpPr>
        <p:spPr>
          <a:xfrm xmlns:a="http://schemas.openxmlformats.org/drawingml/2006/main">
            <a:off x="4752975"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NOT BUILT YET: ML-DSA</a:t>
            </a:r>
          </a:p>
        </p:txBody>
      </p:sp>
      <p:sp>
        <p:nvSpPr>
          <p:cNvPr id="167" name="">
            <a:extLst xmlns:a="http://schemas.openxmlformats.org/drawingml/2006/main">
              <a:ext uri="{FF2B5EF4-FFF2-40B4-BE49-F238E27FC236}">
                <a16:creationId xmlns:a16="http://schemas.microsoft.com/office/drawing/2014/main" id="{DD993826-1E37-48DE-B456-63FB780131DF}"/>
              </a:ext>
            </a:extLst>
          </p:cNvPr>
          <p:cNvSpPr>
            <a:spLocks xmlns:a="http://schemas.openxmlformats.org/drawingml/2006/main" noGrp="1"/>
          </p:cNvSpPr>
          <p:nvPr/>
        </p:nvSpPr>
        <p:spPr>
          <a:xfrm xmlns:a="http://schemas.openxmlformats.org/drawingml/2006/main">
            <a:off x="4752975"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A post-quantum scheme, on Perch’s roadmap as one more verifier contract.</a:t>
            </a:r>
          </a:p>
        </p:txBody>
      </p:sp>
    </p:spTree>
    <p:extLst>
      <p:ext uri="{BB962C8B-B14F-4D97-AF65-F5344CB8AC3E}">
        <p14:creationId xmlns:p14="http://schemas.microsoft.com/office/powerpoint/2010/main" val="167795666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3F48497F-2FD0-4F3C-B29A-20C3C8D30229}"/>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C O N T E N T - A D D R E S S E D   P U B L I S H I N G</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D560B4D2-3E74-43FE-86EE-72A42A088FD8}"/>
              </a:ext>
            </a:extLst>
          </p:cNvPr>
          <p:cNvSpPr>
            <a:spLocks xmlns:a="http://schemas.openxmlformats.org/drawingml/2006/main" noGrp="1"/>
          </p:cNvSpPr>
          <p:nvPr/>
        </p:nvSpPr>
        <p:spPr>
          <a:xfrm xmlns:a="http://schemas.openxmlformats.org/drawingml/2006/main">
            <a:off x="485775" y="1219200"/>
            <a:ext cx="4714875" cy="75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750"/>
            </a:defPPr>
          </a:lstStyle>
          <a:p xmlns:a="http://schemas.openxmlformats.org/drawingml/2006/main">
            <a:pPr marL="0" lvl="0" indent="0" algn="l">
              <a:spcBef>
                <a:spcPts val="0"/>
              </a:spcBef>
              <a:spcAft>
                <a:spcPts val="0"/>
              </a:spcAft>
              <a:buNone/>
              <a:defRPr sz="3750"/>
            </a:pPr>
            <a:r>
              <a:rPr sz="3750" spc="-231">
                <a:solidFill>
                  <a:schemeClr val="dk1"/>
                </a:solidFill>
                <a:latin typeface="Inter Medium"/>
                <a:ea typeface="Inter Medium"/>
                <a:cs typeface="Inter Medium"/>
              </a:rPr>
              <a:t>CONSTRUCTORLESS</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C214E13B-431C-40F2-8BE4-B76F2EA5378A}"/>
              </a:ext>
            </a:extLst>
          </p:cNvPr>
          <p:cNvSpPr>
            <a:spLocks xmlns:a="http://schemas.openxmlformats.org/drawingml/2006/main" noGrp="1"/>
          </p:cNvSpPr>
          <p:nvPr/>
        </p:nvSpPr>
        <p:spPr>
          <a:xfrm xmlns:a="http://schemas.openxmlformats.org/drawingml/2006/main">
            <a:off x="495300" y="2009775"/>
            <a:ext cx="4619625" cy="16916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Perch’s shared contracts deploy with no constructor arguments.</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Each address is a function of the registry and the wasm hash.</a:t>
            </a:r>
          </a:p>
          <a:p xmlns:a="http://schemas.openxmlformats.org/drawingml/2006/main">
            <a:pPr>
              <a:lnSpc>
                <a:spcPct val="110000"/>
              </a:lnSpc>
              <a:buNone/>
              <a:defRPr sz="1500"/>
            </a:pPr>
            <a:r>
              <a:rPr sz="1500">
                <a:solidFill>
                  <a:srgbClr val="000000"/>
                </a:solidFill>
                <a:latin typeface="Inter"/>
                <a:ea typeface="Inter"/>
                <a:cs typeface="Inter"/>
              </a:rPr>
              <a:t>Accounts pin them by hash, so no admin can repoint them.</a:t>
            </a:r>
          </a:p>
        </p:txBody>
      </p:sp>
      <p:pic>
        <p:nvPicPr>
          <p:cNvPr id="167" name="Google Shape;167;p21">
            <a:extLst xmlns:a="http://schemas.openxmlformats.org/drawingml/2006/main">
              <a:ext uri="{FF2B5EF4-FFF2-40B4-BE49-F238E27FC236}">
                <a16:creationId xmlns:a16="http://schemas.microsoft.com/office/drawing/2014/main" id="{384AEE20-2376-4847-B0FA-2C5D63EF4BE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fdff4adea3c94ba2">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A9F2A33-F3F9-4D0B-AC50-BC235E28A8F6}"/>
              </a:ext>
            </a:extLst>
          </p:cNvPr>
          <p:cNvPicPr>
            <a:picLocks xmlns:a="http://schemas.openxmlformats.org/drawingml/2006/main" noChangeAspect="1"/>
          </p:cNvPicPr>
          <p:nvPr/>
        </p:nvPicPr>
        <p:blipFill>
          <a:blip xmlns:r="http://schemas.openxmlformats.org/officeDocument/2006/relationships" xmlns:a="http://schemas.openxmlformats.org/drawingml/2006/main" r:embed="R645b3eb4f9944e94">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B83A35C1-CB69-44B8-89F0-750064604AB9}"/>
              </a:ext>
            </a:extLst>
          </p:cNvPr>
          <p:cNvPicPr>
            <a:picLocks xmlns:a="http://schemas.openxmlformats.org/drawingml/2006/main" noChangeAspect="1"/>
          </p:cNvPicPr>
          <p:nvPr/>
        </p:nvPicPr>
        <p:blipFill>
          <a:blip xmlns:r="http://schemas.openxmlformats.org/officeDocument/2006/relationships" xmlns:a="http://schemas.openxmlformats.org/drawingml/2006/main" r:embed="R0c741888536e43bc">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F7629825-3502-49B7-9DBC-9033905FDBCB}"/>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Account upgrades wait about 7 days</a:t>
            </a:r>
          </a:p>
        </p:txBody>
      </p:sp>
    </p:spTree>
    <p:extLst>
      <p:ext uri="{BB962C8B-B14F-4D97-AF65-F5344CB8AC3E}">
        <p14:creationId xmlns:p14="http://schemas.microsoft.com/office/powerpoint/2010/main" val="17325993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36" name="Google Shape;136;p19">
            <a:extLst xmlns:a="http://schemas.openxmlformats.org/drawingml/2006/main">
              <a:ext uri="{FF2B5EF4-FFF2-40B4-BE49-F238E27FC236}">
                <a16:creationId xmlns:a16="http://schemas.microsoft.com/office/drawing/2014/main" id="{6E8251FA-265D-4926-AD3B-EBF261F506F2}"/>
              </a:ext>
            </a:extLst>
          </p:cNvPr>
          <p:cNvSpPr>
            <a:spLocks xmlns:a="http://schemas.openxmlformats.org/drawingml/2006/main" noGrp="1"/>
          </p:cNvSpPr>
          <p:nvPr/>
        </p:nvSpPr>
        <p:spPr>
          <a:xfrm xmlns:a="http://schemas.openxmlformats.org/drawingml/2006/main">
            <a:off x="3031396" y="849570"/>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A C C O U N T S</a:t>
            </a:r>
            <a:endParaRPr sz="1000" b="1">
              <a:solidFill>
                <a:schemeClr val="dk1"/>
              </a:solidFill>
              <a:latin typeface="Inter"/>
              <a:ea typeface="Inter"/>
              <a:cs typeface="Inter"/>
            </a:endParaRPr>
          </a:p>
        </p:txBody>
      </p:sp>
      <p:sp>
        <p:nvSpPr>
          <p:cNvPr id="137" name="Google Shape;137;p19">
            <a:extLst xmlns:a="http://schemas.openxmlformats.org/drawingml/2006/main">
              <a:ext uri="{FF2B5EF4-FFF2-40B4-BE49-F238E27FC236}">
                <a16:creationId xmlns:a16="http://schemas.microsoft.com/office/drawing/2014/main" id="{4E94503B-D305-4E29-91D0-1D91CAC31978}"/>
              </a:ext>
            </a:extLst>
          </p:cNvPr>
          <p:cNvSpPr>
            <a:spLocks xmlns:a="http://schemas.openxmlformats.org/drawingml/2006/main" noGrp="1"/>
          </p:cNvSpPr>
          <p:nvPr/>
        </p:nvSpPr>
        <p:spPr>
          <a:xfrm xmlns:a="http://schemas.openxmlformats.org/drawingml/2006/main">
            <a:off x="3028950" y="1219200"/>
            <a:ext cx="57150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ACCOUNTS AND</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FACTORIES</a:t>
            </a:r>
            <a:endParaRPr sz="3900" spc="-231">
              <a:solidFill>
                <a:schemeClr val="dk1"/>
              </a:solidFill>
              <a:latin typeface="Inter Medium"/>
              <a:ea typeface="Inter Medium"/>
              <a:cs typeface="Inter Medium"/>
            </a:endParaRPr>
          </a:p>
        </p:txBody>
      </p:sp>
      <p:sp>
        <p:nvSpPr>
          <p:cNvPr id="138" name="Google Shape;138;p19">
            <a:extLst xmlns:a="http://schemas.openxmlformats.org/drawingml/2006/main">
              <a:ext uri="{FF2B5EF4-FFF2-40B4-BE49-F238E27FC236}">
                <a16:creationId xmlns:a16="http://schemas.microsoft.com/office/drawing/2014/main" id="{D59B081D-7B3D-4815-A077-469375FB208E}"/>
              </a:ext>
            </a:extLst>
          </p:cNvPr>
          <p:cNvSpPr>
            <a:spLocks xmlns:a="http://schemas.openxmlformats.org/drawingml/2006/main" noGrp="1"/>
          </p:cNvSpPr>
          <p:nvPr/>
        </p:nvSpPr>
        <p:spPr>
          <a:xfrm xmlns:a="http://schemas.openxmlformats.org/drawingml/2006/main">
            <a:off x="3038475" y="2619375"/>
            <a:ext cx="5619750" cy="118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defPPr>
          </a:lstStyle>
          <a:p xmlns:a="http://schemas.openxmlformats.org/drawingml/2006/main">
            <a:pPr>
              <a:lnSpc>
                <a:spcPct val="110000"/>
              </a:lnSpc>
              <a:spcAft>
                <a:spcPts val="900"/>
              </a:spcAft>
              <a:buNone/>
              <a:defRPr sz="1500"/>
            </a:pPr>
            <a:r>
              <a:rPr sz="1500">
                <a:solidFill>
                  <a:srgbClr val="000000"/>
                </a:solidFill>
                <a:latin typeface="Inter"/>
                <a:ea typeface="Inter"/>
                <a:cs typeface="Inter"/>
              </a:rPr>
              <a:t>Rule 0, admin, covers calls on the account itself, including apply_doc: full owner authority.</a:t>
            </a:r>
          </a:p>
          <a:p xmlns:a="http://schemas.openxmlformats.org/drawingml/2006/main">
            <a:pPr>
              <a:lnSpc>
                <a:spcPct val="110000"/>
              </a:lnSpc>
              <a:spcAft>
                <a:spcPts val="900"/>
              </a:spcAft>
              <a:buNone/>
              <a:defRPr sz="1500"/>
            </a:pPr>
            <a:r>
              <a:rPr sz="1500">
                <a:solidFill>
                  <a:srgbClr val="000000"/>
                </a:solidFill>
                <a:latin typeface="Inter"/>
                <a:ea typeface="Inter"/>
                <a:cs typeface="Inter"/>
              </a:rPr>
              <a:t>Perch’s factory derives the address from the admin signers.</a:t>
            </a:r>
          </a:p>
          <a:p xmlns:a="http://schemas.openxmlformats.org/drawingml/2006/main">
            <a:pPr>
              <a:lnSpc>
                <a:spcPct val="110000"/>
              </a:lnSpc>
              <a:buNone/>
              <a:defRPr sz="1500"/>
            </a:pPr>
            <a:r>
              <a:rPr sz="1500">
                <a:solidFill>
                  <a:srgbClr val="000000"/>
                </a:solidFill>
                <a:latin typeface="Inter"/>
                <a:ea typeface="Inter"/>
                <a:cs typeface="Inter"/>
              </a:rPr>
              <a:t>Nido’s factory reserves the address before the passkey exists.</a:t>
            </a:r>
          </a:p>
        </p:txBody>
      </p:sp>
      <p:pic>
        <p:nvPicPr>
          <p:cNvPr id="139" name="Google Shape;139;p19">
            <a:extLst xmlns:a="http://schemas.openxmlformats.org/drawingml/2006/main">
              <a:ext uri="{FF2B5EF4-FFF2-40B4-BE49-F238E27FC236}">
                <a16:creationId xmlns:a16="http://schemas.microsoft.com/office/drawing/2014/main" id="{5826448D-0A09-478E-990F-C3A369DF09C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bbbab7dadf94a90">
            <a:alphaModFix/>
          </a:blip>
          <a:srcRect xmlns:a="http://schemas.openxmlformats.org/drawingml/2006/main" l="44448" t="2095" r="26037" b="0"/>
          <a:stretch xmlns:a="http://schemas.openxmlformats.org/drawingml/2006/main"/>
        </p:blipFill>
        <p:spPr>
          <a:xfrm xmlns:a="http://schemas.openxmlformats.org/drawingml/2006/main">
            <a:off x="0" y="0"/>
            <a:ext cx="2520000" cy="5035825"/>
          </a:xfrm>
          <a:prstGeom xmlns:a="http://schemas.openxmlformats.org/drawingml/2006/main" prst="rect">
            <a:avLst/>
          </a:prstGeom>
          <a:ln xmlns:a="http://schemas.openxmlformats.org/drawingml/2006/main">
            <a:noFill/>
          </a:ln>
        </p:spPr>
      </p:pic>
      <p:pic>
        <p:nvPicPr>
          <p:cNvPr id="140" name="Google Shape;140;p19">
            <a:extLst xmlns:a="http://schemas.openxmlformats.org/drawingml/2006/main">
              <a:ext uri="{FF2B5EF4-FFF2-40B4-BE49-F238E27FC236}">
                <a16:creationId xmlns:a16="http://schemas.microsoft.com/office/drawing/2014/main" id="{89C8D730-15E7-49A9-AB77-796CFD73C4D9}"/>
              </a:ext>
            </a:extLst>
          </p:cNvPr>
          <p:cNvPicPr>
            <a:picLocks xmlns:a="http://schemas.openxmlformats.org/drawingml/2006/main" noChangeAspect="1"/>
          </p:cNvPicPr>
          <p:nvPr/>
        </p:nvPicPr>
        <p:blipFill>
          <a:blip xmlns:r="http://schemas.openxmlformats.org/officeDocument/2006/relationships" xmlns:a="http://schemas.openxmlformats.org/drawingml/2006/main" r:embed="R91959e2e71b34872">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41" name="Google Shape;141;p19">
            <a:extLst xmlns:a="http://schemas.openxmlformats.org/drawingml/2006/main">
              <a:ext uri="{FF2B5EF4-FFF2-40B4-BE49-F238E27FC236}">
                <a16:creationId xmlns:a16="http://schemas.microsoft.com/office/drawing/2014/main" id="{2164DA10-1420-4DB7-8FAA-B309FC7ECF59}"/>
              </a:ext>
            </a:extLst>
          </p:cNvPr>
          <p:cNvPicPr>
            <a:picLocks xmlns:a="http://schemas.openxmlformats.org/drawingml/2006/main" noChangeAspect="1"/>
          </p:cNvPicPr>
          <p:nvPr/>
        </p:nvPicPr>
        <p:blipFill>
          <a:blip xmlns:r="http://schemas.openxmlformats.org/officeDocument/2006/relationships" xmlns:a="http://schemas.openxmlformats.org/drawingml/2006/main" r:embed="R27ae3079aed14b39">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56152811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WHAT AN APP CAN ASK NIDO FOR</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T H E   D A P P   I N T E R F A C E</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1b67c993dd85461b">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594115366c1b47cb">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461265e353e54679">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B73A5DDD-4B71-424A-B66E-9DEDFD371863}"/>
              </a:ext>
            </a:extLst>
          </p:cNvPr>
          <p:cNvSpPr>
            <a:spLocks xmlns:a="http://schemas.openxmlformats.org/drawingml/2006/main" noGrp="1"/>
          </p:cNvSpPr>
          <p:nvPr/>
        </p:nvSpPr>
        <p:spPr>
          <a:xfrm xmlns:a="http://schemas.openxmlformats.org/drawingml/2006/main">
            <a:off x="495300"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CONNECT</a:t>
            </a:r>
          </a:p>
        </p:txBody>
      </p:sp>
      <p:sp>
        <p:nvSpPr>
          <p:cNvPr id="161" name="">
            <a:extLst xmlns:a="http://schemas.openxmlformats.org/drawingml/2006/main">
              <a:ext uri="{FF2B5EF4-FFF2-40B4-BE49-F238E27FC236}">
                <a16:creationId xmlns:a16="http://schemas.microsoft.com/office/drawing/2014/main" id="{8F715082-BC82-40BB-B81C-913DF7A7969D}"/>
              </a:ext>
            </a:extLst>
          </p:cNvPr>
          <p:cNvSpPr>
            <a:spLocks xmlns:a="http://schemas.openxmlformats.org/drawingml/2006/main" noGrp="1"/>
          </p:cNvSpPr>
          <p:nvPr/>
        </p:nvSpPr>
        <p:spPr>
          <a:xfrm xmlns:a="http://schemas.openxmlformats.org/drawingml/2006/main">
            <a:off x="495300"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The account’s C-address, and nothing else.</a:t>
            </a:r>
          </a:p>
        </p:txBody>
      </p:sp>
      <p:sp>
        <p:nvSpPr>
          <p:cNvPr id="162" name="">
            <a:extLst xmlns:a="http://schemas.openxmlformats.org/drawingml/2006/main">
              <a:ext uri="{FF2B5EF4-FFF2-40B4-BE49-F238E27FC236}">
                <a16:creationId xmlns:a16="http://schemas.microsoft.com/office/drawing/2014/main" id="{802DE341-B997-4148-9FC9-59CE73BF4207}"/>
              </a:ext>
            </a:extLst>
          </p:cNvPr>
          <p:cNvSpPr>
            <a:spLocks xmlns:a="http://schemas.openxmlformats.org/drawingml/2006/main" noGrp="1"/>
          </p:cNvSpPr>
          <p:nvPr/>
        </p:nvSpPr>
        <p:spPr>
          <a:xfrm xmlns:a="http://schemas.openxmlformats.org/drawingml/2006/main">
            <a:off x="4752975"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SIGN ONE TRANSACTION</a:t>
            </a:r>
          </a:p>
        </p:txBody>
      </p:sp>
      <p:sp>
        <p:nvSpPr>
          <p:cNvPr id="163" name="">
            <a:extLst xmlns:a="http://schemas.openxmlformats.org/drawingml/2006/main">
              <a:ext uri="{FF2B5EF4-FFF2-40B4-BE49-F238E27FC236}">
                <a16:creationId xmlns:a16="http://schemas.microsoft.com/office/drawing/2014/main" id="{F58FED67-F038-4034-B09E-EC4E120A51AA}"/>
              </a:ext>
            </a:extLst>
          </p:cNvPr>
          <p:cNvSpPr>
            <a:spLocks xmlns:a="http://schemas.openxmlformats.org/drawingml/2006/main" noGrp="1"/>
          </p:cNvSpPr>
          <p:nvPr/>
        </p:nvSpPr>
        <p:spPr>
          <a:xfrm xmlns:a="http://schemas.openxmlformats.org/drawingml/2006/main">
            <a:off x="4752975"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A passkey popup. Nido’s relayer submits and returns the hash. Calls on the account only.</a:t>
            </a:r>
          </a:p>
        </p:txBody>
      </p:sp>
      <p:sp>
        <p:nvSpPr>
          <p:cNvPr id="164" name="">
            <a:extLst xmlns:a="http://schemas.openxmlformats.org/drawingml/2006/main">
              <a:ext uri="{FF2B5EF4-FFF2-40B4-BE49-F238E27FC236}">
                <a16:creationId xmlns:a16="http://schemas.microsoft.com/office/drawing/2014/main" id="{ADDAD5B8-C9BF-400B-9780-495FB7B67164}"/>
              </a:ext>
            </a:extLst>
          </p:cNvPr>
          <p:cNvSpPr>
            <a:spLocks xmlns:a="http://schemas.openxmlformats.org/drawingml/2006/main" noGrp="1"/>
          </p:cNvSpPr>
          <p:nvPr/>
        </p:nvSpPr>
        <p:spPr>
          <a:xfrm xmlns:a="http://schemas.openxmlformats.org/drawingml/2006/main">
            <a:off x="495300"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A SCOPED SESSION</a:t>
            </a:r>
          </a:p>
        </p:txBody>
      </p:sp>
      <p:sp>
        <p:nvSpPr>
          <p:cNvPr id="165" name="">
            <a:extLst xmlns:a="http://schemas.openxmlformats.org/drawingml/2006/main">
              <a:ext uri="{FF2B5EF4-FFF2-40B4-BE49-F238E27FC236}">
                <a16:creationId xmlns:a16="http://schemas.microsoft.com/office/drawing/2014/main" id="{1C747C07-73DF-4A72-88D7-5469C9846FFA}"/>
              </a:ext>
            </a:extLst>
          </p:cNvPr>
          <p:cNvSpPr>
            <a:spLocks xmlns:a="http://schemas.openxmlformats.org/drawingml/2006/main" noGrp="1"/>
          </p:cNvSpPr>
          <p:nvPr/>
        </p:nvSpPr>
        <p:spPr>
          <a:xfrm xmlns:a="http://schemas.openxmlformats.org/drawingml/2006/main">
            <a:off x="495300"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The app holds a key; the owner approves a rule for it once.</a:t>
            </a:r>
          </a:p>
        </p:txBody>
      </p:sp>
      <p:sp>
        <p:nvSpPr>
          <p:cNvPr id="166" name="">
            <a:extLst xmlns:a="http://schemas.openxmlformats.org/drawingml/2006/main">
              <a:ext uri="{FF2B5EF4-FFF2-40B4-BE49-F238E27FC236}">
                <a16:creationId xmlns:a16="http://schemas.microsoft.com/office/drawing/2014/main" id="{2542F48E-43A1-43F6-B0C0-E73761745C36}"/>
              </a:ext>
            </a:extLst>
          </p:cNvPr>
          <p:cNvSpPr>
            <a:spLocks xmlns:a="http://schemas.openxmlformats.org/drawingml/2006/main" noGrp="1"/>
          </p:cNvSpPr>
          <p:nvPr/>
        </p:nvSpPr>
        <p:spPr>
          <a:xfrm xmlns:a="http://schemas.openxmlformats.org/drawingml/2006/main">
            <a:off x="4752975"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NOT THE ACCOUNT ITSELF</a:t>
            </a:r>
          </a:p>
        </p:txBody>
      </p:sp>
      <p:sp>
        <p:nvSpPr>
          <p:cNvPr id="167" name="">
            <a:extLst xmlns:a="http://schemas.openxmlformats.org/drawingml/2006/main">
              <a:ext uri="{FF2B5EF4-FFF2-40B4-BE49-F238E27FC236}">
                <a16:creationId xmlns:a16="http://schemas.microsoft.com/office/drawing/2014/main" id="{0B923E4A-6398-4C27-B6B7-A791558502BB}"/>
              </a:ext>
            </a:extLst>
          </p:cNvPr>
          <p:cNvSpPr>
            <a:spLocks xmlns:a="http://schemas.openxmlformats.org/drawingml/2006/main" noGrp="1"/>
          </p:cNvSpPr>
          <p:nvPr/>
        </p:nvSpPr>
        <p:spPr>
          <a:xfrm xmlns:a="http://schemas.openxmlformats.org/drawingml/2006/main">
            <a:off x="4752975"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Recovery, devices and policies stay in Nido’s own pages.</a:t>
            </a:r>
          </a:p>
        </p:txBody>
      </p:sp>
    </p:spTree>
    <p:extLst>
      <p:ext uri="{BB962C8B-B14F-4D97-AF65-F5344CB8AC3E}">
        <p14:creationId xmlns:p14="http://schemas.microsoft.com/office/powerpoint/2010/main" val="1677956668"/>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A PASSKEY ACCOUNT</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The C-address exists first</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A L K T H R O U G H   ·   S I G N   I N</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Bound to the account’s subdomain</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5 test XLM, fees sponsored</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cddcd80c72f84ff1">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72afc5484f6f4651">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DDC43B1C-C01C-480E-8B66-E78973DD2645}"/>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RESERVE</a:t>
            </a:r>
          </a:p>
        </p:txBody>
      </p:sp>
      <p:sp>
        <p:nvSpPr>
          <p:cNvPr id="189" name="">
            <a:extLst xmlns:a="http://schemas.openxmlformats.org/drawingml/2006/main">
              <a:ext uri="{FF2B5EF4-FFF2-40B4-BE49-F238E27FC236}">
                <a16:creationId xmlns:a16="http://schemas.microsoft.com/office/drawing/2014/main" id="{E82C48D8-A463-46A5-957C-4517BA180A5F}"/>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ONE PASSKEY</a:t>
            </a:r>
          </a:p>
        </p:txBody>
      </p:sp>
      <p:sp>
        <p:nvSpPr>
          <p:cNvPr id="190" name="">
            <a:extLst xmlns:a="http://schemas.openxmlformats.org/drawingml/2006/main">
              <a:ext uri="{FF2B5EF4-FFF2-40B4-BE49-F238E27FC236}">
                <a16:creationId xmlns:a16="http://schemas.microsoft.com/office/drawing/2014/main" id="{2DE42CF2-68DC-4DB4-B344-4CAF095943A9}"/>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FUNDED</a:t>
            </a:r>
          </a:p>
        </p:txBody>
      </p:sp>
      <p:pic>
        <p:nvPicPr>
          <p:cNvPr id="191" name="">
            <a:extLst xmlns:a="http://schemas.openxmlformats.org/drawingml/2006/main">
              <a:ext uri="{FF2B5EF4-FFF2-40B4-BE49-F238E27FC236}">
                <a16:creationId xmlns:a16="http://schemas.microsoft.com/office/drawing/2014/main" id="{DEFCFE8B-09EE-4571-B2E2-0E65A596DFB3}"/>
              </a:ext>
            </a:extLst>
          </p:cNvPr>
          <p:cNvPicPr>
            <a:picLocks xmlns:a="http://schemas.openxmlformats.org/drawingml/2006/main" noChangeAspect="1"/>
          </p:cNvPicPr>
          <p:nvPr/>
        </p:nvPicPr>
        <p:blipFill>
          <a:blip xmlns:r="http://schemas.openxmlformats.org/officeDocument/2006/relationships" xmlns:a="http://schemas.openxmlformats.org/drawingml/2006/main" r:embed="R47597fe5d46e4f15"/>
          <a:srcRect xmlns:a="http://schemas.openxmlformats.org/drawingml/2006/main" l="34000" t="13000" r="34000" b="12000"/>
          <a:stretch xmlns:a="http://schemas.openxmlformats.org/drawingml/2006/main"/>
        </p:blipFill>
        <p:spPr>
          <a:xfrm xmlns:a="http://schemas.openxmlformats.org/drawingml/2006/main">
            <a:off x="1662693" y="1619250"/>
            <a:ext cx="2180065"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8BDD923D-3AE9-4561-994B-BD7D8E7C5E13}"/>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test.nido.fyi on testnet</a:t>
            </a:r>
          </a:p>
        </p:txBody>
      </p:sp>
    </p:spTree>
    <p:extLst>
      <p:ext uri="{BB962C8B-B14F-4D97-AF65-F5344CB8AC3E}">
        <p14:creationId xmlns:p14="http://schemas.microsoft.com/office/powerpoint/2010/main" val="180511924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CONNECT, THEN ASK ONCE</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From the usual wallet list</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A L K T H R O U G H   ·   C O N N E C T</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C-address and its XLM balance</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Two rules, two confirmations</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46b1b856f89a42f5">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303a815901d94814">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045A093D-D3E9-4F07-895D-FFDF34DD6BA3}"/>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PICK NIDO</a:t>
            </a:r>
          </a:p>
        </p:txBody>
      </p:sp>
      <p:sp>
        <p:nvSpPr>
          <p:cNvPr id="189" name="">
            <a:extLst xmlns:a="http://schemas.openxmlformats.org/drawingml/2006/main">
              <a:ext uri="{FF2B5EF4-FFF2-40B4-BE49-F238E27FC236}">
                <a16:creationId xmlns:a16="http://schemas.microsoft.com/office/drawing/2014/main" id="{7124C611-48C7-4E54-A136-574B54297E26}"/>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THE ACCOUNT</a:t>
            </a:r>
          </a:p>
        </p:txBody>
      </p:sp>
      <p:sp>
        <p:nvSpPr>
          <p:cNvPr id="190" name="">
            <a:extLst xmlns:a="http://schemas.openxmlformats.org/drawingml/2006/main">
              <a:ext uri="{FF2B5EF4-FFF2-40B4-BE49-F238E27FC236}">
                <a16:creationId xmlns:a16="http://schemas.microsoft.com/office/drawing/2014/main" id="{FC10E779-1F7F-4A5A-8516-14B510EF21E5}"/>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ONE REQUEST</a:t>
            </a:r>
          </a:p>
        </p:txBody>
      </p:sp>
      <p:pic>
        <p:nvPicPr>
          <p:cNvPr id="191" name="">
            <a:extLst xmlns:a="http://schemas.openxmlformats.org/drawingml/2006/main">
              <a:ext uri="{FF2B5EF4-FFF2-40B4-BE49-F238E27FC236}">
                <a16:creationId xmlns:a16="http://schemas.microsoft.com/office/drawing/2014/main" id="{76E9CEB7-4E14-4D4C-BF21-5317BF8B6FE1}"/>
              </a:ext>
            </a:extLst>
          </p:cNvPr>
          <p:cNvPicPr>
            <a:picLocks xmlns:a="http://schemas.openxmlformats.org/drawingml/2006/main" noChangeAspect="1"/>
          </p:cNvPicPr>
          <p:nvPr/>
        </p:nvPicPr>
        <p:blipFill>
          <a:blip xmlns:r="http://schemas.openxmlformats.org/officeDocument/2006/relationships" xmlns:a="http://schemas.openxmlformats.org/drawingml/2006/main" r:embed="R5d7249e7a6194729"/>
          <a:srcRect xmlns:a="http://schemas.openxmlformats.org/drawingml/2006/main" l="17000" t="0" r="17000" b="2000"/>
          <a:stretch xmlns:a="http://schemas.openxmlformats.org/drawingml/2006/main"/>
        </p:blipFill>
        <p:spPr>
          <a:xfrm xmlns:a="http://schemas.openxmlformats.org/drawingml/2006/main">
            <a:off x="1032170" y="1619250"/>
            <a:ext cx="3441110"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057379AC-3657-429D-93CC-B196A11CE483}"/>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Kudos Jar, running locally</a:t>
            </a:r>
          </a:p>
        </p:txBody>
      </p:sp>
    </p:spTree>
    <p:extLst>
      <p:ext uri="{BB962C8B-B14F-4D97-AF65-F5344CB8AC3E}">
        <p14:creationId xmlns:p14="http://schemas.microsoft.com/office/powerpoint/2010/main" val="18051192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ACCOUNT’S POLICY</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7F78163A-75A1-4DE8-B324-ED669835AB61}"/>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Hash checked against the chain</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A F T E R W A R D S</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DA9BCFD1-37B8-4D06-B29D-D3DA73997C01}"/>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admin, kudos-tip, kudos-xlm</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D1B905DC-342A-4DBA-82E0-ECE24EB8C71B}"/>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 passkey and the app’s key</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afd2c215fe804b14">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832efe22488148da">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FB8629F9-F22C-4790-8E84-0F58032CD735}"/>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DOCUMENT</a:t>
            </a:r>
          </a:p>
        </p:txBody>
      </p:sp>
      <p:sp>
        <p:nvSpPr>
          <p:cNvPr id="189" name="">
            <a:extLst xmlns:a="http://schemas.openxmlformats.org/drawingml/2006/main">
              <a:ext uri="{FF2B5EF4-FFF2-40B4-BE49-F238E27FC236}">
                <a16:creationId xmlns:a16="http://schemas.microsoft.com/office/drawing/2014/main" id="{FC828BF9-364E-4C9C-BEE5-80C368599926}"/>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RULES</a:t>
            </a:r>
          </a:p>
        </p:txBody>
      </p:sp>
      <p:sp>
        <p:nvSpPr>
          <p:cNvPr id="190" name="">
            <a:extLst xmlns:a="http://schemas.openxmlformats.org/drawingml/2006/main">
              <a:ext uri="{FF2B5EF4-FFF2-40B4-BE49-F238E27FC236}">
                <a16:creationId xmlns:a16="http://schemas.microsoft.com/office/drawing/2014/main" id="{D4CADDD3-3517-401E-A712-EAA4E4DC33B8}"/>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KEYS</a:t>
            </a:r>
          </a:p>
        </p:txBody>
      </p:sp>
      <p:pic>
        <p:nvPicPr>
          <p:cNvPr id="191" name="">
            <a:extLst xmlns:a="http://schemas.openxmlformats.org/drawingml/2006/main">
              <a:ext uri="{FF2B5EF4-FFF2-40B4-BE49-F238E27FC236}">
                <a16:creationId xmlns:a16="http://schemas.microsoft.com/office/drawing/2014/main" id="{4B0EA72A-603D-4504-AEDD-6E3D3577BE16}"/>
              </a:ext>
            </a:extLst>
          </p:cNvPr>
          <p:cNvPicPr>
            <a:picLocks xmlns:a="http://schemas.openxmlformats.org/drawingml/2006/main" noChangeAspect="1"/>
          </p:cNvPicPr>
          <p:nvPr/>
        </p:nvPicPr>
        <p:blipFill>
          <a:blip xmlns:r="http://schemas.openxmlformats.org/officeDocument/2006/relationships" xmlns:a="http://schemas.openxmlformats.org/drawingml/2006/main" r:embed="Re5f345480d0e451e"/>
          <a:srcRect xmlns:a="http://schemas.openxmlformats.org/drawingml/2006/main" l="41000" t="8000" r="23000" b="38000"/>
          <a:stretch xmlns:a="http://schemas.openxmlformats.org/drawingml/2006/main"/>
        </p:blipFill>
        <p:spPr>
          <a:xfrm xmlns:a="http://schemas.openxmlformats.org/drawingml/2006/main">
            <a:off x="1049549" y="1619250"/>
            <a:ext cx="3406351"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43C28B8D-7739-446A-B027-AF9ABFDB462B}"/>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Nido’s policy page</a:t>
            </a:r>
          </a:p>
        </p:txBody>
      </p:sp>
    </p:spTree>
    <p:extLst>
      <p:ext uri="{BB962C8B-B14F-4D97-AF65-F5344CB8AC3E}">
        <p14:creationId xmlns:p14="http://schemas.microsoft.com/office/powerpoint/2010/main" val="180511924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415CCF48-275A-4280-BE2D-81D0AD6DA73E}"/>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CC88EE6D-A149-4167-A677-05E624EF4A14}"/>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KUDOS JAR’S CALL SITE</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CBC2DE05-8C00-4322-86D5-A5AA89550F3E}"/>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T H E   R E A C T   C A L L   S I T E</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4BC7E6E9-7899-4F53-BBF5-53D802F1BC0E}"/>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CC313112-A239-4A64-904D-5C70F4F88454}"/>
              </a:ext>
            </a:extLst>
          </p:cNvPr>
          <p:cNvPicPr>
            <a:picLocks xmlns:a="http://schemas.openxmlformats.org/drawingml/2006/main" noChangeAspect="1"/>
          </p:cNvPicPr>
          <p:nvPr/>
        </p:nvPicPr>
        <p:blipFill>
          <a:blip xmlns:r="http://schemas.openxmlformats.org/officeDocument/2006/relationships" xmlns:a="http://schemas.openxmlformats.org/drawingml/2006/main" r:embed="R2558ac691ad245dc">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C521355D-F330-46CE-90F2-2525BEA61BD5}"/>
              </a:ext>
            </a:extLst>
          </p:cNvPr>
          <p:cNvPicPr>
            <a:picLocks xmlns:a="http://schemas.openxmlformats.org/drawingml/2006/main" noChangeAspect="1"/>
          </p:cNvPicPr>
          <p:nvPr/>
        </p:nvPicPr>
        <p:blipFill>
          <a:blip xmlns:r="http://schemas.openxmlformats.org/officeDocument/2006/relationships" xmlns:a="http://schemas.openxmlformats.org/drawingml/2006/main" r:embed="Rb93dfd19fc094a69">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D1A8CA3F-9FB1-46F3-9213-07D421008A70}"/>
              </a:ext>
            </a:extLst>
          </p:cNvPr>
          <p:cNvSpPr>
            <a:spLocks xmlns:a="http://schemas.openxmlformats.org/drawingml/2006/main" noGrp="1"/>
          </p:cNvSpPr>
          <p:nvPr/>
        </p:nvSpPr>
        <p:spPr>
          <a:xfrm xmlns:a="http://schemas.openxmlformats.org/drawingml/2006/main">
            <a:off x="657225" y="1600200"/>
            <a:ext cx="7896225" cy="1752600"/>
          </a:xfrm>
          <a:prstGeom xmlns:a="http://schemas.openxmlformats.org/drawingml/2006/main" prst="roundRect">
            <a:avLst>
              <a:gd name="adj" fmla="val 4348"/>
            </a:avLst>
          </a:prstGeom>
          <a:solidFill xmlns:a="http://schemas.openxmlformats.org/drawingml/2006/main">
            <a:srgbClr val="161616"/>
          </a:solidFill>
          <a:ln xmlns:a="http://schemas.openxmlformats.org/drawingml/2006/main" w="9525">
            <a:solidFill>
              <a:srgbClr val="2E2E2E"/>
            </a:solidFill>
            <a:prstDash val="solid"/>
          </a:ln>
        </p:spPr>
      </p:sp>
      <p:sp>
        <p:nvSpPr>
          <p:cNvPr id="189" name="">
            <a:extLst xmlns:a="http://schemas.openxmlformats.org/drawingml/2006/main">
              <a:ext uri="{FF2B5EF4-FFF2-40B4-BE49-F238E27FC236}">
                <a16:creationId xmlns:a16="http://schemas.microsoft.com/office/drawing/2014/main" id="{639DCA3E-9E56-4BF4-B3DE-EACFCA5CDEA8}"/>
              </a:ext>
            </a:extLst>
          </p:cNvPr>
          <p:cNvSpPr>
            <a:spLocks xmlns:a="http://schemas.openxmlformats.org/drawingml/2006/main" noGrp="1"/>
          </p:cNvSpPr>
          <p:nvPr/>
        </p:nvSpPr>
        <p:spPr>
          <a:xfrm xmlns:a="http://schemas.openxmlformats.org/drawingml/2006/main">
            <a:off x="6858000" y="1695450"/>
            <a:ext cx="1524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lgn="r"/>
          </a:lstStyle>
          <a:p xmlns:a="http://schemas.openxmlformats.org/drawingml/2006/main">
            <a:pPr algn="r"/>
            <a:r>
              <a:rPr sz="825" b="0">
                <a:solidFill>
                  <a:srgbClr val="8C8C8C"/>
                </a:solidFill>
                <a:latin typeface="Inter"/>
                <a:ea typeface="Inter"/>
                <a:cs typeface="Inter"/>
              </a:rPr>
              <a:t>TypeScript</a:t>
            </a:r>
          </a:p>
        </p:txBody>
      </p:sp>
      <p:sp>
        <p:nvSpPr>
          <p:cNvPr id="190" name="">
            <a:extLst xmlns:a="http://schemas.openxmlformats.org/drawingml/2006/main">
              <a:ext uri="{FF2B5EF4-FFF2-40B4-BE49-F238E27FC236}">
                <a16:creationId xmlns:a16="http://schemas.microsoft.com/office/drawing/2014/main" id="{DB414DDD-8295-4EA3-BD95-B1C709B16517}"/>
              </a:ext>
            </a:extLst>
          </p:cNvPr>
          <p:cNvSpPr>
            <a:spLocks xmlns:a="http://schemas.openxmlformats.org/drawingml/2006/main" noGrp="1"/>
          </p:cNvSpPr>
          <p:nvPr/>
        </p:nvSpPr>
        <p:spPr>
          <a:xfrm xmlns:a="http://schemas.openxmlformats.org/drawingml/2006/main">
            <a:off x="828675" y="1943100"/>
            <a:ext cx="75533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112000"/>
              </a:lnSpc>
              <a:buNone/>
            </a:pPr>
            <a:r>
              <a:rPr sz="1500" b="0">
                <a:solidFill>
                  <a:srgbClr val="FDDA24"/>
                </a:solidFill>
                <a:latin typeface="JetBrains Mono NL"/>
                <a:ea typeface="JetBrains Mono NL"/>
                <a:cs typeface="JetBrains Mono NL"/>
              </a:rPr>
              <a:t>const</a:t>
            </a:r>
            <a:r>
              <a:rPr sz="1500" b="0">
                <a:solidFill>
                  <a:srgbClr val="ECECEC"/>
                </a:solidFill>
                <a:latin typeface="JetBrains Mono NL"/>
                <a:ea typeface="JetBrains Mono NL"/>
                <a:cs typeface="JetBrains Mono NL"/>
              </a:rPr>
              <a:t> tx = </a:t>
            </a:r>
            <a:r>
              <a:rPr sz="1500" b="0">
                <a:solidFill>
                  <a:srgbClr val="FDDA24"/>
                </a:solidFill>
                <a:latin typeface="JetBrains Mono NL"/>
                <a:ea typeface="JetBrains Mono NL"/>
                <a:cs typeface="JetBrains Mono NL"/>
              </a:rPr>
              <a:t>await</a:t>
            </a:r>
            <a:r>
              <a:rPr sz="1500" b="0">
                <a:solidFill>
                  <a:srgbClr val="ECECEC"/>
                </a:solidFill>
                <a:latin typeface="JetBrains Mono NL"/>
                <a:ea typeface="JetBrains Mono NL"/>
                <a:cs typeface="JetBrains Mono NL"/>
              </a:rPr>
              <a:t> kudosJar.</a:t>
            </a:r>
            <a:r>
              <a:rPr sz="1500" b="0">
                <a:solidFill>
                  <a:srgbClr val="89B4FA"/>
                </a:solidFill>
                <a:latin typeface="JetBrains Mono NL"/>
                <a:ea typeface="JetBrains Mono NL"/>
                <a:cs typeface="JetBrains Mono NL"/>
              </a:rPr>
              <a:t>tip</a:t>
            </a:r>
            <a:r>
              <a:rPr sz="1500" b="0">
                <a:solidFill>
                  <a:srgbClr val="ECECEC"/>
                </a:solidFill>
                <a:latin typeface="JetBrains Mono NL"/>
                <a:ea typeface="JetBrains Mono NL"/>
                <a:cs typeface="JetBrains Mono NL"/>
              </a:rPr>
              <a:t>(</a:t>
            </a:r>
          </a:p>
          <a:p xmlns:a="http://schemas.openxmlformats.org/drawingml/2006/main">
            <a:pPr>
              <a:lnSpc>
                <a:spcPct val="112000"/>
              </a:lnSpc>
              <a:buNone/>
            </a:pPr>
            <a:r>
              <a:rPr sz="1500" b="0">
                <a:solidFill>
                  <a:srgbClr val="ECECEC"/>
                </a:solidFill>
                <a:latin typeface="JetBrains Mono NL"/>
                <a:ea typeface="JetBrains Mono NL"/>
                <a:cs typeface="JetBrains Mono NL"/>
              </a:rPr>
              <a:t>  { </a:t>
            </a:r>
            <a:r>
              <a:rPr sz="1500" b="0">
                <a:solidFill>
                  <a:srgbClr val="FDDA24"/>
                </a:solidFill>
                <a:latin typeface="JetBrains Mono NL"/>
                <a:ea typeface="JetBrains Mono NL"/>
                <a:cs typeface="JetBrains Mono NL"/>
              </a:rPr>
              <a:t>from</a:t>
            </a:r>
            <a:r>
              <a:rPr sz="1500" b="0">
                <a:solidFill>
                  <a:srgbClr val="ECECEC"/>
                </a:solidFill>
                <a:latin typeface="JetBrains Mono NL"/>
                <a:ea typeface="JetBrains Mono NL"/>
                <a:cs typeface="JetBrains Mono NL"/>
              </a:rPr>
              <a:t>: address, </a:t>
            </a:r>
            <a:r>
              <a:rPr sz="1500" b="0">
                <a:solidFill>
                  <a:srgbClr val="89DCEB"/>
                </a:solidFill>
                <a:latin typeface="JetBrains Mono NL"/>
                <a:ea typeface="JetBrains Mono NL"/>
                <a:cs typeface="JetBrains Mono NL"/>
              </a:rPr>
              <a:t>team</a:t>
            </a:r>
            <a:r>
              <a:rPr sz="1500" b="0">
                <a:solidFill>
                  <a:srgbClr val="ECECEC"/>
                </a:solidFill>
                <a:latin typeface="JetBrains Mono NL"/>
                <a:ea typeface="JetBrains Mono NL"/>
                <a:cs typeface="JetBrains Mono NL"/>
              </a:rPr>
              <a:t>: team.id, </a:t>
            </a:r>
            <a:r>
              <a:rPr sz="1500" b="0">
                <a:solidFill>
                  <a:srgbClr val="89DCEB"/>
                </a:solidFill>
                <a:latin typeface="JetBrains Mono NL"/>
                <a:ea typeface="JetBrains Mono NL"/>
                <a:cs typeface="JetBrains Mono NL"/>
              </a:rPr>
              <a:t>amount</a:t>
            </a:r>
            <a:r>
              <a:rPr sz="1500" b="0">
                <a:solidFill>
                  <a:srgbClr val="ECECEC"/>
                </a:solidFill>
                <a:latin typeface="JetBrains Mono NL"/>
                <a:ea typeface="JetBrains Mono NL"/>
                <a:cs typeface="JetBrains Mono NL"/>
              </a:rPr>
              <a:t>: </a:t>
            </a:r>
            <a:r>
              <a:rPr sz="1500" b="0">
                <a:solidFill>
                  <a:srgbClr val="FAB387"/>
                </a:solidFill>
                <a:latin typeface="JetBrains Mono NL"/>
                <a:ea typeface="JetBrains Mono NL"/>
                <a:cs typeface="JetBrains Mono NL"/>
              </a:rPr>
              <a:t>5_000_000n</a:t>
            </a:r>
            <a:r>
              <a:rPr sz="1500" b="0">
                <a:solidFill>
                  <a:srgbClr val="ECECEC"/>
                </a:solidFill>
                <a:latin typeface="JetBrains Mono NL"/>
                <a:ea typeface="JetBrains Mono NL"/>
                <a:cs typeface="JetBrains Mono NL"/>
              </a:rPr>
              <a:t> },</a:t>
            </a:r>
          </a:p>
          <a:p xmlns:a="http://schemas.openxmlformats.org/drawingml/2006/main">
            <a:pPr>
              <a:lnSpc>
                <a:spcPct val="112000"/>
              </a:lnSpc>
              <a:buNone/>
            </a:pPr>
            <a:r>
              <a:rPr sz="1500" b="0">
                <a:solidFill>
                  <a:srgbClr val="ECECEC"/>
                </a:solidFill>
                <a:latin typeface="JetBrains Mono NL"/>
                <a:ea typeface="JetBrains Mono NL"/>
                <a:cs typeface="JetBrains Mono NL"/>
              </a:rPr>
              <a:t>  { </a:t>
            </a:r>
            <a:r>
              <a:rPr sz="1500" b="0">
                <a:solidFill>
                  <a:srgbClr val="89DCEB"/>
                </a:solidFill>
                <a:latin typeface="JetBrains Mono NL"/>
                <a:ea typeface="JetBrains Mono NL"/>
                <a:cs typeface="JetBrains Mono NL"/>
              </a:rPr>
              <a:t>publicKey</a:t>
            </a:r>
            <a:r>
              <a:rPr sz="1500" b="0">
                <a:solidFill>
                  <a:srgbClr val="ECECEC"/>
                </a:solidFill>
                <a:latin typeface="JetBrains Mono NL"/>
                <a:ea typeface="JetBrains Mono NL"/>
                <a:cs typeface="JetBrains Mono NL"/>
              </a:rPr>
              <a:t>: </a:t>
            </a:r>
            <a:r>
              <a:rPr sz="1500" b="0">
                <a:solidFill>
                  <a:srgbClr val="89B4FA"/>
                </a:solidFill>
                <a:latin typeface="JetBrains Mono NL"/>
                <a:ea typeface="JetBrains Mono NL"/>
                <a:cs typeface="JetBrains Mono NL"/>
              </a:rPr>
              <a:t>transactionSource</a:t>
            </a:r>
            <a:r>
              <a:rPr sz="1500" b="0">
                <a:solidFill>
                  <a:srgbClr val="ECECEC"/>
                </a:solidFill>
                <a:latin typeface="JetBrains Mono NL"/>
                <a:ea typeface="JetBrains Mono NL"/>
                <a:cs typeface="JetBrains Mono NL"/>
              </a:rPr>
              <a:t>(address) },</a:t>
            </a:r>
          </a:p>
          <a:p xmlns:a="http://schemas.openxmlformats.org/drawingml/2006/main">
            <a:pPr>
              <a:lnSpc>
                <a:spcPct val="112000"/>
              </a:lnSpc>
              <a:buNone/>
            </a:pPr>
            <a:r>
              <a:rPr sz="1500" b="0">
                <a:solidFill>
                  <a:srgbClr val="ECECEC"/>
                </a:solidFill>
                <a:latin typeface="JetBrains Mono NL"/>
                <a:ea typeface="JetBrains Mono NL"/>
                <a:cs typeface="JetBrains Mono NL"/>
              </a:rPr>
              <a:t>)</a:t>
            </a:r>
          </a:p>
          <a:p xmlns:a="http://schemas.openxmlformats.org/drawingml/2006/main">
            <a:pPr>
              <a:lnSpc>
                <a:spcPct val="112000"/>
              </a:lnSpc>
              <a:buNone/>
            </a:pPr>
            <a:r>
              <a:rPr sz="1500" b="0">
                <a:solidFill>
                  <a:srgbClr val="FDDA24"/>
                </a:solidFill>
                <a:latin typeface="JetBrains Mono NL"/>
                <a:ea typeface="JetBrains Mono NL"/>
                <a:cs typeface="JetBrains Mono NL"/>
              </a:rPr>
              <a:t>const</a:t>
            </a:r>
            <a:r>
              <a:rPr sz="1500" b="0">
                <a:solidFill>
                  <a:srgbClr val="ECECEC"/>
                </a:solidFill>
                <a:latin typeface="JetBrains Mono NL"/>
                <a:ea typeface="JetBrains Mono NL"/>
                <a:cs typeface="JetBrains Mono NL"/>
              </a:rPr>
              <a:t> { result } = </a:t>
            </a:r>
            <a:r>
              <a:rPr sz="1500" b="0">
                <a:solidFill>
                  <a:srgbClr val="FDDA24"/>
                </a:solidFill>
                <a:latin typeface="JetBrains Mono NL"/>
                <a:ea typeface="JetBrains Mono NL"/>
                <a:cs typeface="JetBrains Mono NL"/>
              </a:rPr>
              <a:t>await</a:t>
            </a:r>
            <a:r>
              <a:rPr sz="1500" b="0">
                <a:solidFill>
                  <a:srgbClr val="ECECEC"/>
                </a:solidFill>
                <a:latin typeface="JetBrains Mono NL"/>
                <a:ea typeface="JetBrains Mono NL"/>
                <a:cs typeface="JetBrains Mono NL"/>
              </a:rPr>
              <a:t> </a:t>
            </a:r>
            <a:r>
              <a:rPr sz="1500" b="0">
                <a:solidFill>
                  <a:srgbClr val="89B4FA"/>
                </a:solidFill>
                <a:latin typeface="JetBrains Mono NL"/>
                <a:ea typeface="JetBrains Mono NL"/>
                <a:cs typeface="JetBrains Mono NL"/>
              </a:rPr>
              <a:t>submitContract</a:t>
            </a:r>
            <a:r>
              <a:rPr sz="1500" b="0">
                <a:solidFill>
                  <a:srgbClr val="ECECEC"/>
                </a:solidFill>
                <a:latin typeface="JetBrains Mono NL"/>
                <a:ea typeface="JetBrains Mono NL"/>
                <a:cs typeface="JetBrains Mono NL"/>
              </a:rPr>
              <a:t>(tx, address)</a:t>
            </a:r>
          </a:p>
        </p:txBody>
      </p:sp>
      <p:sp>
        <p:nvSpPr>
          <p:cNvPr id="191" name="">
            <a:extLst xmlns:a="http://schemas.openxmlformats.org/drawingml/2006/main">
              <a:ext uri="{FF2B5EF4-FFF2-40B4-BE49-F238E27FC236}">
                <a16:creationId xmlns:a16="http://schemas.microsoft.com/office/drawing/2014/main" id="{7A06711D-1B02-4349-9881-BFF069752DD9}"/>
              </a:ext>
            </a:extLst>
          </p:cNvPr>
          <p:cNvSpPr>
            <a:spLocks xmlns:a="http://schemas.openxmlformats.org/drawingml/2006/main" noGrp="1"/>
          </p:cNvSpPr>
          <p:nvPr/>
        </p:nvSpPr>
        <p:spPr>
          <a:xfrm xmlns:a="http://schemas.openxmlformats.org/drawingml/2006/main">
            <a:off x="657225" y="3486150"/>
            <a:ext cx="7896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transactionSource and submitContract come from the template’s app-lib. submitCall now does both in one call.</a:t>
            </a:r>
          </a:p>
        </p:txBody>
      </p:sp>
    </p:spTree>
    <p:extLst>
      <p:ext uri="{BB962C8B-B14F-4D97-AF65-F5344CB8AC3E}">
        <p14:creationId xmlns:p14="http://schemas.microsoft.com/office/powerpoint/2010/main" val="180511924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WHAT THE AGENT TRIPPED ON</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F I X E D   I N   T H E   T E M P L A T E</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1481e25f2cdb4688">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674e60be8f944d49">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21b8c48275044f17">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409C31EB-9304-4026-A34B-7B60C19D9B2A}"/>
              </a:ext>
            </a:extLst>
          </p:cNvPr>
          <p:cNvSpPr>
            <a:spLocks xmlns:a="http://schemas.openxmlformats.org/drawingml/2006/main" noGrp="1"/>
          </p:cNvSpPr>
          <p:nvPr/>
        </p:nvSpPr>
        <p:spPr>
          <a:xfrm xmlns:a="http://schemas.openxmlformats.org/drawingml/2006/main">
            <a:off x="495300" y="1771650"/>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A SILENT OLD TOOL</a:t>
            </a:r>
          </a:p>
        </p:txBody>
      </p:sp>
      <p:sp>
        <p:nvSpPr>
          <p:cNvPr id="161" name="">
            <a:extLst xmlns:a="http://schemas.openxmlformats.org/drawingml/2006/main">
              <a:ext uri="{FF2B5EF4-FFF2-40B4-BE49-F238E27FC236}">
                <a16:creationId xmlns:a16="http://schemas.microsoft.com/office/drawing/2014/main" id="{ACF4233C-A109-4DB7-96C3-61A046761BCF}"/>
              </a:ext>
            </a:extLst>
          </p:cNvPr>
          <p:cNvSpPr>
            <a:spLocks xmlns:a="http://schemas.openxmlformats.org/drawingml/2006/main" noGrp="1"/>
          </p:cNvSpPr>
          <p:nvPr/>
        </p:nvSpPr>
        <p:spPr>
          <a:xfrm xmlns:a="http://schemas.openxmlformats.org/drawingml/2006/main">
            <a:off x="495300" y="2019300"/>
            <a:ext cx="24955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A global Scaffold too old for the config compiled contracts and wrote no clients. The template now installs its own.</a:t>
            </a:r>
          </a:p>
        </p:txBody>
      </p:sp>
      <p:sp>
        <p:nvSpPr>
          <p:cNvPr id="162" name="">
            <a:extLst xmlns:a="http://schemas.openxmlformats.org/drawingml/2006/main">
              <a:ext uri="{FF2B5EF4-FFF2-40B4-BE49-F238E27FC236}">
                <a16:creationId xmlns:a16="http://schemas.microsoft.com/office/drawing/2014/main" id="{57CD9101-0FCF-42A1-9D44-3EE7B9BC5D41}"/>
              </a:ext>
            </a:extLst>
          </p:cNvPr>
          <p:cNvSpPr>
            <a:spLocks xmlns:a="http://schemas.openxmlformats.org/drawingml/2006/main" noGrp="1"/>
          </p:cNvSpPr>
          <p:nvPr/>
        </p:nvSpPr>
        <p:spPr>
          <a:xfrm xmlns:a="http://schemas.openxmlformats.org/drawingml/2006/main">
            <a:off x="3333750" y="1771650"/>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A BLOCKED POPUP</a:t>
            </a:r>
          </a:p>
        </p:txBody>
      </p:sp>
      <p:sp>
        <p:nvSpPr>
          <p:cNvPr id="163" name="">
            <a:extLst xmlns:a="http://schemas.openxmlformats.org/drawingml/2006/main">
              <a:ext uri="{FF2B5EF4-FFF2-40B4-BE49-F238E27FC236}">
                <a16:creationId xmlns:a16="http://schemas.microsoft.com/office/drawing/2014/main" id="{9C304A9B-E8A9-4E72-8056-65635EEADC62}"/>
              </a:ext>
            </a:extLst>
          </p:cNvPr>
          <p:cNvSpPr>
            <a:spLocks xmlns:a="http://schemas.openxmlformats.org/drawingml/2006/main" noGrp="1"/>
          </p:cNvSpPr>
          <p:nvPr/>
        </p:nvSpPr>
        <p:spPr>
          <a:xfrm xmlns:a="http://schemas.openxmlformats.org/drawingml/2006/main">
            <a:off x="3333750" y="2019300"/>
            <a:ext cx="24955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The app simulated before opening Nido’s popup, and the browser forgot the click. The popup is now reserved during the click.</a:t>
            </a:r>
          </a:p>
        </p:txBody>
      </p:sp>
      <p:sp>
        <p:nvSpPr>
          <p:cNvPr id="164" name="">
            <a:extLst xmlns:a="http://schemas.openxmlformats.org/drawingml/2006/main">
              <a:ext uri="{FF2B5EF4-FFF2-40B4-BE49-F238E27FC236}">
                <a16:creationId xmlns:a16="http://schemas.microsoft.com/office/drawing/2014/main" id="{F1034F21-989B-4B11-8618-1253EAB3B325}"/>
              </a:ext>
            </a:extLst>
          </p:cNvPr>
          <p:cNvSpPr>
            <a:spLocks xmlns:a="http://schemas.openxmlformats.org/drawingml/2006/main" noGrp="1"/>
          </p:cNvSpPr>
          <p:nvPr/>
        </p:nvSpPr>
        <p:spPr>
          <a:xfrm xmlns:a="http://schemas.openxmlformats.org/drawingml/2006/main">
            <a:off x="6172200" y="1771650"/>
            <a:ext cx="2495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THE WRONG PATH, TWICE</a:t>
            </a:r>
          </a:p>
        </p:txBody>
      </p:sp>
      <p:sp>
        <p:nvSpPr>
          <p:cNvPr id="165" name="">
            <a:extLst xmlns:a="http://schemas.openxmlformats.org/drawingml/2006/main">
              <a:ext uri="{FF2B5EF4-FFF2-40B4-BE49-F238E27FC236}">
                <a16:creationId xmlns:a16="http://schemas.microsoft.com/office/drawing/2014/main" id="{C40C65C7-3AFD-42D8-BC02-2A39E8C6CED6}"/>
              </a:ext>
            </a:extLst>
          </p:cNvPr>
          <p:cNvSpPr>
            <a:spLocks xmlns:a="http://schemas.openxmlformats.org/drawingml/2006/main" noGrp="1"/>
          </p:cNvSpPr>
          <p:nvPr/>
        </p:nvSpPr>
        <p:spPr>
          <a:xfrm xmlns:a="http://schemas.openxmlformats.org/drawingml/2006/main">
            <a:off x="6172200" y="2019300"/>
            <a:ext cx="24955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First popup signing, then a contract that skipped require_auth. AGENTS.md now says both.</a:t>
            </a:r>
          </a:p>
        </p:txBody>
      </p:sp>
    </p:spTree>
    <p:extLst>
      <p:ext uri="{BB962C8B-B14F-4D97-AF65-F5344CB8AC3E}">
        <p14:creationId xmlns:p14="http://schemas.microsoft.com/office/powerpoint/2010/main" val="1677956668"/>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A38636DB-4E6E-45E8-8F17-A5B5D170EFB7}"/>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A7BCFE18-68F4-4041-8357-4C4333AB2665}"/>
              </a:ext>
            </a:extLst>
          </p:cNvPr>
          <p:cNvSpPr>
            <a:spLocks xmlns:a="http://schemas.openxmlformats.org/drawingml/2006/main" noGrp="1"/>
          </p:cNvSpPr>
          <p:nvPr/>
        </p:nvSpPr>
        <p:spPr>
          <a:xfrm xmlns:a="http://schemas.openxmlformats.org/drawingml/2006/main">
            <a:off x="466725" y="866775"/>
            <a:ext cx="817245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FOUND ALONG THE WAY</a:t>
            </a:r>
            <a:endParaRPr sz="3900">
              <a:latin typeface="Inter Medium"/>
              <a:ea typeface="Inter Medium"/>
              <a:cs typeface="Inter Medium"/>
            </a:endParaRPr>
          </a:p>
        </p:txBody>
      </p:sp>
      <p:sp>
        <p:nvSpPr>
          <p:cNvPr id="149" name="Google Shape;149;p20">
            <a:extLst xmlns:a="http://schemas.openxmlformats.org/drawingml/2006/main">
              <a:ext uri="{FF2B5EF4-FFF2-40B4-BE49-F238E27FC236}">
                <a16:creationId xmlns:a16="http://schemas.microsoft.com/office/drawing/2014/main" id="{B63A7165-71C7-4211-ACA4-4198A3337108}"/>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F O R   T H E   N I D O   T E A M</a:t>
            </a:r>
            <a:endParaRPr sz="900" b="1">
              <a:solidFill>
                <a:schemeClr val="dk1"/>
              </a:solidFill>
              <a:latin typeface="Inter"/>
              <a:ea typeface="Inter"/>
              <a:cs typeface="Inter"/>
            </a:endParaRPr>
          </a:p>
        </p:txBody>
      </p:sp>
      <p:pic>
        <p:nvPicPr>
          <p:cNvPr id="157" name="Google Shape;157;p20">
            <a:extLst xmlns:a="http://schemas.openxmlformats.org/drawingml/2006/main">
              <a:ext uri="{FF2B5EF4-FFF2-40B4-BE49-F238E27FC236}">
                <a16:creationId xmlns:a16="http://schemas.microsoft.com/office/drawing/2014/main" id="{3B554B44-823D-4BBF-8127-9573C411550B}"/>
              </a:ext>
            </a:extLst>
          </p:cNvPr>
          <p:cNvPicPr>
            <a:picLocks xmlns:a="http://schemas.openxmlformats.org/drawingml/2006/main" noChangeAspect="1"/>
          </p:cNvPicPr>
          <p:nvPr/>
        </p:nvPicPr>
        <p:blipFill>
          <a:blip xmlns:r="http://schemas.openxmlformats.org/officeDocument/2006/relationships" xmlns:a="http://schemas.openxmlformats.org/drawingml/2006/main" r:embed="Rbc172ab4c0dd4ffa">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800DD112-1702-4D7E-AFF8-B8E9792164EE}"/>
              </a:ext>
            </a:extLst>
          </p:cNvPr>
          <p:cNvPicPr>
            <a:picLocks xmlns:a="http://schemas.openxmlformats.org/drawingml/2006/main" noChangeAspect="1"/>
          </p:cNvPicPr>
          <p:nvPr/>
        </p:nvPicPr>
        <p:blipFill>
          <a:blip xmlns:r="http://schemas.openxmlformats.org/officeDocument/2006/relationships" xmlns:a="http://schemas.openxmlformats.org/drawingml/2006/main" r:embed="Rbbbc7786ef074aeb">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DE53C3C1-6C0B-4A2D-98F6-1321AD47E91A}"/>
              </a:ext>
            </a:extLst>
          </p:cNvPr>
          <p:cNvPicPr>
            <a:picLocks xmlns:a="http://schemas.openxmlformats.org/drawingml/2006/main" noChangeAspect="1"/>
          </p:cNvPicPr>
          <p:nvPr/>
        </p:nvPicPr>
        <p:blipFill>
          <a:blip xmlns:r="http://schemas.openxmlformats.org/officeDocument/2006/relationships" xmlns:a="http://schemas.openxmlformats.org/drawingml/2006/main" r:embed="R80b815f6a66b4ae5">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0700A771-AE50-496F-A04C-B3ABE4628885}"/>
              </a:ext>
            </a:extLst>
          </p:cNvPr>
          <p:cNvSpPr>
            <a:spLocks xmlns:a="http://schemas.openxmlformats.org/drawingml/2006/main" noGrp="1"/>
          </p:cNvSpPr>
          <p:nvPr/>
        </p:nvSpPr>
        <p:spPr>
          <a:xfrm xmlns:a="http://schemas.openxmlformats.org/drawingml/2006/main">
            <a:off x="495300"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NIDO’S SIGNER</a:t>
            </a:r>
          </a:p>
        </p:txBody>
      </p:sp>
      <p:sp>
        <p:nvSpPr>
          <p:cNvPr id="161" name="">
            <a:extLst xmlns:a="http://schemas.openxmlformats.org/drawingml/2006/main">
              <a:ext uri="{FF2B5EF4-FFF2-40B4-BE49-F238E27FC236}">
                <a16:creationId xmlns:a16="http://schemas.microsoft.com/office/drawing/2014/main" id="{85B701FC-4A36-471A-B6C9-847527124C1C}"/>
              </a:ext>
            </a:extLst>
          </p:cNvPr>
          <p:cNvSpPr>
            <a:spLocks xmlns:a="http://schemas.openxmlformats.org/drawingml/2006/main" noGrp="1"/>
          </p:cNvSpPr>
          <p:nvPr/>
        </p:nvSpPr>
        <p:spPr>
          <a:xfrm xmlns:a="http://schemas.openxmlformats.org/drawingml/2006/main">
            <a:off x="495300"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Signs under the admin rule only, so it can’t authorize calls into apps.</a:t>
            </a:r>
          </a:p>
        </p:txBody>
      </p:sp>
      <p:sp>
        <p:nvSpPr>
          <p:cNvPr id="162" name="">
            <a:extLst xmlns:a="http://schemas.openxmlformats.org/drawingml/2006/main">
              <a:ext uri="{FF2B5EF4-FFF2-40B4-BE49-F238E27FC236}">
                <a16:creationId xmlns:a16="http://schemas.microsoft.com/office/drawing/2014/main" id="{AF7E5028-4F99-41B6-A03B-2375E006E2F9}"/>
              </a:ext>
            </a:extLst>
          </p:cNvPr>
          <p:cNvSpPr>
            <a:spLocks xmlns:a="http://schemas.openxmlformats.org/drawingml/2006/main" noGrp="1"/>
          </p:cNvSpPr>
          <p:nvPr/>
        </p:nvSpPr>
        <p:spPr>
          <a:xfrm xmlns:a="http://schemas.openxmlformats.org/drawingml/2006/main">
            <a:off x="4752975" y="1771650"/>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NIDO’S RELAYER</a:t>
            </a:r>
          </a:p>
        </p:txBody>
      </p:sp>
      <p:sp>
        <p:nvSpPr>
          <p:cNvPr id="163" name="">
            <a:extLst xmlns:a="http://schemas.openxmlformats.org/drawingml/2006/main">
              <a:ext uri="{FF2B5EF4-FFF2-40B4-BE49-F238E27FC236}">
                <a16:creationId xmlns:a16="http://schemas.microsoft.com/office/drawing/2014/main" id="{99F40EBA-6AFA-44F6-9448-7451B41068EB}"/>
              </a:ext>
            </a:extLst>
          </p:cNvPr>
          <p:cNvSpPr>
            <a:spLocks xmlns:a="http://schemas.openxmlformats.org/drawingml/2006/main" noGrp="1"/>
          </p:cNvSpPr>
          <p:nvPr/>
        </p:nvSpPr>
        <p:spPr>
          <a:xfrm xmlns:a="http://schemas.openxmlformats.org/drawingml/2006/main">
            <a:off x="4752975" y="2019300"/>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Can’t relay CAP-71 entries yet, so session keys pay their own fees.</a:t>
            </a:r>
          </a:p>
        </p:txBody>
      </p:sp>
      <p:sp>
        <p:nvSpPr>
          <p:cNvPr id="164" name="">
            <a:extLst xmlns:a="http://schemas.openxmlformats.org/drawingml/2006/main">
              <a:ext uri="{FF2B5EF4-FFF2-40B4-BE49-F238E27FC236}">
                <a16:creationId xmlns:a16="http://schemas.microsoft.com/office/drawing/2014/main" id="{2384D43E-181E-449A-AF71-38643B83E3BA}"/>
              </a:ext>
            </a:extLst>
          </p:cNvPr>
          <p:cNvSpPr>
            <a:spLocks xmlns:a="http://schemas.openxmlformats.org/drawingml/2006/main" noGrp="1"/>
          </p:cNvSpPr>
          <p:nvPr/>
        </p:nvSpPr>
        <p:spPr>
          <a:xfrm xmlns:a="http://schemas.openxmlformats.org/drawingml/2006/main">
            <a:off x="495300"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NIDO’S DOCS</a:t>
            </a:r>
          </a:p>
        </p:txBody>
      </p:sp>
      <p:sp>
        <p:nvSpPr>
          <p:cNvPr id="165" name="">
            <a:extLst xmlns:a="http://schemas.openxmlformats.org/drawingml/2006/main">
              <a:ext uri="{FF2B5EF4-FFF2-40B4-BE49-F238E27FC236}">
                <a16:creationId xmlns:a16="http://schemas.microsoft.com/office/drawing/2014/main" id="{60CF79F0-C2B2-4ED2-9B44-0DD866024A1B}"/>
              </a:ext>
            </a:extLst>
          </p:cNvPr>
          <p:cNvSpPr>
            <a:spLocks xmlns:a="http://schemas.openxmlformats.org/drawingml/2006/main" noGrp="1"/>
          </p:cNvSpPr>
          <p:nvPr/>
        </p:nvSpPr>
        <p:spPr>
          <a:xfrm xmlns:a="http://schemas.openxmlformats.org/drawingml/2006/main">
            <a:off x="495300"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Still say the wallet returns signed XDR; it now submits and returns a hash.</a:t>
            </a:r>
          </a:p>
        </p:txBody>
      </p:sp>
      <p:sp>
        <p:nvSpPr>
          <p:cNvPr id="166" name="">
            <a:extLst xmlns:a="http://schemas.openxmlformats.org/drawingml/2006/main">
              <a:ext uri="{FF2B5EF4-FFF2-40B4-BE49-F238E27FC236}">
                <a16:creationId xmlns:a16="http://schemas.microsoft.com/office/drawing/2014/main" id="{1CD47970-0E9F-4F64-BEBC-BE3FC2E19771}"/>
              </a:ext>
            </a:extLst>
          </p:cNvPr>
          <p:cNvSpPr>
            <a:spLocks xmlns:a="http://schemas.openxmlformats.org/drawingml/2006/main" noGrp="1"/>
          </p:cNvSpPr>
          <p:nvPr/>
        </p:nvSpPr>
        <p:spPr>
          <a:xfrm xmlns:a="http://schemas.openxmlformats.org/drawingml/2006/main">
            <a:off x="4752975" y="3248025"/>
            <a:ext cx="39147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1">
                <a:solidFill>
                  <a:srgbClr val="FDDA24"/>
                </a:solidFill>
                <a:latin typeface="Inter"/>
                <a:ea typeface="Inter"/>
                <a:cs typeface="Inter"/>
              </a:rPr>
              <a:t>FROM THE DRY RUN</a:t>
            </a:r>
          </a:p>
        </p:txBody>
      </p:sp>
      <p:sp>
        <p:nvSpPr>
          <p:cNvPr id="167" name="">
            <a:extLst xmlns:a="http://schemas.openxmlformats.org/drawingml/2006/main">
              <a:ext uri="{FF2B5EF4-FFF2-40B4-BE49-F238E27FC236}">
                <a16:creationId xmlns:a16="http://schemas.microsoft.com/office/drawing/2014/main" id="{11CB1209-F3D4-4F6B-9D8E-3EE865DC0940}"/>
              </a:ext>
            </a:extLst>
          </p:cNvPr>
          <p:cNvSpPr>
            <a:spLocks xmlns:a="http://schemas.openxmlformats.org/drawingml/2006/main" noGrp="1"/>
          </p:cNvSpPr>
          <p:nvPr/>
        </p:nvSpPr>
        <p:spPr>
          <a:xfrm xmlns:a="http://schemas.openxmlformats.org/drawingml/2006/main">
            <a:off x="4752975" y="3495675"/>
            <a:ext cx="3914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0000"/>
              </a:lnSpc>
              <a:buNone/>
            </a:pPr>
            <a:r>
              <a:rPr sz="1500" b="0">
                <a:solidFill>
                  <a:srgbClr val="FFFFFF"/>
                </a:solidFill>
                <a:latin typeface="Inter"/>
                <a:ea typeface="Inter"/>
                <a:cs typeface="Inter"/>
              </a:rPr>
              <a:t>Say why the relayer refused, and let the app pay its own fee. The template’s half is ready.</a:t>
            </a:r>
          </a:p>
        </p:txBody>
      </p:sp>
    </p:spTree>
    <p:extLst>
      <p:ext uri="{BB962C8B-B14F-4D97-AF65-F5344CB8AC3E}">
        <p14:creationId xmlns:p14="http://schemas.microsoft.com/office/powerpoint/2010/main" val="1677956668"/>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2026-10-22T16:07:56.4060000Z</dcterms:created>
  <dcterms:modified xsi:type="dcterms:W3CDTF">2026-10-22T16:07:56.4060000Z</dcterms:modified>
</coreProperties>
</file>