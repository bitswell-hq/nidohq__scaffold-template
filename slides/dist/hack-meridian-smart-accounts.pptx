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ab3ac3e90841bb" /><Relationship Type="http://schemas.openxmlformats.org/officeDocument/2006/relationships/extended-properties" Target="/docProps/app.xml" Id="R3a8b4e02d97548cd" /><Relationship Type="http://schemas.openxmlformats.org/officeDocument/2006/relationships/officeDocument" Target="/ppt/presentation.xml" Id="Refaa39ffbf2b4d11" /></Relationships>
</file>

<file path=ppt/presentation.xml><?xml version="1.0" encoding="utf-8"?>
<p:presentation xmlns:p="http://schemas.openxmlformats.org/presentationml/2006/main">
  <p:sldMasterIdLst>
    <p:sldMasterId xmlns:r="http://schemas.openxmlformats.org/officeDocument/2006/relationships" id="2147483648" r:id="Rda579eaab000433f"/>
  </p:sldMasterIdLst>
  <p:notesMasterIdLst>
    <p:notesMasterId xmlns:r="http://schemas.openxmlformats.org/officeDocument/2006/relationships" r:id="Rfbf3cf1017484198"/>
  </p:notesMasterIdLst>
  <p:sldIdLst>
    <p:sldId xmlns:r="http://schemas.openxmlformats.org/officeDocument/2006/relationships" id="256" r:id="R039a1b02f08d408a"/>
    <p:sldId xmlns:r="http://schemas.openxmlformats.org/officeDocument/2006/relationships" id="257" r:id="Ree40a0d5991948fe"/>
    <p:sldId xmlns:r="http://schemas.openxmlformats.org/officeDocument/2006/relationships" id="258" r:id="R0a569f600b75412e"/>
    <p:sldId xmlns:r="http://schemas.openxmlformats.org/officeDocument/2006/relationships" id="259" r:id="R6005bbc0b1d04f3a"/>
    <p:sldId xmlns:r="http://schemas.openxmlformats.org/officeDocument/2006/relationships" id="260" r:id="R8ba74fdd6a5c4cd1"/>
    <p:sldId xmlns:r="http://schemas.openxmlformats.org/officeDocument/2006/relationships" id="261" r:id="R6e461da21e8b41e0"/>
    <p:sldId xmlns:r="http://schemas.openxmlformats.org/officeDocument/2006/relationships" id="262" r:id="R7e9f664dfbaf4977"/>
    <p:sldId xmlns:r="http://schemas.openxmlformats.org/officeDocument/2006/relationships" id="263" r:id="R223faa1ff4f844fc"/>
    <p:sldId xmlns:r="http://schemas.openxmlformats.org/officeDocument/2006/relationships" id="264" r:id="R3677616d704b4c09"/>
    <p:sldId xmlns:r="http://schemas.openxmlformats.org/officeDocument/2006/relationships" id="265" r:id="R09ee7f6d0cf2432d"/>
    <p:sldId xmlns:r="http://schemas.openxmlformats.org/officeDocument/2006/relationships" id="266" r:id="Re837258532444ca8"/>
    <p:sldId xmlns:r="http://schemas.openxmlformats.org/officeDocument/2006/relationships" id="267" r:id="R431a8bd0995049e9"/>
    <p:sldId xmlns:r="http://schemas.openxmlformats.org/officeDocument/2006/relationships" id="268" r:id="Raabff694db6d4ff8"/>
    <p:sldId xmlns:r="http://schemas.openxmlformats.org/officeDocument/2006/relationships" id="269" r:id="Rf82d32ab769d4378"/>
    <p:sldId xmlns:r="http://schemas.openxmlformats.org/officeDocument/2006/relationships" id="270" r:id="Rebcb63995f9447c2"/>
    <p:sldId xmlns:r="http://schemas.openxmlformats.org/officeDocument/2006/relationships" id="271" r:id="Re6d9a296d0684de4"/>
    <p:sldId xmlns:r="http://schemas.openxmlformats.org/officeDocument/2006/relationships" id="272" r:id="R9a19b5b46a7c4f9c"/>
    <p:sldId xmlns:r="http://schemas.openxmlformats.org/officeDocument/2006/relationships" id="273" r:id="R50d98c6fa0774052"/>
    <p:sldId xmlns:r="http://schemas.openxmlformats.org/officeDocument/2006/relationships" id="274" r:id="Reeca6ab43b944f93"/>
    <p:sldId xmlns:r="http://schemas.openxmlformats.org/officeDocument/2006/relationships" id="275" r:id="Re61195fc1e844e83"/>
    <p:sldId xmlns:r="http://schemas.openxmlformats.org/officeDocument/2006/relationships" id="276" r:id="R3ad6641256624663"/>
    <p:sldId xmlns:r="http://schemas.openxmlformats.org/officeDocument/2006/relationships" id="277" r:id="R844a9fd8ffa4467b"/>
    <p:sldId xmlns:r="http://schemas.openxmlformats.org/officeDocument/2006/relationships" id="278" r:id="R1107c3313cd64f0e"/>
    <p:sldId xmlns:r="http://schemas.openxmlformats.org/officeDocument/2006/relationships" id="279" r:id="Rd2306c85bf494c9c"/>
    <p:sldId xmlns:r="http://schemas.openxmlformats.org/officeDocument/2006/relationships" id="280" r:id="Rbe58ecb350a6414c"/>
    <p:sldId xmlns:r="http://schemas.openxmlformats.org/officeDocument/2006/relationships" id="281" r:id="Re550c5933f1d4777"/>
    <p:sldId xmlns:r="http://schemas.openxmlformats.org/officeDocument/2006/relationships" id="282" r:id="R0a5e7b80a7ab48a7"/>
    <p:sldId xmlns:r="http://schemas.openxmlformats.org/officeDocument/2006/relationships" id="283" r:id="Rb369cee44bb04b0f"/>
    <p:sldId xmlns:r="http://schemas.openxmlformats.org/officeDocument/2006/relationships" id="284" r:id="Rf572fac555b2428d"/>
    <p:sldId xmlns:r="http://schemas.openxmlformats.org/officeDocument/2006/relationships" id="285" r:id="Rf55c30c9dc6b47f2"/>
    <p:sldId xmlns:r="http://schemas.openxmlformats.org/officeDocument/2006/relationships" id="286" r:id="Rcd41895e15a14e38"/>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bdcd6a6382404e" /><Relationship Type="http://schemas.openxmlformats.org/officeDocument/2006/relationships/slideMaster" Target="/ppt/slideMasters/slideMaster1.xml" Id="Rda579eaab000433f" /><Relationship Type="http://schemas.openxmlformats.org/officeDocument/2006/relationships/notesMaster" Target="/ppt/notesMasters/notesMaster1.xml" Id="Rfbf3cf1017484198" /><Relationship Type="http://schemas.openxmlformats.org/officeDocument/2006/relationships/presProps" Target="/ppt/presProps.xml" Id="Rcda14f1023b448f7" /><Relationship Type="http://schemas.openxmlformats.org/officeDocument/2006/relationships/tableStyles" Target="/ppt/tableStyles.xml" Id="R7028fe7d3b8d4dd8" /><Relationship Type="http://schemas.openxmlformats.org/officeDocument/2006/relationships/slide" Target="/ppt/slides/slide1.xml" Id="R039a1b02f08d408a" /><Relationship Type="http://schemas.openxmlformats.org/officeDocument/2006/relationships/slide" Target="/ppt/slides/slide2.xml" Id="Ree40a0d5991948fe" /><Relationship Type="http://schemas.openxmlformats.org/officeDocument/2006/relationships/slide" Target="/ppt/slides/slide3.xml" Id="R0a569f600b75412e" /><Relationship Type="http://schemas.openxmlformats.org/officeDocument/2006/relationships/slide" Target="/ppt/slides/slide4.xml" Id="R6005bbc0b1d04f3a" /><Relationship Type="http://schemas.openxmlformats.org/officeDocument/2006/relationships/slide" Target="/ppt/slides/slide5.xml" Id="R8ba74fdd6a5c4cd1" /><Relationship Type="http://schemas.openxmlformats.org/officeDocument/2006/relationships/slide" Target="/ppt/slides/slide6.xml" Id="R6e461da21e8b41e0" /><Relationship Type="http://schemas.openxmlformats.org/officeDocument/2006/relationships/slide" Target="/ppt/slides/slide7.xml" Id="R7e9f664dfbaf4977" /><Relationship Type="http://schemas.openxmlformats.org/officeDocument/2006/relationships/slide" Target="/ppt/slides/slide8.xml" Id="R223faa1ff4f844fc" /><Relationship Type="http://schemas.openxmlformats.org/officeDocument/2006/relationships/slide" Target="/ppt/slides/slide9.xml" Id="R3677616d704b4c09" /><Relationship Type="http://schemas.openxmlformats.org/officeDocument/2006/relationships/slide" Target="/ppt/slides/slide10.xml" Id="R09ee7f6d0cf2432d" /><Relationship Type="http://schemas.openxmlformats.org/officeDocument/2006/relationships/slide" Target="/ppt/slides/slide11.xml" Id="Re837258532444ca8" /><Relationship Type="http://schemas.openxmlformats.org/officeDocument/2006/relationships/slide" Target="/ppt/slides/slide12.xml" Id="R431a8bd0995049e9" /><Relationship Type="http://schemas.openxmlformats.org/officeDocument/2006/relationships/slide" Target="/ppt/slides/slide13.xml" Id="Raabff694db6d4ff8" /><Relationship Type="http://schemas.openxmlformats.org/officeDocument/2006/relationships/slide" Target="/ppt/slides/slide14.xml" Id="Rf82d32ab769d4378" /><Relationship Type="http://schemas.openxmlformats.org/officeDocument/2006/relationships/slide" Target="/ppt/slides/slide15.xml" Id="Rebcb63995f9447c2" /><Relationship Type="http://schemas.openxmlformats.org/officeDocument/2006/relationships/slide" Target="/ppt/slides/slide16.xml" Id="Re6d9a296d0684de4" /><Relationship Type="http://schemas.openxmlformats.org/officeDocument/2006/relationships/slide" Target="/ppt/slides/slide17.xml" Id="R9a19b5b46a7c4f9c" /><Relationship Type="http://schemas.openxmlformats.org/officeDocument/2006/relationships/slide" Target="/ppt/slides/slide18.xml" Id="R50d98c6fa0774052" /><Relationship Type="http://schemas.openxmlformats.org/officeDocument/2006/relationships/slide" Target="/ppt/slides/slide19.xml" Id="Reeca6ab43b944f93" /><Relationship Type="http://schemas.openxmlformats.org/officeDocument/2006/relationships/slide" Target="/ppt/slides/slide20.xml" Id="Re61195fc1e844e83" /><Relationship Type="http://schemas.openxmlformats.org/officeDocument/2006/relationships/slide" Target="/ppt/slides/slide21.xml" Id="R3ad6641256624663" /><Relationship Type="http://schemas.openxmlformats.org/officeDocument/2006/relationships/slide" Target="/ppt/slides/slide22.xml" Id="R844a9fd8ffa4467b" /><Relationship Type="http://schemas.openxmlformats.org/officeDocument/2006/relationships/slide" Target="/ppt/slides/slide23.xml" Id="R1107c3313cd64f0e" /><Relationship Type="http://schemas.openxmlformats.org/officeDocument/2006/relationships/slide" Target="/ppt/slides/slide24.xml" Id="Rd2306c85bf494c9c" /><Relationship Type="http://schemas.openxmlformats.org/officeDocument/2006/relationships/slide" Target="/ppt/slides/slide25.xml" Id="Rbe58ecb350a6414c" /><Relationship Type="http://schemas.openxmlformats.org/officeDocument/2006/relationships/slide" Target="/ppt/slides/slide26.xml" Id="Re550c5933f1d4777" /><Relationship Type="http://schemas.openxmlformats.org/officeDocument/2006/relationships/slide" Target="/ppt/slides/slide27.xml" Id="R0a5e7b80a7ab48a7" /><Relationship Type="http://schemas.openxmlformats.org/officeDocument/2006/relationships/slide" Target="/ppt/slides/slide28.xml" Id="Rb369cee44bb04b0f" /><Relationship Type="http://schemas.openxmlformats.org/officeDocument/2006/relationships/slide" Target="/ppt/slides/slide29.xml" Id="Rf572fac555b2428d" /><Relationship Type="http://schemas.openxmlformats.org/officeDocument/2006/relationships/slide" Target="/ppt/slides/slide30.xml" Id="Rf55c30c9dc6b47f2" /><Relationship Type="http://schemas.openxmlformats.org/officeDocument/2006/relationships/slide" Target="/ppt/slides/slide31.xml" Id="Rcd41895e15a14e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21feb8815b45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9c9c29f67a401e" /><Relationship Type="http://schemas.openxmlformats.org/officeDocument/2006/relationships/notesMaster" Target="/ppt/notesMasters/notesMaster1.xml" Id="Ra08ccd96523d43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7b3e83bfb54d87" /><Relationship Type="http://schemas.openxmlformats.org/officeDocument/2006/relationships/notesMaster" Target="/ppt/notesMasters/notesMaster1.xml" Id="R09113eee6c0342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76c1fa33fc4043" /><Relationship Type="http://schemas.openxmlformats.org/officeDocument/2006/relationships/notesMaster" Target="/ppt/notesMasters/notesMaster1.xml" Id="R868cd79640f546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ebeecd177f43ee" /><Relationship Type="http://schemas.openxmlformats.org/officeDocument/2006/relationships/notesMaster" Target="/ppt/notesMasters/notesMaster1.xml" Id="Rf5296f91d50545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f671d8153b49ee" /><Relationship Type="http://schemas.openxmlformats.org/officeDocument/2006/relationships/notesMaster" Target="/ppt/notesMasters/notesMaster1.xml" Id="R2a654173d71c44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0bcf5c1f7b4c9a" /><Relationship Type="http://schemas.openxmlformats.org/officeDocument/2006/relationships/notesMaster" Target="/ppt/notesMasters/notesMaster1.xml" Id="R7b9d5c78365c46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3fdbd5830046d2" /><Relationship Type="http://schemas.openxmlformats.org/officeDocument/2006/relationships/notesMaster" Target="/ppt/notesMasters/notesMaster1.xml" Id="Rd97ea7bc47104f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0c7c7ca1994f22" /><Relationship Type="http://schemas.openxmlformats.org/officeDocument/2006/relationships/notesMaster" Target="/ppt/notesMasters/notesMaster1.xml" Id="Rc5c87bbb57574a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3827bf5a064c37" /><Relationship Type="http://schemas.openxmlformats.org/officeDocument/2006/relationships/notesMaster" Target="/ppt/notesMasters/notesMaster1.xml" Id="Rc4ccc2798ddd4b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66e91da19946ac" /><Relationship Type="http://schemas.openxmlformats.org/officeDocument/2006/relationships/notesMaster" Target="/ppt/notesMasters/notesMaster1.xml" Id="R97d060105a5e4d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97ac12113945de" /><Relationship Type="http://schemas.openxmlformats.org/officeDocument/2006/relationships/notesMaster" Target="/ppt/notesMasters/notesMaster1.xml" Id="Rff4bd1ade19849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99b2712762424c" /><Relationship Type="http://schemas.openxmlformats.org/officeDocument/2006/relationships/notesMaster" Target="/ppt/notesMasters/notesMaster1.xml" Id="R50065f3ae88f48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47898f5c3e4711" /><Relationship Type="http://schemas.openxmlformats.org/officeDocument/2006/relationships/notesMaster" Target="/ppt/notesMasters/notesMaster1.xml" Id="R5e181125140c4d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4d1ab022c4405d" /><Relationship Type="http://schemas.openxmlformats.org/officeDocument/2006/relationships/notesMaster" Target="/ppt/notesMasters/notesMaster1.xml" Id="R2109eba1cf4541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646ca975c446da" /><Relationship Type="http://schemas.openxmlformats.org/officeDocument/2006/relationships/notesMaster" Target="/ppt/notesMasters/notesMaster1.xml" Id="R87fd506ec17543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a17d1d17c74095" /><Relationship Type="http://schemas.openxmlformats.org/officeDocument/2006/relationships/notesMaster" Target="/ppt/notesMasters/notesMaster1.xml" Id="R6bf878bd4ece46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c95de2b58946dc" /><Relationship Type="http://schemas.openxmlformats.org/officeDocument/2006/relationships/notesMaster" Target="/ppt/notesMasters/notesMaster1.xml" Id="Rf54b52a307124c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88ab288f0a4963" /><Relationship Type="http://schemas.openxmlformats.org/officeDocument/2006/relationships/notesMaster" Target="/ppt/notesMasters/notesMaster1.xml" Id="R7e27a6b987c046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36bd7d1304416c" /><Relationship Type="http://schemas.openxmlformats.org/officeDocument/2006/relationships/notesMaster" Target="/ppt/notesMasters/notesMaster1.xml" Id="R5161f3a7089541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8fba92469d48ac" /><Relationship Type="http://schemas.openxmlformats.org/officeDocument/2006/relationships/notesMaster" Target="/ppt/notesMasters/notesMaster1.xml" Id="R98988936744249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64c1440b4441d7" /><Relationship Type="http://schemas.openxmlformats.org/officeDocument/2006/relationships/notesMaster" Target="/ppt/notesMasters/notesMaster1.xml" Id="Rfb36252d501744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3035436cf047f8" /><Relationship Type="http://schemas.openxmlformats.org/officeDocument/2006/relationships/notesMaster" Target="/ppt/notesMasters/notesMaster1.xml" Id="R517659d89f2045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a20a45ad984ceb" /><Relationship Type="http://schemas.openxmlformats.org/officeDocument/2006/relationships/notesMaster" Target="/ppt/notesMasters/notesMaster1.xml" Id="Rfaf4940c033947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87ed2a547742e7" /><Relationship Type="http://schemas.openxmlformats.org/officeDocument/2006/relationships/notesMaster" Target="/ppt/notesMasters/notesMaster1.xml" Id="R671a202c7f8e42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8dca775f664b12" /><Relationship Type="http://schemas.openxmlformats.org/officeDocument/2006/relationships/notesMaster" Target="/ppt/notesMasters/notesMaster1.xml" Id="R7a0282360af1415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5a58ee6ebd8441e" /><Relationship Type="http://schemas.openxmlformats.org/officeDocument/2006/relationships/notesMaster" Target="/ppt/notesMasters/notesMaster1.xml" Id="R0266f958a56841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f1094ff81a5415d" /><Relationship Type="http://schemas.openxmlformats.org/officeDocument/2006/relationships/notesMaster" Target="/ppt/notesMasters/notesMaster1.xml" Id="R77329b72b2294f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107bc286ab477e" /><Relationship Type="http://schemas.openxmlformats.org/officeDocument/2006/relationships/notesMaster" Target="/ppt/notesMasters/notesMaster1.xml" Id="R912140cb63b141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5a93339f2814457" /><Relationship Type="http://schemas.openxmlformats.org/officeDocument/2006/relationships/notesMaster" Target="/ppt/notesMasters/notesMaster1.xml" Id="R6ab79beafd3e4c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7a915cd70b841d6" /><Relationship Type="http://schemas.openxmlformats.org/officeDocument/2006/relationships/notesMaster" Target="/ppt/notesMasters/notesMaster1.xml" Id="Rba7e2391d28244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58f44767d0451e" /><Relationship Type="http://schemas.openxmlformats.org/officeDocument/2006/relationships/notesMaster" Target="/ppt/notesMasters/notesMaster1.xml" Id="R19f7022cd6694a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 Stellar smart accounts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0:00–0:35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Imagine someone trying your hackathon app for the first time. They get the idea right away, and then you ask them to learn a wallet: a seed phrase, a browser extension, a signature for every click.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 the next fifteen minutes: why an account with rules is a better start, how Perch and Nido give you one, an app a coding agent built on testnet, and what six teams ran into when they built their own in two hours.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https://developers.stellar.org/docs/build/guides/contract-accounts</a:t>
            </a:r>
            <a:endParaRPr/>
          </a:p>
          <a:p xmlns:a="http://schemas.openxmlformats.org/drawingml/2006/main">
            <a:pPr marL="0" lvl="0" indent="0" algn="l">
              <a:spcBef>
                <a:spcPts val="0"/>
              </a:spcBef>
              <a:spcAft>
                <a:spcPts val="0"/>
              </a:spcAft>
              <a:buNone/>
            </a:pPr>
            <a:r>
              <a:t>https://github.com/nidohq/nido/blob/4fee10dc55b877e828c5f9fe60cc6807ea10ea6e/README.md</a:t>
            </a:r>
            <a:endParaRPr/>
          </a:p>
          <a:p xmlns:a="http://schemas.openxmlformats.org/drawingml/2006/main">
            <a:pPr marL="0" lvl="0" indent="0" algn="l">
              <a:spcBef>
                <a:spcPts val="0"/>
              </a:spcBef>
              <a:spcAft>
                <a:spcPts val="0"/>
              </a:spcAft>
              <a:buNone/>
            </a:pPr>
            <a:r>
              <a:t>https://github.com/stellar-registry/perch/blob/2d1df9b3eefbaa70c74bbf83ffb8f96cc9581f63/README.md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 Rules, not just a key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0:35–1:15 (40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Here is the idea in one line. Today, most Stellar users have an account that is a key. Whoever holds the key, or enough of the keys, can do anything the account can 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smart account is an account with rules. It is a contract, so its address starts with C, and the network asks that contract whether each request is allowed. The rules can say who may sign, for which contract, for which function, for how long, and for how much.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https://developers.stellar.org/docs/build/guides/contract-accounts</a:t>
            </a:r>
            <a:endParaRPr/>
          </a:p>
          <a:p xmlns:a="http://schemas.openxmlformats.org/drawingml/2006/main">
            <a:pPr marL="0" lvl="0" indent="0" algn="l">
              <a:spcBef>
                <a:spcPts val="0"/>
              </a:spcBef>
              <a:spcAft>
                <a:spcPts val="0"/>
              </a:spcAft>
              <a:buNone/>
            </a:pPr>
            <a:r>
              <a:t>https://developers.stellar.org/docs/build/guides/auth/contract-authorization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3: The G-address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1:15–2:00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Let's be fair to the classic account first. A G-address is an ed25519 key, and it can have several signers with weights and thresholds. That's real multisig, and every wallet and exchange supports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it can't do is scope. There's no way to say "this key may only call this one contract", "only until Friday", or "no more than two XLM a day".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 an app that wants to act for you has two choices: ask you to sign every single action, or hold a key that can do everything.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https://developers.stellar.org/docs/learn/fundamentals/transactions/signatures-multisig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4: The C-address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2:00–2:50 (50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 contract account turns that around. When your contract calls require_auth on an address, Soroban checks a classic account's signatures the classic way. If the address is a contract, the host calls that contract's check-auth function and passes it everything: the signature, and the exact calls being authorized.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account then evaluates its own rules. The important part for you as an app developer: your contract doesn't change. It asks an Address to authorize, the same as always. The difference lives in the account.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One caution. If your contract trusts an address it never calls require_auth on, a smart wallet won't save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https://developers.stellar.org/docs/build/guides/auth/contract-authorization</a:t>
            </a:r>
            <a:endParaRPr/>
          </a:p>
          <a:p xmlns:a="http://schemas.openxmlformats.org/drawingml/2006/main">
            <a:pPr marL="0" lvl="0" indent="0" algn="l">
              <a:spcBef>
                <a:spcPts val="0"/>
              </a:spcBef>
              <a:spcAft>
                <a:spcPts val="0"/>
              </a:spcAft>
              <a:buNone/>
            </a:pPr>
            <a:r>
              <a:t>https://developers.stellar.org/docs/build/guides/contract-accounts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5: What rules buy you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2:50–3:45 (55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Three things you can build with rules.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Passkeys. A passkey signs with P-256, which a classic account can't verify. A contract account can, through a WebAuthn verifier contract. The biometric check happens on the device; the chain only sees a signature.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Scoped keys. You can give a key permission for one contract, a list of functions, and an expiry. That's how an app acts for you without holding your account.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Spending caps. A rule can carry a limit, say two XLM per day, and the account enforces it on every transfer. You'll see one refuse a payment.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same rules also cover recovery, sponsored onboarding, and adding or removing devices; that's in the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https://github.com/stellar-registry/perch/blob/2d1df9b3eefbaa70c74bbf83ffb8f96cc9581f63/crates/perch-webauthn-verifier/src/lib.rs</a:t>
            </a:r>
            <a:endParaRPr/>
          </a:p>
          <a:p xmlns:a="http://schemas.openxmlformats.org/drawingml/2006/main">
            <a:pPr marL="0" lvl="0" indent="0" algn="l">
              <a:spcBef>
                <a:spcPts val="0"/>
              </a:spcBef>
              <a:spcAft>
                <a:spcPts val="0"/>
              </a:spcAft>
              <a:buNone/>
            </a:pPr>
            <a:r>
              <a:t>https://github.com/stellar-registry/perch/blob/2d1df9b3eefbaa70c74bbf83ffb8f96cc9581f63/crates/perch-ir/src/doc.rs</a:t>
            </a:r>
            <a:endParaRPr/>
          </a:p>
          <a:p xmlns:a="http://schemas.openxmlformats.org/drawingml/2006/main">
            <a:pPr marL="0" lvl="0" indent="0" algn="l">
              <a:spcBef>
                <a:spcPts val="0"/>
              </a:spcBef>
              <a:spcAft>
                <a:spcPts val="0"/>
              </a:spcAft>
              <a:buNone/>
            </a:pPr>
            <a:r>
              <a:t>https://github.com/stellar-registry/perch/blob/2d1df9b3eefbaa70c74bbf83ffb8f96cc9581f63/crates/perch-spending-limit/src/lib.rs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6: Honest trade-offs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3:45–5:00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Now the costs, because you should know them before you choose.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Compatibility. A C-address can't be the source of a classic operation, and Horizon has no account record for it, so your app reads balances from the token contract over RPC. Many tools, exchanges included, still assume a G-address.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Cost. A contract account is storage, so it pays rent, and so does every rule. On testnet, Nido's relayer pays for you, but from one shared budget: a hundred XLM a day for all of testnet. On the twenty-second it counted about 1.4 XLM to create an account, 4.5 for an app's first grant, and 2.7 for a capped one. That's around twenty grants a day for everyone, so a busy room can run it dry. I'll show you what that looks like.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Maturity. Perch and Nido are testnet-only and not yet audited, and Nido's revoke button doesn't work yet. Build on it tonight; don't put real money behind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Feedback report from a six-team simulated hackathon run, Oct 2026 §3</a:t>
            </a:r>
            <a:endParaRPr/>
          </a:p>
          <a:p xmlns:a="http://schemas.openxmlformats.org/drawingml/2006/main">
            <a:pPr marL="0" lvl="0" indent="0" algn="l">
              <a:spcBef>
                <a:spcPts val="0"/>
              </a:spcBef>
              <a:spcAft>
                <a:spcPts val="0"/>
              </a:spcAft>
              <a:buNone/>
            </a:pPr>
            <a:r>
              <a:t>Team hk-ai-claude feedback, simulated hackathon run, Oct 2026</a:t>
            </a:r>
            <a:endParaRPr/>
          </a:p>
          <a:p xmlns:a="http://schemas.openxmlformats.org/drawingml/2006/main">
            <a:pPr marL="0" lvl="0" indent="0" algn="l">
              <a:spcBef>
                <a:spcPts val="0"/>
              </a:spcBef>
              <a:spcAft>
                <a:spcPts val="0"/>
              </a:spcAft>
              <a:buNone/>
            </a:pPr>
            <a:r>
              <a:t>https://github.com/nidohq/nido/blob/4fee10dc55b877e828c5f9fe60cc6807ea10ea6e/docs/ADD-NIDO-TO-DAPP.md</a:t>
            </a:r>
            <a:endParaRPr/>
          </a:p>
          <a:p xmlns:a="http://schemas.openxmlformats.org/drawingml/2006/main">
            <a:pPr marL="0" lvl="0" indent="0" algn="l">
              <a:spcBef>
                <a:spcPts val="0"/>
              </a:spcBef>
              <a:spcAft>
                <a:spcPts val="0"/>
              </a:spcAft>
              <a:buNone/>
            </a:pPr>
            <a:r>
              <a:t>https://github.com/stellar-registry/perch/blob/2d1df9b3eefbaa70c74bbf83ffb8f96cc9581f63/docs/audit-scope.md</a:t>
            </a:r>
            <a:endParaRPr/>
          </a:p>
          <a:p xmlns:a="http://schemas.openxmlformats.org/drawingml/2006/main">
            <a:pPr marL="0" lvl="0" indent="0" algn="l">
              <a:spcBef>
                <a:spcPts val="0"/>
              </a:spcBef>
              <a:spcAft>
                <a:spcPts val="0"/>
              </a:spcAft>
              <a:buNone/>
            </a:pPr>
            <a:r>
              <a:t>https://github.com/nidohq/nido/blob/4fee10dc55b877e828c5f9fe60cc6807ea10ea6e/docs/MAINNET_READINESS.md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7: Perch: a rule you can read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5:00–6:05 (65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The rules live in Perch, a policy layer for Soroban smart accounts built on OpenZeppelin's account framework. An account's whole authorization is one JSON document: signers, rules, and optional recovery. It's canonical, so the account stores its hash and anyone can check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is a real rule from the demo you'll see. Scope: one contract, the XLM token. Principal: the app's session key. One function, transfer. A cap of two XLM per seventeen thousand two hundred and eighty ledgers, about a day. And an expiry ledger.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Perch compiles the document on chain, and the account enforces it in check-auth on every call, denying by default. Verifiers, the registry and factories are in the appendix if you want the deep dive.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https://github.com/stellar-registry/perch/blob/2d1df9b3eefbaa70c74bbf83ffb8f96cc9581f63/README.md</a:t>
            </a:r>
            <a:endParaRPr/>
          </a:p>
          <a:p xmlns:a="http://schemas.openxmlformats.org/drawingml/2006/main">
            <a:pPr marL="0" lvl="0" indent="0" algn="l">
              <a:spcBef>
                <a:spcPts val="0"/>
              </a:spcBef>
              <a:spcAft>
                <a:spcPts val="0"/>
              </a:spcAft>
              <a:buNone/>
            </a:pPr>
            <a:r>
              <a:t>https://github.com/stellar-registry/perch/blob/2d1df9b3eefbaa70c74bbf83ffb8f96cc9581f63/CANONICAL.md</a:t>
            </a:r>
            <a:endParaRPr/>
          </a:p>
          <a:p xmlns:a="http://schemas.openxmlformats.org/drawingml/2006/main">
            <a:pPr marL="0" lvl="0" indent="0" algn="l">
              <a:spcBef>
                <a:spcPts val="0"/>
              </a:spcBef>
              <a:spcAft>
                <a:spcPts val="0"/>
              </a:spcAft>
              <a:buNone/>
            </a:pPr>
            <a:r>
              <a:t>https://github.com/stellar-registry/perch/blob/2d1df9b3eefbaa70c74bbf83ffb8f96cc9581f63/docs/schema.md</a:t>
            </a:r>
            <a:endParaRPr/>
          </a:p>
          <a:p xmlns:a="http://schemas.openxmlformats.org/drawingml/2006/main">
            <a:pPr marL="0" lvl="0" indent="0" algn="l">
              <a:spcBef>
                <a:spcPts val="0"/>
              </a:spcBef>
              <a:spcAft>
                <a:spcPts val="0"/>
              </a:spcAft>
              <a:buNone/>
            </a:pPr>
            <a:r>
              <a:t>https://github.com/stellar-registry/perch/blob/2d1df9b3eefbaa70c74bbf83ffb8f96cc9581f63/crates/perch-doc-compiler/src/lib.rs</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8: Nido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6:05–6:50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Nido is the wallet people see, and every Nido account is a Perch account. You open test.nido.fyi, approve with your face or fingerprint, and you have a C-address on its own subdomain, created and funded with five test XLM by Nido's relayer.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From your app, Nido sits in Stellar Wallets Kit next to the usual wallets. You can ask it for three things: connect, which gives you the address; sign one transaction in a popup; or grant your app a scoped session. The third one turns out to matter most.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https://github.com/nidohq/nido/blob/4fee10dc55b877e828c5f9fe60cc6807ea10ea6e/README.md</a:t>
            </a:r>
            <a:endParaRPr/>
          </a:p>
          <a:p xmlns:a="http://schemas.openxmlformats.org/drawingml/2006/main">
            <a:pPr marL="0" lvl="0" indent="0" algn="l">
              <a:spcBef>
                <a:spcPts val="0"/>
              </a:spcBef>
              <a:spcAft>
                <a:spcPts val="0"/>
              </a:spcAft>
              <a:buNone/>
            </a:pPr>
            <a:r>
              <a:t>https://github.com/nidohq/nido/blob/4fee10dc55b877e828c5f9fe60cc6807ea10ea6e/docs/ADD-NIDO-TO-DAPP.md</a:t>
            </a:r>
            <a:endParaRPr/>
          </a:p>
          <a:p xmlns:a="http://schemas.openxmlformats.org/drawingml/2006/main">
            <a:pPr marL="0" lvl="0" indent="0" algn="l">
              <a:spcBef>
                <a:spcPts val="0"/>
              </a:spcBef>
              <a:spcAft>
                <a:spcPts val="0"/>
              </a:spcAft>
              <a:buNone/>
            </a:pPr>
            <a:r>
              <a:t>https://github.com/nidohq/nido/blob/4fee10dc55b877e828c5f9fe60cc6807ea10ea6e/infra/relayer/README.md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9: Finding: the popup and your contract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6:50–7:50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STAGE CUE: Slow down on the first sentence; this is the turning point of the talk.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Here's the most important sentence in this talk: today, your app can't ask the passkey to sign a call to your own contract.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Nido's popup signs under the admin rule, and admin covers only the account itself. When our sample game asked the account to authorize a guess, which also moves one XLM, the account got two calls and one rule that covers neither, and refused. A call into a single contract fails the same way, with 3002.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 you ask once for a session. Your app holds its own key, and the owner approves one Perch rule for each contract the call touches. After that, your app's key signs, and the account checks every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../template/NIDO.md</a:t>
            </a:r>
            <a:endParaRPr/>
          </a:p>
          <a:p xmlns:a="http://schemas.openxmlformats.org/drawingml/2006/main">
            <a:pPr marL="0" lvl="0" indent="0" algn="l">
              <a:spcBef>
                <a:spcPts val="0"/>
              </a:spcBef>
              <a:spcAft>
                <a:spcPts val="0"/>
              </a:spcAft>
              <a:buNone/>
            </a:pPr>
            <a:r>
              <a:t>https://github.com/nidohq/nido/blob/4fee10dc55b877e828c5f9fe60cc6807ea10ea6e/packages/frontend/src/lib/walletSign.ts</a:t>
            </a:r>
            <a:endParaRPr/>
          </a:p>
          <a:p xmlns:a="http://schemas.openxmlformats.org/drawingml/2006/main">
            <a:pPr marL="0" lvl="0" indent="0" algn="l">
              <a:spcBef>
                <a:spcPts val="0"/>
              </a:spcBef>
              <a:spcAft>
                <a:spcPts val="0"/>
              </a:spcAft>
              <a:buNone/>
            </a:pPr>
            <a:r>
              <a:t>https://github.com/theahaco/stellar-contracts-OZ/tree/33726766a1fd5e7e3d2977d79f64ee29e1ea3ca9/packages/accounts</a:t>
            </a:r>
            <a:endParaRPr/>
          </a:p>
          <a:p xmlns:a="http://schemas.openxmlformats.org/drawingml/2006/main">
            <a:pPr marL="0" lvl="0" indent="0" algn="l">
              <a:spcBef>
                <a:spcPts val="0"/>
              </a:spcBef>
              <a:spcAft>
                <a:spcPts val="0"/>
              </a:spcAft>
              <a:buNone/>
            </a:pPr>
            <a:r>
              <a:t>Team hk-hu-noscaffold feedback, simulated hackathon run, Oct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10: An agent builds Kudos Jar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7:50–8:40 (50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To prove it end to end, we gave a coding agent the template and one prompt: build a small app that shows off a smart account, with passkey sign-in and a policy-limited action, live on testnet.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It built Kudos Jar: tip a hackathon team in XLM, with a public tally. It copied the template with new-app, wrote and unit-tested a Soroban contract, deployed it with one Scaffold command, and built a React board on the generated client. Then it ran the real flow with a Nido account on testnet, created with a throwaway virtual passkey, because an agent has no fingerprint.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Log of the agent-built Kudos Jar run, Oct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11: Approve the rule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8:40–9:25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After connecting, the app asks once, in plain words: may it call tip on the jar and move up to two XLM a day, for twenty-four hours? A tip touches two contracts, the jar and the XLM token, so that's two rules and two passkey confirmations.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one happens on Nido's page, not the app's. Nido shows the contract, the functions, the cap and the expiry. The owner confirms with the passkey, Nido applies the new policy document, and the browser comes back to the app. The app never touches the passkey.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https://github.com/nidohq/nido/blob/4fee10dc55b877e828c5f9fe60cc6807ea10ea6e/packages/frontend/src/pages/security/delegate-doc/index.astro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12: Tap until the cap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9:25–10:20 (55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STAGE CUE: Pause on the red line before reading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And now the fun part. Tap a team, and the tip goes through: no popup, no prompt. The app's key signs inside the account's own authorization entry, the account checks its rules, and the transaction confirms. Four taps, two XLM, four transaction hashes you can look 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fifth tap would take the day's total past two XLM. The app didn't stop it. The account did: its spending-limit policy refused, with error 3221, and the app shows that as a plain sentence.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That's the whole point of a C-address. The limit isn't a promise the app makes. It's a rule the account enforces.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https://stellar.expert/explorer/testnet/tx/cd9dfaefb145bd56d6239b1bd3ce8fa12eb5ca10bdee317d6b53e0012e043c1f</a:t>
            </a:r>
            <a:endParaRPr/>
          </a:p>
          <a:p xmlns:a="http://schemas.openxmlformats.org/drawingml/2006/main">
            <a:pPr marL="0" lvl="0" indent="0" algn="l">
              <a:spcBef>
                <a:spcPts val="0"/>
              </a:spcBef>
              <a:spcAft>
                <a:spcPts val="0"/>
              </a:spcAft>
              <a:buNone/>
            </a:pPr>
            <a:r>
              <a:t>https://stellar.expert/explorer/testnet/tx/567a9a60e2e8d91c33e8dd3cac0f4349ce173b5c8c7a2dd401628b0ad94790ec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13: When the wallet says unknown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10:20–11:35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Now the part most talks skip. In our dry run, Nido's relayer ran out of budget partway through, and every team hit it. Nido's page showed one message for three different failures: "we couldn't confirm what happened; retrying could pay twice."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429, FEE_LIMIT_EXCEEDED: the shared budget is used up, and nothing was sent. A 503, POOL_CAPACITY: the relayer is busy, nothing was sent, retry in a moment. A 504 is the tricky one: one team's grant timed out and had landed anyway.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 check the chain before you retry. Go back to the app and press Check again: the template reads the account's rules on chain. If nothing landed, Ask Nido again; that can't pay twice.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 when the budget is gone, the passkey's signature doesn't care who pays the fee. The template can already submit the signed grant with its own key, for about a quarter of an XLM; Nido's page doesn't offer that yet.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Feedback report from a six-team simulated hackathon run, Oct 2026 §3, §5.2 N-A2, N-H1</a:t>
            </a:r>
            <a:endParaRPr/>
          </a:p>
          <a:p xmlns:a="http://schemas.openxmlformats.org/drawingml/2006/main">
            <a:pPr marL="0" lvl="0" indent="0" algn="l">
              <a:spcBef>
                <a:spcPts val="0"/>
              </a:spcBef>
              <a:spcAft>
                <a:spcPts val="0"/>
              </a:spcAft>
              <a:buNone/>
            </a:pPr>
            <a:r>
              <a:t>../template/NIDO.md (When Nido’s relayer says no)</a:t>
            </a:r>
            <a:endParaRPr/>
          </a:p>
          <a:p xmlns:a="http://schemas.openxmlformats.org/drawingml/2006/main">
            <a:pPr marL="0" lvl="0" indent="0" algn="l">
              <a:spcBef>
                <a:spcPts val="0"/>
              </a:spcBef>
              <a:spcAft>
                <a:spcPts val="0"/>
              </a:spcAft>
              <a:buNone/>
            </a:pPr>
            <a:r>
              <a:t>../template/CHANGELOG.md</a:t>
            </a:r>
            <a:endParaRPr/>
          </a:p>
          <a:p xmlns:a="http://schemas.openxmlformats.org/drawingml/2006/main">
            <a:pPr marL="0" lvl="0" indent="0" algn="l">
              <a:spcBef>
                <a:spcPts val="0"/>
              </a:spcBef>
              <a:spcAft>
                <a:spcPts val="0"/>
              </a:spcAft>
              <a:buNone/>
            </a:pPr>
            <a:r>
              <a:t>Team hk-hu-codex feedback, simulated hackathon run, Oct 2026</a:t>
            </a:r>
            <a:endParaRPr/>
          </a:p>
          <a:p xmlns:a="http://schemas.openxmlformats.org/drawingml/2006/main">
            <a:pPr marL="0" lvl="0" indent="0" algn="l">
              <a:spcBef>
                <a:spcPts val="0"/>
              </a:spcBef>
              <a:spcAft>
                <a:spcPts val="0"/>
              </a:spcAft>
              <a:buNone/>
            </a:pPr>
            <a:r>
              <a:t>Team hk-hu-template’s self-relay script, simulated hackathon run, Oct 2026</a:t>
            </a:r>
            <a:endParaRPr/>
          </a:p>
          <a:p xmlns:a="http://schemas.openxmlformats.org/drawingml/2006/main">
            <a:pPr marL="0" lvl="0" indent="0" algn="l">
              <a:spcBef>
                <a:spcPts val="0"/>
              </a:spcBef>
              <a:spcAft>
                <a:spcPts val="0"/>
              </a:spcAft>
              <a:buNone/>
            </a:pPr>
            <a:r>
              <a:t>../template/app-lib/session.ts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14: Patterns that worked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11:35–13:00 (85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We ran a dry run of this kit: six teams, all driven by AI, three as coding agents and three simulating a person working from these slides, each with two hours on testnet. All six prototypes work, and four patterns came out of them.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One: a per-user cap, like Kudos Jar. Put the cap on the token rule, and the account enforces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Two: a shared pot. Group Pot's contract holds the money and pays an expense when two of three members approve. Each member signs in with their own Nido account and approves their own session.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Three: nothing moves. Event tickets, a one-question poll, a guestbook: one grant on your contract, with no cap. Nido asks the owner to accept "no cap" explicitly, and the app's key pays the fees. The template's blank starter is exactly this.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Four: limits the user mustn't undo. A cap limits a key, not the account's admin, so Pocket Money keeps a teen's allowance in a parent-owned vault. And expiry stops a key; it doesn't delay a withdrawal, so Goalpost puts its unlock date in the vault contract.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Feedback report from a six-team simulated hackathon run, Oct 2026 §2, §5.1 D-H2</a:t>
            </a:r>
            <a:endParaRPr/>
          </a:p>
          <a:p xmlns:a="http://schemas.openxmlformats.org/drawingml/2006/main">
            <a:pPr marL="0" lvl="0" indent="0" algn="l">
              <a:spcBef>
                <a:spcPts val="0"/>
              </a:spcBef>
              <a:spcAft>
                <a:spcPts val="0"/>
              </a:spcAft>
              <a:buNone/>
            </a:pPr>
            <a:r>
              <a:t>../template/NIDO.md (patterns that work)</a:t>
            </a:r>
            <a:endParaRPr/>
          </a:p>
          <a:p xmlns:a="http://schemas.openxmlformats.org/drawingml/2006/main">
            <a:pPr marL="0" lvl="0" indent="0" algn="l">
              <a:spcBef>
                <a:spcPts val="0"/>
              </a:spcBef>
              <a:spcAft>
                <a:spcPts val="0"/>
              </a:spcAft>
              <a:buNone/>
            </a:pPr>
            <a:r>
              <a:t>Team hk-ai-claude feedback, simulated hackathon run, Oct 2026</a:t>
            </a:r>
            <a:endParaRPr/>
          </a:p>
          <a:p xmlns:a="http://schemas.openxmlformats.org/drawingml/2006/main">
            <a:pPr marL="0" lvl="0" indent="0" algn="l">
              <a:spcBef>
                <a:spcPts val="0"/>
              </a:spcBef>
              <a:spcAft>
                <a:spcPts val="0"/>
              </a:spcAft>
              <a:buNone/>
            </a:pPr>
            <a:r>
              <a:t>Team hk-ai-sonnet feedback, simulated hackathon run, Oct 2026</a:t>
            </a:r>
            <a:endParaRPr/>
          </a:p>
          <a:p xmlns:a="http://schemas.openxmlformats.org/drawingml/2006/main">
            <a:pPr marL="0" lvl="0" indent="0" algn="l">
              <a:spcBef>
                <a:spcPts val="0"/>
              </a:spcBef>
              <a:spcAft>
                <a:spcPts val="0"/>
              </a:spcAft>
              <a:buNone/>
            </a:pPr>
            <a:r>
              <a:t>Team hk-ai-codex feedback, simulated hackathon run, Oct 2026</a:t>
            </a:r>
            <a:endParaRPr/>
          </a:p>
          <a:p xmlns:a="http://schemas.openxmlformats.org/drawingml/2006/main">
            <a:pPr marL="0" lvl="0" indent="0" algn="l">
              <a:spcBef>
                <a:spcPts val="0"/>
              </a:spcBef>
              <a:spcAft>
                <a:spcPts val="0"/>
              </a:spcAft>
              <a:buNone/>
            </a:pPr>
            <a:r>
              <a:t>Team hk-hu-codex feedback, simulated hackathon run, Oct 2026</a:t>
            </a:r>
            <a:endParaRPr/>
          </a:p>
          <a:p xmlns:a="http://schemas.openxmlformats.org/drawingml/2006/main">
            <a:pPr marL="0" lvl="0" indent="0" algn="l">
              <a:spcBef>
                <a:spcPts val="0"/>
              </a:spcBef>
              <a:spcAft>
                <a:spcPts val="0"/>
              </a:spcAft>
              <a:buNone/>
            </a:pPr>
            <a:r>
              <a:t>Team hk-hu-template feedback, simulated hackathon run, Oct 2026</a:t>
            </a:r>
            <a:endParaRPr/>
          </a:p>
          <a:p xmlns:a="http://schemas.openxmlformats.org/drawingml/2006/main">
            <a:pPr marL="0" lvl="0" indent="0" algn="l">
              <a:spcBef>
                <a:spcPts val="0"/>
              </a:spcBef>
              <a:spcAft>
                <a:spcPts val="0"/>
              </a:spcAft>
              <a:buNone/>
            </a:pPr>
            <a:r>
              <a:t>Team hk-hu-noscaffold feedback, simulated hackathon run, Oct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15: Build your own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13:00–14:20 (80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Here's your own app, start to finish. new-app with blank copies the template with a one-function starter, and gives it its own name, port and deployer key. tools-colon-scaffold installs the right Scaffold into the project in seconds, and doctor checks your tools, keys and testnet, with a fix for each problem.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Grow the starter contract, or add your own crate to scaffold.yml. deploy-colon-testnet deploys it, pins its ID, and writes its client.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 find your grants, assert env.auths in a unit test: one Grant per contract in that list, usually your contract, plus the token if it moves the user's money. Keep require_auth at the top of your function. Then submitCall is the whole call site: it builds the call, signs with whatever the user connected, and returns the result and the hash.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You're done when you have a passkey account, a confirmed transaction hash, and one refusal from the account itself. The template's NIDO.md has the details for you, and AGENTS.md for your coding agent.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../template/NIDO.md (Quick start; Your own contract in five steps; Calling a contract from React)</a:t>
            </a:r>
            <a:endParaRPr/>
          </a:p>
          <a:p xmlns:a="http://schemas.openxmlformats.org/drawingml/2006/main">
            <a:pPr marL="0" lvl="0" indent="0" algn="l">
              <a:spcBef>
                <a:spcPts val="0"/>
              </a:spcBef>
              <a:spcAft>
                <a:spcPts val="0"/>
              </a:spcAft>
              <a:buNone/>
            </a:pPr>
            <a:r>
              <a:t>../template/AGENTS.md</a:t>
            </a:r>
            <a:endParaRPr/>
          </a:p>
          <a:p xmlns:a="http://schemas.openxmlformats.org/drawingml/2006/main">
            <a:pPr marL="0" lvl="0" indent="0" algn="l">
              <a:spcBef>
                <a:spcPts val="0"/>
              </a:spcBef>
              <a:spcAft>
                <a:spcPts val="0"/>
              </a:spcAft>
              <a:buNone/>
            </a:pPr>
            <a:r>
              <a:t>../template/CHANGELOG.md</a:t>
            </a:r>
            <a:endParaRPr/>
          </a:p>
          <a:p xmlns:a="http://schemas.openxmlformats.org/drawingml/2006/main">
            <a:pPr marL="0" lvl="0" indent="0" algn="l">
              <a:spcBef>
                <a:spcPts val="0"/>
              </a:spcBef>
              <a:spcAft>
                <a:spcPts val="0"/>
              </a:spcAft>
              <a:buNone/>
            </a:pPr>
            <a:r>
              <a:t>../template/app-lib/wallet.ts</a:t>
            </a:r>
            <a:endParaRPr/>
          </a:p>
          <a:p xmlns:a="http://schemas.openxmlformats.org/drawingml/2006/main">
            <a:pPr marL="0" lvl="0" indent="0" algn="l">
              <a:spcBef>
                <a:spcPts val="0"/>
              </a:spcBef>
              <a:spcAft>
                <a:spcPts val="0"/>
              </a:spcAft>
              <a:buNone/>
            </a:pPr>
            <a:r>
              <a:t>../template/app/src/components/SessionGate.tsx</a:t>
            </a:r>
            <a:endParaRPr/>
          </a:p>
          <a:p xmlns:a="http://schemas.openxmlformats.org/drawingml/2006/main">
            <a:pPr marL="0" lvl="0" indent="0" algn="l">
              <a:spcBef>
                <a:spcPts val="0"/>
              </a:spcBef>
              <a:spcAft>
                <a:spcPts val="0"/>
              </a:spcAft>
              <a:buNone/>
            </a:pPr>
            <a:r>
              <a:t>Feedback report from a six-team simulated hackathon run, Oct 2026 §5.1 D-H1, D-A2, D-A4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16: Your first smart account app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14:20–15:00 (40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STAGE CUE: Leave this slide up for questions; the appendix follows.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For your hackathon project: pick the one action your app takes for a user, write down the rule that should bound it, and let the account enforce it. Ask for that rule once, in plain words, and then get out of the user's way.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Nido gives you the passkey wallet. Perch gives the account a policy you can read. The template gives you a working start. The QR code opens Nido's testnet wallet. Thank you.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https://test.nido.fyi</a:t>
            </a:r>
            <a:endParaRPr/>
          </a:p>
          <a:p xmlns:a="http://schemas.openxmlformats.org/drawingml/2006/main">
            <a:pPr marL="0" lvl="0" indent="0" algn="l">
              <a:spcBef>
                <a:spcPts val="0"/>
              </a:spcBef>
              <a:spcAft>
                <a:spcPts val="0"/>
              </a:spcAft>
              <a:buNone/>
            </a:pPr>
            <a:r>
              <a:t>https://github.com/nidohq/nido/blob/4fee10dc55b877e828c5f9fe60cc6807ea10ea6e/README.md</a:t>
            </a:r>
            <a:endParaRPr/>
          </a:p>
          <a:p xmlns:a="http://schemas.openxmlformats.org/drawingml/2006/main">
            <a:pPr marL="0" lvl="0" indent="0" algn="l">
              <a:spcBef>
                <a:spcPts val="0"/>
              </a:spcBef>
              <a:spcAft>
                <a:spcPts val="0"/>
              </a:spcAft>
              <a:buNone/>
            </a:pPr>
            <a:r>
              <a:t>https://github.com/stellar-registry/perch/blob/2d1df9b3eefbaa70c74bbf83ffb8f96cc9581f63/README.md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17: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20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Backup slides for questions: more of what rules buy you, Perch in depth, what an app can ask Nido for, the rest of the Kudos Jar walkthrough, what the agent tripped on, findings for the Nido team, and how to run Kudos Jar yourself.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18: What rules buy you (2/2)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60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Three more.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Recovery. The same rules can say how you get back in: a quorum of guardians, a zero-knowledge recovery kit, or both. It's opt-in, and you set it up before you need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Sponsored onboarding. Because the account is a contract, someone else can pay to create it and to submit its transactions. On testnet, Nido's relayer does exactly that, and new accounts arrive with five test XLM.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 one address, many keys. You can add a second device or an app's key, and remove it later, by updating the account's rules. The address never changes, so your balances and history stay put. Grants also expire on their own, which matters, because today expiry is the bound you can rely on most.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https://github.com/stellar-registry/perch/blob/2d1df9b3eefbaa70c74bbf83ffb8f96cc9581f63/docs/recovery/README.md</a:t>
            </a:r>
            <a:endParaRPr/>
          </a:p>
          <a:p xmlns:a="http://schemas.openxmlformats.org/drawingml/2006/main">
            <a:pPr marL="0" lvl="0" indent="0" algn="l">
              <a:spcBef>
                <a:spcPts val="0"/>
              </a:spcBef>
              <a:spcAft>
                <a:spcPts val="0"/>
              </a:spcAft>
              <a:buNone/>
            </a:pPr>
            <a:r>
              <a:t>https://github.com/nidohq/nido/blob/4fee10dc55b877e828c5f9fe60cc6807ea10ea6e/infra/relayer/README.md</a:t>
            </a:r>
            <a:endParaRPr/>
          </a:p>
          <a:p xmlns:a="http://schemas.openxmlformats.org/drawingml/2006/main">
            <a:pPr marL="0" lvl="0" indent="0" algn="l">
              <a:spcBef>
                <a:spcPts val="0"/>
              </a:spcBef>
              <a:spcAft>
                <a:spcPts val="0"/>
              </a:spcAft>
              <a:buNone/>
            </a:pPr>
            <a:r>
              <a:t>https://github.com/nidohq/nido/blob/4fee10dc55b877e828c5f9fe60cc6807ea10ea6e/packages/frontend/src/components/PolicyBuilder.ts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19: One document, one hash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 Perch policy is one JSON document: a list of signers, a list of rules, and optionally recovery. It's written in a canonical form, so the same document always produces the same bytes, and the account stores its hash.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That gives you a property I really like: anyone can fetch the applied document, hash it, and check it against the chain. Nido's policy page does exactly that.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 there's one way to change an account's authorization: apply a new document. Adding a device, granting an app, removing a key: each is a document update, signed by the account's admin rule.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rule says who may sign, which contract it covers, which functions, until which ledger, and optionally how much may move.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https://github.com/stellar-registry/perch/blob/2d1df9b3eefbaa70c74bbf83ffb8f96cc9581f63/CANONICAL.md</a:t>
            </a:r>
            <a:endParaRPr/>
          </a:p>
          <a:p xmlns:a="http://schemas.openxmlformats.org/drawingml/2006/main">
            <a:pPr marL="0" lvl="0" indent="0" algn="l">
              <a:spcBef>
                <a:spcPts val="0"/>
              </a:spcBef>
              <a:spcAft>
                <a:spcPts val="0"/>
              </a:spcAft>
              <a:buNone/>
            </a:pPr>
            <a:r>
              <a:t>https://github.com/stellar-registry/perch/blob/2d1df9b3eefbaa70c74bbf83ffb8f96cc9581f63/crates/perch-smart-account/src/lib.rs</a:t>
            </a:r>
            <a:endParaRPr/>
          </a:p>
          <a:p xmlns:a="http://schemas.openxmlformats.org/drawingml/2006/main">
            <a:pPr marL="0" lvl="0" indent="0" algn="l">
              <a:spcBef>
                <a:spcPts val="0"/>
              </a:spcBef>
              <a:spcAft>
                <a:spcPts val="0"/>
              </a:spcAft>
              <a:buNone/>
            </a:pPr>
            <a:r>
              <a:t>https://github.com/stellar-registry/perch/blob/2d1df9b3eefbaa70c74bbf83ffb8f96cc9581f63/crates/perch-account/src/lib.rs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20: From document to enforcement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How does a document become enforcement?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 write the document, or a wallet writes it for you. The account sends it to Perch's doc compiler, which is itself a contract, so compilation happens on chain. The compiler lowers each rule onto an OpenZeppelin context rule. Simple rules need nothing more than OpenZeppelin's own signer check. Rules with constraints get a small program for Perch's interpreter, and a cap attaches OpenZeppelin's spending-limit policy next to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Then, on every authorization, the account picks the rule the signature names, checks scope and expiry, verifies the signers, and runs every attached policy. All of them must pass. The interpreter denies by default: if anything can't be decoded, the answer is no.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https://github.com/stellar-registry/perch/blob/2d1df9b3eefbaa70c74bbf83ffb8f96cc9581f63/crates/perch-doc-compiler/src/lib.rs</a:t>
            </a:r>
            <a:endParaRPr/>
          </a:p>
          <a:p xmlns:a="http://schemas.openxmlformats.org/drawingml/2006/main">
            <a:pPr marL="0" lvl="0" indent="0" algn="l">
              <a:spcBef>
                <a:spcPts val="0"/>
              </a:spcBef>
              <a:spcAft>
                <a:spcPts val="0"/>
              </a:spcAft>
              <a:buNone/>
            </a:pPr>
            <a:r>
              <a:t>https://github.com/stellar-registry/perch/blob/2d1df9b3eefbaa70c74bbf83ffb8f96cc9581f63/crates/perch-interpreter/src/lib.rs</a:t>
            </a:r>
            <a:endParaRPr/>
          </a:p>
          <a:p xmlns:a="http://schemas.openxmlformats.org/drawingml/2006/main">
            <a:pPr marL="0" lvl="0" indent="0" algn="l">
              <a:spcBef>
                <a:spcPts val="0"/>
              </a:spcBef>
              <a:spcAft>
                <a:spcPts val="0"/>
              </a:spcAft>
              <a:buNone/>
            </a:pPr>
            <a:r>
              <a:t>https://github.com/stellar-registry/perch/blob/2d1df9b3eefbaa70c74bbf83ffb8f96cc9581f63/crates/perch-spending-limit/src/lib.rs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21: Verifiers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Who can sign for a Perch account? Three kinds of signer today.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Ed25519, the classic key type, checked by a verifier contract. WebAuthn, for passkeys on the P-256 curve, also a verifier contract; this is what Nido uses for its admin key. And delegated signers: any G or C address, authenticated by the host inside the account's own authorization entry, using a protocol 27 feature, CAP-71. That's what the demo app's session key 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Because verifiers are contracts, new signature schemes can be added without changing accounts. ML-DSA, a post-quantum scheme, is on Perch's roadmap as exactly that kind of verifier. It is not built yet, so treat it as direction, not a feature.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https://github.com/stellar-registry/perch/blob/2d1df9b3eefbaa70c74bbf83ffb8f96cc9581f63/crates/perch-ed25519-verifier/src/lib.rs</a:t>
            </a:r>
            <a:endParaRPr/>
          </a:p>
          <a:p xmlns:a="http://schemas.openxmlformats.org/drawingml/2006/main">
            <a:pPr marL="0" lvl="0" indent="0" algn="l">
              <a:spcBef>
                <a:spcPts val="0"/>
              </a:spcBef>
              <a:spcAft>
                <a:spcPts val="0"/>
              </a:spcAft>
              <a:buNone/>
            </a:pPr>
            <a:r>
              <a:t>https://github.com/stellar-registry/perch/blob/2d1df9b3eefbaa70c74bbf83ffb8f96cc9581f63/crates/perch-webauthn-verifier/src/lib.rs</a:t>
            </a:r>
            <a:endParaRPr/>
          </a:p>
          <a:p xmlns:a="http://schemas.openxmlformats.org/drawingml/2006/main">
            <a:pPr marL="0" lvl="0" indent="0" algn="l">
              <a:spcBef>
                <a:spcPts val="0"/>
              </a:spcBef>
              <a:spcAft>
                <a:spcPts val="0"/>
              </a:spcAft>
              <a:buNone/>
            </a:pPr>
            <a:r>
              <a:t>https://github.com/stellar-registry/perch/blob/2d1df9b3eefbaa70c74bbf83ffb8f96cc9581f63/docs/recovery/cap-0071.md</a:t>
            </a:r>
            <a:endParaRPr/>
          </a:p>
          <a:p xmlns:a="http://schemas.openxmlformats.org/drawingml/2006/main">
            <a:pPr marL="0" lvl="0" indent="0" algn="l">
              <a:spcBef>
                <a:spcPts val="0"/>
              </a:spcBef>
              <a:spcAft>
                <a:spcPts val="0"/>
              </a:spcAft>
              <a:buNone/>
            </a:pPr>
            <a:r>
              <a:t>https://github.com/stellar-registry/perch/blob/2d1df9b3eefbaa70c74bbf83ffb8f96cc9581f63/docs/slides/index.html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22: Constructorless publishing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Perch's shared contracts, the compiler, the interpreter, the verifiers, the spending limit, are published through a Stellar Registry instance that only deploys them one way: no constructor arguments, and the deploy salt is the hash of the wasm. So the address of each contract is a pure function of the registry and the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That has a nice consequence. An account build pins its compiler, interpreter and spending limit by hash, at build time. There's no admin setting that can point your account at different code later.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the account itself needs new code, it goes through a scheduled upgrade with a delay of about seven days, which the owner can cancel.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https://github.com/stellar-registry/perch/blob/2d1df9b3eefbaa70c74bbf83ffb8f96cc9581f63/crates/perch-constructorless-registry/src/lib.rs</a:t>
            </a:r>
            <a:endParaRPr/>
          </a:p>
          <a:p xmlns:a="http://schemas.openxmlformats.org/drawingml/2006/main">
            <a:pPr marL="0" lvl="0" indent="0" algn="l">
              <a:spcBef>
                <a:spcPts val="0"/>
              </a:spcBef>
              <a:spcAft>
                <a:spcPts val="0"/>
              </a:spcAft>
              <a:buNone/>
            </a:pPr>
            <a:r>
              <a:t>https://github.com/stellar-registry/perch/blob/2d1df9b3eefbaa70c74bbf83ffb8f96cc9581f63/AGENTS.md</a:t>
            </a:r>
            <a:endParaRPr/>
          </a:p>
          <a:p xmlns:a="http://schemas.openxmlformats.org/drawingml/2006/main">
            <a:pPr marL="0" lvl="0" indent="0" algn="l">
              <a:spcBef>
                <a:spcPts val="0"/>
              </a:spcBef>
              <a:spcAft>
                <a:spcPts val="0"/>
              </a:spcAft>
              <a:buNone/>
            </a:pPr>
            <a:r>
              <a:t>https://github.com/stellar-registry/perch/blob/2d1df9b3eefbaa70c74bbf83ffb8f96cc9581f63/docs/deploy/README.md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23: Accounts and factories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Every Perch account starts with one rule, admin, created by its constructor. Admin is scoped to the account itself, which sounds narrow, but it covers apply-doc and execute, so it is full owner authority. Every other rule arrives later as a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Accounts come from factories. Perch's own factory derives the address from the admin signers, so an address commits to who controls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Nido runs its own factory, for a practical reason: a passkey is bound to a web origin, and Nido gives every account its own subdomain. So the address has to exist before the passkey. Nido reserves it with a one-time setup key, then binds the passkey, and its relayer pays for the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https://github.com/stellar-registry/perch/blob/2d1df9b3eefbaa70c74bbf83ffb8f96cc9581f63/crates/perch-account/src/lib.rs</a:t>
            </a:r>
            <a:endParaRPr/>
          </a:p>
          <a:p xmlns:a="http://schemas.openxmlformats.org/drawingml/2006/main">
            <a:pPr marL="0" lvl="0" indent="0" algn="l">
              <a:spcBef>
                <a:spcPts val="0"/>
              </a:spcBef>
              <a:spcAft>
                <a:spcPts val="0"/>
              </a:spcAft>
              <a:buNone/>
            </a:pPr>
            <a:r>
              <a:t>https://github.com/stellar-registry/perch/blob/2d1df9b3eefbaa70c74bbf83ffb8f96cc9581f63/crates/perch-account-factory/src/lib.rs</a:t>
            </a:r>
            <a:endParaRPr/>
          </a:p>
          <a:p xmlns:a="http://schemas.openxmlformats.org/drawingml/2006/main">
            <a:pPr marL="0" lvl="0" indent="0" algn="l">
              <a:spcBef>
                <a:spcPts val="0"/>
              </a:spcBef>
              <a:spcAft>
                <a:spcPts val="0"/>
              </a:spcAft>
              <a:buNone/>
            </a:pPr>
            <a:r>
              <a:t>https://github.com/nidohq/nido/blob/4fee10dc55b877e828c5f9fe60cc6807ea10ea6e/DEPLOYED.md</a:t>
            </a:r>
            <a:endParaRPr/>
          </a:p>
          <a:p xmlns:a="http://schemas.openxmlformats.org/drawingml/2006/main">
            <a:pPr marL="0" lvl="0" indent="0" algn="l">
              <a:spcBef>
                <a:spcPts val="0"/>
              </a:spcBef>
              <a:spcAft>
                <a:spcPts val="0"/>
              </a:spcAft>
              <a:buNone/>
            </a:pPr>
            <a:r>
              <a:t>https://github.com/nidohq/nido/blob/4fee10dc55b877e828c5f9fe60cc6807ea10ea6e/contracts/factory/src/contract.rs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24: What a dApp can ask Nido for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45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From an app's point of view, Nido shows up in Stellar Wallets Kit next to the usual wallets. Four things you can ask it for.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Connect, which gives you the account's address and nothing else. Sign a transaction, in a popup, with the passkey; Nido's relayer submits it and hands you back the hash. Grant a scoped session: the app holds a key, and the owner approves a rule for it, once. And everything about the account itself, recovery, devices, policies, stays in Nido's own pages.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popup can only sign calls on the account itself, which is why apps use the session for their own contracts.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https://github.com/nidohq/nido/blob/4fee10dc55b877e828c5f9fe60cc6807ea10ea6e/docs/ADD-NIDO-TO-DAPP.md</a:t>
            </a:r>
            <a:endParaRPr/>
          </a:p>
          <a:p xmlns:a="http://schemas.openxmlformats.org/drawingml/2006/main">
            <a:pPr marL="0" lvl="0" indent="0" algn="l">
              <a:spcBef>
                <a:spcPts val="0"/>
              </a:spcBef>
              <a:spcAft>
                <a:spcPts val="0"/>
              </a:spcAft>
              <a:buNone/>
            </a:pPr>
            <a:r>
              <a:t>https://github.com/nidohq/nido/blob/4fee10dc55b877e828c5f9fe60cc6807ea10ea6e/packages/stellar-wallets-kit-module/src/module.ts</a:t>
            </a:r>
            <a:endParaRPr/>
          </a:p>
          <a:p xmlns:a="http://schemas.openxmlformats.org/drawingml/2006/main">
            <a:pPr marL="0" lvl="0" indent="0" algn="l">
              <a:spcBef>
                <a:spcPts val="0"/>
              </a:spcBef>
              <a:spcAft>
                <a:spcPts val="0"/>
              </a:spcAft>
              <a:buNone/>
            </a:pPr>
            <a:r>
              <a:t>https://github.com/nidohq/nido/blob/4fee10dc55b877e828c5f9fe60cc6807ea10ea6e/packages/frontend/src/lib/policy/docRequest.ts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25: Walkthrough: a passkey account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35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The walkthrough starts on Nido. Nido reserves the account's address first, here CBP7-something, and then asks for a passkey, which gets bound to that address's own subdomain.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One ceremony, and the relayer deploys the account and funds it with five test XLM. The person never needed XLM, a seed phrase, or a browser extension. It took a minute or two, most of it waiting for the network.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https://github.com/nidohq/nido/blob/4fee10dc55b877e828c5f9fe60cc6807ea10ea6e/packages/frontend/src/pages/new-account/index.astro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26: Walkthrough: connect and ask once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40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Next, in the app. Connect, choose Nido from the regular wallet list, pick the account. The app now knows the C-address and reads its balance from the XLM token contract.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Then it asks one thing, up front, in plain words: may this app call tip on the jar, and move up to two XLM a day from your account, for twenty-four hours? That's two rules, because a tip touches two contracts, the jar and the XLM token, so it's two passkey confirmations.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Kudos Jar’s KudosBoard component, same run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27: Walkthrough: the policy afterwards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30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Afterwards, the account's policy page in Nido shows the document: its hash, checked byte for byte against the one stored on chain, the two signers, the passkey and the app's key, and the three rules.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When the rules expire, the app's key stops working, with nothing for anyone to remember to clean 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https://github.com/nidohq/nido/blob/4fee10dc55b877e828c5f9fe60cc6807ea10ea6e/packages/frontend/src/lib/policyChainFetch.ts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28: Walkthrough: the call site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45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For developers, the code is short. The generated client builds the tip call. transactionSource keeps the C-address out of the transaction source, because a contract can't be 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submitContract does the rest. For a classic wallet it signs and sends as usual. For a Nido account with an approved session, the app's key signs a CAP-71 entry that names the right rule for each contract, submits, and returns the confirmed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helpers come from the template's app-lib, not the Stellar SDK. Kudos Jar predates submitCall, which now wraps these steps in one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Jar’s KudosBoard component, same run</a:t>
            </a:r>
            <a:endParaRPr/>
          </a:p>
          <a:p xmlns:a="http://schemas.openxmlformats.org/drawingml/2006/main">
            <a:pPr marL="0" lvl="0" indent="0" algn="l">
              <a:spcBef>
                <a:spcPts val="0"/>
              </a:spcBef>
              <a:spcAft>
                <a:spcPts val="0"/>
              </a:spcAft>
              <a:buNone/>
            </a:pPr>
            <a:r>
              <a:t>../template/app-lib/session.ts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29: What the agent tripped 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65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What got in the way, and what we changed.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Silent tools. The globally installed Scaffold was too old for the template's config, and it failed silently: it compiled contracts and wrote no clients. The template now installs its own tested Scaffold with tools-colon-scaffold, and refuses an older one. A fresh client also brought its own copy of the Stellar SDK, which broke types, so there's a script that folds it back 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blocked popup. The app built and simulated the call before opening Nido's popup, and by then the browser had forgotten the click. The template now reserves the popup during the click.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 the wrong path twice: first the popup signing we just saw, then a contract that skipped require-auth to save a rule, which simulation refuses. The agent's own instructions file now says both.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Log of the agent-built Kudos Jar run, Oct 2026</a:t>
            </a:r>
            <a:endParaRPr/>
          </a:p>
          <a:p xmlns:a="http://schemas.openxmlformats.org/drawingml/2006/main">
            <a:pPr marL="0" lvl="0" indent="0" algn="l">
              <a:spcBef>
                <a:spcPts val="0"/>
              </a:spcBef>
              <a:spcAft>
                <a:spcPts val="0"/>
              </a:spcAft>
              <a:buNone/>
            </a:pPr>
            <a:r>
              <a:t>../template/NIDO.md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30: Upstream findings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55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A few findings belong upstream, and we've written them 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Nido's signer, as we saw, signs only under the admin rule. Nido's relayer can't yet decode the CAP-71 entries that its own session grants produce, so the demo's session key pays its own fees. And Nido's integration guide still says the wallet returns signed XDR for the app to submit; the code now submits and returns a hash, and the template handles that.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dry run added more for Nido: tell the app why the relayer refused, and let it pay its own fee when the budget is gone. The template's half of both is ready; the feedback report has the full list.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Log of the agent-built Kudos Jar run, Oct 2026</a:t>
            </a:r>
            <a:endParaRPr/>
          </a:p>
          <a:p xmlns:a="http://schemas.openxmlformats.org/drawingml/2006/main">
            <a:pPr marL="0" lvl="0" indent="0" algn="l">
              <a:spcBef>
                <a:spcPts val="0"/>
              </a:spcBef>
              <a:spcAft>
                <a:spcPts val="0"/>
              </a:spcAft>
              <a:buNone/>
            </a:pPr>
            <a:r>
              <a:t>Feedback report from a six-team simulated hackathon run, Oct 2026 §5.2, §6</a:t>
            </a:r>
            <a:endParaRPr/>
          </a:p>
          <a:p xmlns:a="http://schemas.openxmlformats.org/drawingml/2006/main">
            <a:pPr marL="0" lvl="0" indent="0" algn="l">
              <a:spcBef>
                <a:spcPts val="0"/>
              </a:spcBef>
              <a:spcAft>
                <a:spcPts val="0"/>
              </a:spcAft>
              <a:buNone/>
            </a:pPr>
            <a:r>
              <a:t>https://github.com/nidohq/nido/blob/4fee10dc55b877e828c5f9fe60cc6807ea10ea6e/docs/ADD-NIDO-TO-DAPP.md</a:t>
            </a:r>
            <a:endParaRPr/>
          </a:p>
          <a:p xmlns:a="http://schemas.openxmlformats.org/drawingml/2006/main">
            <a:pPr marL="0" lvl="0" indent="0" algn="l">
              <a:spcBef>
                <a:spcPts val="0"/>
              </a:spcBef>
              <a:spcAft>
                <a:spcPts val="0"/>
              </a:spcAft>
              <a:buNone/>
            </a:pPr>
            <a:r>
              <a:t>https://github.com/nidohq/nido/blob/4fee10dc55b877e828c5f9fe60cc6807ea10ea6e/packages/stellar-wallets-kit-module/README.md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31: Run Kudos Jar yourself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 appendix, not part of the 15:00 talk (about 35 seconds if used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STAGE CUE: Have the app open in a tab as a fallback if the network is slow.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SCRIPT</a:t>
            </a:r>
            <a:endParaRPr/>
          </a:p>
          <a:p xmlns:a="http://schemas.openxmlformats.org/drawingml/2006/main">
            <a:pPr marL="0" lvl="0" indent="0" algn="l">
              <a:spcBef>
                <a:spcPts val="0"/>
              </a:spcBef>
              <a:spcAft>
                <a:spcPts val="0"/>
              </a:spcAft>
              <a:buNone/>
            </a:pPr>
            <a:r>
              <a:t>To try the demo app tonight: clone the repository, go into examples slash kudos-jar, run npm ci, generate the client for the demo jar with clients-colon-testnet, and npm run dev.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Create a Nido account at test.nido.fyi, connect, approve the session, and tip. To start your own app instead, follow the build-your-own slide: the template's NIDO.md has the rules for you, and AGENTS.md has them for your coding agent.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(not spoken)</a:t>
            </a:r>
            <a:endParaRPr/>
          </a:p>
          <a:p xmlns:a="http://schemas.openxmlformats.org/drawingml/2006/main">
            <a:pPr marL="0" lvl="0" indent="0" algn="l">
              <a:spcBef>
                <a:spcPts val="0"/>
              </a:spcBef>
              <a:spcAft>
                <a:spcPts val="0"/>
              </a:spcAft>
              <a:buNone/>
            </a:pPr>
            <a:r>
              <a:t>Kudos Jar, an agent-built demo app run live on testnet, Oct 2026</a:t>
            </a:r>
            <a:endParaRPr/>
          </a:p>
          <a:p xmlns:a="http://schemas.openxmlformats.org/drawingml/2006/main">
            <a:pPr marL="0" lvl="0" indent="0" algn="l">
              <a:spcBef>
                <a:spcPts val="0"/>
              </a:spcBef>
              <a:spcAft>
                <a:spcPts val="0"/>
              </a:spcAft>
              <a:buNone/>
            </a:pPr>
            <a:r>
              <a:t>../template/NIDO.md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Visual template and reused photography/brand assets: https://docs.google.com/presentation/d/1-HRAkfaI2YZQZzSWonXNrDxBCA1HZ4r_OjJ-YvP6lNM/edit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e487cd2cea47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8407dec7fd41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0cb40b05444f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fd405abba24d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3ac11e5cf24a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437b6e37884b7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a3a89f58766417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05a885110324b5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1662fae8a4f410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3ba08090dc84ea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518d8b635004cd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85AFD629-0688-4653-BCFA-32506BD8426A}"/>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F0168DF5-2983-41D5-8286-EAF5B99F913F}"/>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5066B458-131D-448A-ADF9-CA982E99A30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D508C85-EF09-4C7B-8B16-86CC653F31F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39A05204-3CC1-4C2E-AB91-8AE6F892EA2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63ECE09A-5725-4F4B-88E8-882227D82B1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147650ED-0EC1-4128-BD93-FEDC5BD2F1A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AB74788E-0FE5-42AF-A395-A975DF368AE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BD748F0-CEEE-4FEF-8DA3-633C136677B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CB6C7EE7-39E1-4D27-9875-73A2605F9204}"/>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16D61DFE-ED61-4837-80F3-6EB8076A1E78}"/>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5BF664A2-8FCE-475F-8C6D-33811C6A8BB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8CEFD5C8-76E7-43E2-876B-C1ADDC06CFF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DA06CAF-12B1-466B-BE98-A4987488EA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8BAE5EE1-67A5-45C4-9A3B-0C34D7D8586B}"/>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E0FF3E3E-5CF2-43FB-8229-17E94CC71F21}"/>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4C0703A2-8D48-498D-ADC4-8853F0B90D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B1700D6F-35A0-4ECA-808C-AD60EBD03E35}"/>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73D26828-81E4-4719-A702-56CE3C90FF8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E0CBFE0F-6CA3-4AD7-B716-15B4A6B9F197}"/>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FEA37E56-8D4B-4693-94FD-EC309DE3DC8A}"/>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2484C25-2A6F-4873-A11E-92F33AC93FB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3E2AAAB3-BE50-4F1B-8881-0CA11DE58FAC}"/>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B2296140-00F9-451F-ACF5-5F1F3A91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EA87BD3C-6E7E-4609-B471-AF85C23E0848}"/>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C89C12D8-48A1-4814-9552-D6E33AB2188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BF5608F5-4255-4FB7-8B89-6639812677D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A6C14B34-00FC-400D-8FFF-4854D82FBA05}"/>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7F0E7C3D-BEE4-46E4-A989-3040AE6AEF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3B826CCA-46C8-4B1F-8CCC-7801A110E87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2dc8478b694a7e" /><Relationship Type="http://schemas.openxmlformats.org/officeDocument/2006/relationships/slideLayout" Target="/ppt/slideLayouts/slideLayout1.xml" Id="R93a73db9f3e74c23" /><Relationship Type="http://schemas.openxmlformats.org/officeDocument/2006/relationships/slideLayout" Target="/ppt/slideLayouts/slideLayout2.xml" Id="Rcc3cb6910b194376" /><Relationship Type="http://schemas.openxmlformats.org/officeDocument/2006/relationships/slideLayout" Target="/ppt/slideLayouts/slideLayout3.xml" Id="R8d1c83953bd34dfd" /><Relationship Type="http://schemas.openxmlformats.org/officeDocument/2006/relationships/slideLayout" Target="/ppt/slideLayouts/slideLayout4.xml" Id="R785d9ea577dd4067" /><Relationship Type="http://schemas.openxmlformats.org/officeDocument/2006/relationships/slideLayout" Target="/ppt/slideLayouts/slideLayout5.xml" Id="R73e45cb2adbb43b6" /><Relationship Type="http://schemas.openxmlformats.org/officeDocument/2006/relationships/slideLayout" Target="/ppt/slideLayouts/slideLayout6.xml" Id="R2f8e233dd56446a6" /><Relationship Type="http://schemas.openxmlformats.org/officeDocument/2006/relationships/slideLayout" Target="/ppt/slideLayouts/slideLayout7.xml" Id="R945c949ad52847f7" /><Relationship Type="http://schemas.openxmlformats.org/officeDocument/2006/relationships/slideLayout" Target="/ppt/slideLayouts/slideLayout8.xml" Id="R7e7fd469fe6e438f" /><Relationship Type="http://schemas.openxmlformats.org/officeDocument/2006/relationships/slideLayout" Target="/ppt/slideLayouts/slideLayout9.xml" Id="R1691b6c0f1c646fa" /><Relationship Type="http://schemas.openxmlformats.org/officeDocument/2006/relationships/slideLayout" Target="/ppt/slideLayouts/slideLayout10.xml" Id="R27fef1ecc36b4c10" /><Relationship Type="http://schemas.openxmlformats.org/officeDocument/2006/relationships/slideLayout" Target="/ppt/slideLayouts/slideLayout11.xml" Id="R43de78229034422c"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98E3BB91-40BA-47BE-9037-D8D0C33927A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FD924E2-D58E-40D7-8DFE-229E9B83923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C0249307-9A2B-4B2A-8781-1A784E88150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3a73db9f3e74c23"/>
    <p:sldLayoutId xmlns:r="http://schemas.openxmlformats.org/officeDocument/2006/relationships" id="2147483650" r:id="Rcc3cb6910b194376"/>
    <p:sldLayoutId xmlns:r="http://schemas.openxmlformats.org/officeDocument/2006/relationships" id="2147483651" r:id="R8d1c83953bd34dfd"/>
    <p:sldLayoutId xmlns:r="http://schemas.openxmlformats.org/officeDocument/2006/relationships" id="2147483652" r:id="R785d9ea577dd4067"/>
    <p:sldLayoutId xmlns:r="http://schemas.openxmlformats.org/officeDocument/2006/relationships" id="2147483653" r:id="R73e45cb2adbb43b6"/>
    <p:sldLayoutId xmlns:r="http://schemas.openxmlformats.org/officeDocument/2006/relationships" id="2147483654" r:id="R2f8e233dd56446a6"/>
    <p:sldLayoutId xmlns:r="http://schemas.openxmlformats.org/officeDocument/2006/relationships" id="2147483655" r:id="R945c949ad52847f7"/>
    <p:sldLayoutId xmlns:r="http://schemas.openxmlformats.org/officeDocument/2006/relationships" id="2147483656" r:id="R7e7fd469fe6e438f"/>
    <p:sldLayoutId xmlns:r="http://schemas.openxmlformats.org/officeDocument/2006/relationships" id="2147483657" r:id="R1691b6c0f1c646fa"/>
    <p:sldLayoutId xmlns:r="http://schemas.openxmlformats.org/officeDocument/2006/relationships" id="2147483658" r:id="R27fef1ecc36b4c10"/>
    <p:sldLayoutId xmlns:r="http://schemas.openxmlformats.org/officeDocument/2006/relationships" id="2147483659" r:id="R43de78229034422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e472b0f5184fe5" /><Relationship Type="http://schemas.openxmlformats.org/officeDocument/2006/relationships/image" Target="/ppt/media/image.png" Id="R5c9ad3ef61f94a4f" /><Relationship Type="http://schemas.openxmlformats.org/officeDocument/2006/relationships/image" Target="/ppt/media/image2.png" Id="R3790fbf458344b32" /><Relationship Type="http://schemas.openxmlformats.org/officeDocument/2006/relationships/image" Target="/ppt/media/image3.png" Id="R420d4f6d1be748e3" /><Relationship Type="http://schemas.openxmlformats.org/officeDocument/2006/relationships/notesSlide" Target="/ppt/notesSlides/notesSlide1.xml" Id="R0011817302af47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1653e3330b684f9c" /><Relationship Type="http://schemas.openxmlformats.org/officeDocument/2006/relationships/image" Target="/ppt/media/image.jpeg" Id="Rbb7c025dcccb4d5c" /><Relationship Type="http://schemas.openxmlformats.org/officeDocument/2006/relationships/image" Target="/ppt/media/image4.png" Id="R1c04923b8d6d494b" /><Relationship Type="http://schemas.openxmlformats.org/officeDocument/2006/relationships/image" Target="/ppt/media/image5.png" Id="Rd40ba4a104c047be" /><Relationship Type="http://schemas.openxmlformats.org/officeDocument/2006/relationships/notesSlide" Target="/ppt/notesSlides/notesSlide2.xml" Id="R0a42cce1bf3d4f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cfc0d18b505b45c4" /><Relationship Type="http://schemas.openxmlformats.org/officeDocument/2006/relationships/image" Target="/ppt/media/image2.jpeg" Id="Rf7d38eaeb1f2461c" /><Relationship Type="http://schemas.openxmlformats.org/officeDocument/2006/relationships/image" Target="/ppt/media/image2.png" Id="Rc4f07f9f0481486d" /><Relationship Type="http://schemas.openxmlformats.org/officeDocument/2006/relationships/image" Target="/ppt/media/image5.png" Id="R1aad7dede9434fb1" /><Relationship Type="http://schemas.openxmlformats.org/officeDocument/2006/relationships/notesSlide" Target="/ppt/notesSlides/notesSlide3.xml" Id="Ra67105468b494b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101f4c9525724c8c" /><Relationship Type="http://schemas.openxmlformats.org/officeDocument/2006/relationships/image" Target="/ppt/media/image.jpeg" Id="R5466710d625b4de7" /><Relationship Type="http://schemas.openxmlformats.org/officeDocument/2006/relationships/image" Target="/ppt/media/image2.png" Id="R7b350408884a4d2d" /><Relationship Type="http://schemas.openxmlformats.org/officeDocument/2006/relationships/image" Target="/ppt/media/image3.png" Id="R3ab403ec25884131" /><Relationship Type="http://schemas.openxmlformats.org/officeDocument/2006/relationships/notesSlide" Target="/ppt/notesSlides/notesSlide4.xml" Id="Rdab60193578647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1cb90a362864006" /><Relationship Type="http://schemas.openxmlformats.org/officeDocument/2006/relationships/image" Target="/ppt/media/image6.png" Id="Rbed52c4893e144b2" /><Relationship Type="http://schemas.openxmlformats.org/officeDocument/2006/relationships/image" Target="/ppt/media/image7.png" Id="R257be449659d4a8e" /><Relationship Type="http://schemas.openxmlformats.org/officeDocument/2006/relationships/image" Target="/ppt/media/image8.png" Id="R4bffb03d5d9942da" /><Relationship Type="http://schemas.openxmlformats.org/officeDocument/2006/relationships/image" Target="/ppt/media/image9.png" Id="R6faecc280eba4a72" /><Relationship Type="http://schemas.openxmlformats.org/officeDocument/2006/relationships/image" Target="/ppt/media/image2.png" Id="R39d322c2b01c4181" /><Relationship Type="http://schemas.openxmlformats.org/officeDocument/2006/relationships/image" Target="/ppt/media/image5.png" Id="R09da9cd5e1f14258" /><Relationship Type="http://schemas.openxmlformats.org/officeDocument/2006/relationships/notesSlide" Target="/ppt/notesSlides/notesSlide5.xml" Id="R913365e199d047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407c0ae122594fd3" /><Relationship Type="http://schemas.openxmlformats.org/officeDocument/2006/relationships/image" Target="/ppt/media/image4.png" Id="R453094c30d694e8f" /><Relationship Type="http://schemas.openxmlformats.org/officeDocument/2006/relationships/image" Target="/ppt/media/image5.png" Id="R8af17a84f30d49a7" /><Relationship Type="http://schemas.openxmlformats.org/officeDocument/2006/relationships/notesSlide" Target="/ppt/notesSlides/notesSlide6.xml" Id="Rd7b0089d0d744f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ad48dc29f7740a0" /><Relationship Type="http://schemas.openxmlformats.org/officeDocument/2006/relationships/image" Target="/ppt/media/image4.png" Id="R3f1b1732f4f043b5" /><Relationship Type="http://schemas.openxmlformats.org/officeDocument/2006/relationships/image" Target="/ppt/media/image5.png" Id="Reea05fc9a13d4858" /><Relationship Type="http://schemas.openxmlformats.org/officeDocument/2006/relationships/notesSlide" Target="/ppt/notesSlides/notesSlide7.xml" Id="Rbef6bbdd06a849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470f9bdf6e0409f" /><Relationship Type="http://schemas.openxmlformats.org/officeDocument/2006/relationships/image" Target="/ppt/media/image2.jpeg" Id="R5c3a9032b8654443" /><Relationship Type="http://schemas.openxmlformats.org/officeDocument/2006/relationships/image" Target="/ppt/media/image2.png" Id="Rec9bcc9acbe54e15" /><Relationship Type="http://schemas.openxmlformats.org/officeDocument/2006/relationships/image" Target="/ppt/media/image5.png" Id="R6c63a3c40a844e30" /><Relationship Type="http://schemas.openxmlformats.org/officeDocument/2006/relationships/notesSlide" Target="/ppt/notesSlides/notesSlide8.xml" Id="R7d4fe3cf881e4b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506d0db622b4072" /><Relationship Type="http://schemas.openxmlformats.org/officeDocument/2006/relationships/image" Target="/ppt/media/image4.png" Id="Rc5436e8800d74cec" /><Relationship Type="http://schemas.openxmlformats.org/officeDocument/2006/relationships/image" Target="/ppt/media/image5.png" Id="Rc1b54aa1e905481e" /><Relationship Type="http://schemas.openxmlformats.org/officeDocument/2006/relationships/notesSlide" Target="/ppt/notesSlides/notesSlide9.xml" Id="R2a3c8d3a456743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f796c0593f4024" /><Relationship Type="http://schemas.openxmlformats.org/officeDocument/2006/relationships/image" Target="/ppt/media/image10.png" Id="Rb6542b2e7631404b" /><Relationship Type="http://schemas.openxmlformats.org/officeDocument/2006/relationships/image" Target="/ppt/media/image2.png" Id="Rfdaf02b4451949fe" /><Relationship Type="http://schemas.openxmlformats.org/officeDocument/2006/relationships/image" Target="/ppt/media/image3.png" Id="Rff8169bb339b4db1" /><Relationship Type="http://schemas.openxmlformats.org/officeDocument/2006/relationships/notesSlide" Target="/ppt/notesSlides/notesSlide10.xml" Id="R95751bb8533840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555f085035d94e3f" /><Relationship Type="http://schemas.openxmlformats.org/officeDocument/2006/relationships/image" Target="/ppt/media/image4.png" Id="Ra3d51f7631c74b34" /><Relationship Type="http://schemas.openxmlformats.org/officeDocument/2006/relationships/image" Target="/ppt/media/image5.png" Id="R30814ff820bc4347" /><Relationship Type="http://schemas.openxmlformats.org/officeDocument/2006/relationships/image" Target="/ppt/media/image11.png" Id="Rd1e61bce8fbe4da7" /><Relationship Type="http://schemas.openxmlformats.org/officeDocument/2006/relationships/notesSlide" Target="/ppt/notesSlides/notesSlide11.xml" Id="Re50f20fe8b2242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624e7b83928146aa" /><Relationship Type="http://schemas.openxmlformats.org/officeDocument/2006/relationships/image" Target="/ppt/media/image4.png" Id="R713fc4ddd8164aab" /><Relationship Type="http://schemas.openxmlformats.org/officeDocument/2006/relationships/image" Target="/ppt/media/image5.png" Id="Rdaaa0361fea5462c" /><Relationship Type="http://schemas.openxmlformats.org/officeDocument/2006/relationships/image" Target="/ppt/media/image12.png" Id="R64475850916846da" /><Relationship Type="http://schemas.openxmlformats.org/officeDocument/2006/relationships/notesSlide" Target="/ppt/notesSlides/notesSlide12.xml" Id="R72dd15c415c546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e9a8095edf9463f" /><Relationship Type="http://schemas.openxmlformats.org/officeDocument/2006/relationships/image" Target="/ppt/media/image4.png" Id="R9d178497bb0d4433" /><Relationship Type="http://schemas.openxmlformats.org/officeDocument/2006/relationships/image" Target="/ppt/media/image5.png" Id="Rfc7ffa16f0ae43f6" /><Relationship Type="http://schemas.openxmlformats.org/officeDocument/2006/relationships/notesSlide" Target="/ppt/notesSlides/notesSlide13.xml" Id="Rcf739bd65a074b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16c0dbdd154980" /><Relationship Type="http://schemas.openxmlformats.org/officeDocument/2006/relationships/image" Target="/ppt/media/image10.png" Id="R57e5bd3d2a544a8c" /><Relationship Type="http://schemas.openxmlformats.org/officeDocument/2006/relationships/image" Target="/ppt/media/image2.png" Id="R9c81933ba95e4a28" /><Relationship Type="http://schemas.openxmlformats.org/officeDocument/2006/relationships/image" Target="/ppt/media/image3.png" Id="R36e5fea53f81412c" /><Relationship Type="http://schemas.openxmlformats.org/officeDocument/2006/relationships/notesSlide" Target="/ppt/notesSlides/notesSlide14.xml" Id="Rdaf559218f1b47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164180aecc974e81" /><Relationship Type="http://schemas.openxmlformats.org/officeDocument/2006/relationships/image" Target="/ppt/media/image4.png" Id="Ra5e06ed8144a404f" /><Relationship Type="http://schemas.openxmlformats.org/officeDocument/2006/relationships/image" Target="/ppt/media/image5.png" Id="Re593e17e03b34264" /><Relationship Type="http://schemas.openxmlformats.org/officeDocument/2006/relationships/notesSlide" Target="/ppt/notesSlides/notesSlide15.xml" Id="R8bc0505aef4241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0a939b1e8be3413c" /><Relationship Type="http://schemas.openxmlformats.org/officeDocument/2006/relationships/image" Target="/ppt/media/image13.png" Id="Rf963fb7aa0ac43df" /><Relationship Type="http://schemas.openxmlformats.org/officeDocument/2006/relationships/image" Target="/ppt/media/image4.png" Id="Rb6ccf4c5ed6343c0" /><Relationship Type="http://schemas.openxmlformats.org/officeDocument/2006/relationships/image" Target="/ppt/media/image2.png" Id="R88845a171e304d1f" /><Relationship Type="http://schemas.openxmlformats.org/officeDocument/2006/relationships/image" Target="/ppt/media/image5.png" Id="Re5139593dd8443c1" /><Relationship Type="http://schemas.openxmlformats.org/officeDocument/2006/relationships/image" Target="/ppt/media/image14.png" Id="R4791c3e18e0b487b" /><Relationship Type="http://schemas.openxmlformats.org/officeDocument/2006/relationships/notesSlide" Target="/ppt/notesSlides/notesSlide16.xml" Id="R9c606319b2894b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567423ee92724452" /><Relationship Type="http://schemas.openxmlformats.org/officeDocument/2006/relationships/image" Target="/ppt/media/image.jpeg" Id="R6dcb4c86374c493c" /><Relationship Type="http://schemas.openxmlformats.org/officeDocument/2006/relationships/image" Target="/ppt/media/image4.png" Id="R8e0ef578105940e6" /><Relationship Type="http://schemas.openxmlformats.org/officeDocument/2006/relationships/image" Target="/ppt/media/image5.png" Id="R4aa948fdf101444b" /><Relationship Type="http://schemas.openxmlformats.org/officeDocument/2006/relationships/notesSlide" Target="/ppt/notesSlides/notesSlide17.xml" Id="Ra34f3beadf234a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61141967f9094582" /><Relationship Type="http://schemas.openxmlformats.org/officeDocument/2006/relationships/image" Target="/ppt/media/image6.png" Id="R6527d24f93e145b3" /><Relationship Type="http://schemas.openxmlformats.org/officeDocument/2006/relationships/image" Target="/ppt/media/image7.png" Id="R084f0e6f8743499b" /><Relationship Type="http://schemas.openxmlformats.org/officeDocument/2006/relationships/image" Target="/ppt/media/image8.png" Id="Re61abfe1f7d24881" /><Relationship Type="http://schemas.openxmlformats.org/officeDocument/2006/relationships/image" Target="/ppt/media/image9.png" Id="Re37f927a99a24e94" /><Relationship Type="http://schemas.openxmlformats.org/officeDocument/2006/relationships/image" Target="/ppt/media/image2.png" Id="Rad0ec307b36349e4" /><Relationship Type="http://schemas.openxmlformats.org/officeDocument/2006/relationships/image" Target="/ppt/media/image5.png" Id="R4738ed7b4a2a49ff" /><Relationship Type="http://schemas.openxmlformats.org/officeDocument/2006/relationships/notesSlide" Target="/ppt/notesSlides/notesSlide18.xml" Id="Re898af3d32e348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4317724d5e94cc3" /><Relationship Type="http://schemas.openxmlformats.org/officeDocument/2006/relationships/image" Target="/ppt/media/image.jpeg" Id="R85cf3da9812c4498" /><Relationship Type="http://schemas.openxmlformats.org/officeDocument/2006/relationships/image" Target="/ppt/media/image2.png" Id="Rc7d8dde624694d6d" /><Relationship Type="http://schemas.openxmlformats.org/officeDocument/2006/relationships/image" Target="/ppt/media/image3.png" Id="R8cb51dfdf1fd49db" /><Relationship Type="http://schemas.openxmlformats.org/officeDocument/2006/relationships/notesSlide" Target="/ppt/notesSlides/notesSlide19.xml" Id="Rada2d49c7a3846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fb59d591404f87" /><Relationship Type="http://schemas.openxmlformats.org/officeDocument/2006/relationships/image" Target="/ppt/media/image10.png" Id="R9bc111eb6d2d4957" /><Relationship Type="http://schemas.openxmlformats.org/officeDocument/2006/relationships/image" Target="/ppt/media/image2.png" Id="R51101ed45ed54490" /><Relationship Type="http://schemas.openxmlformats.org/officeDocument/2006/relationships/image" Target="/ppt/media/image3.png" Id="Rc3abcd4523a6427d" /><Relationship Type="http://schemas.openxmlformats.org/officeDocument/2006/relationships/notesSlide" Target="/ppt/notesSlides/notesSlide20.xml" Id="R8bd02f94a4cb427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324320ed19af4ec0" /><Relationship Type="http://schemas.openxmlformats.org/officeDocument/2006/relationships/image" Target="/ppt/media/image6.png" Id="Re926dae97fdc4fe2" /><Relationship Type="http://schemas.openxmlformats.org/officeDocument/2006/relationships/image" Target="/ppt/media/image7.png" Id="R44dbb852340d4b59" /><Relationship Type="http://schemas.openxmlformats.org/officeDocument/2006/relationships/image" Target="/ppt/media/image8.png" Id="R34d232de929e4643" /><Relationship Type="http://schemas.openxmlformats.org/officeDocument/2006/relationships/image" Target="/ppt/media/image9.png" Id="R904b31adc9194f97" /><Relationship Type="http://schemas.openxmlformats.org/officeDocument/2006/relationships/image" Target="/ppt/media/image2.png" Id="Rd27fc62cc3824ebc" /><Relationship Type="http://schemas.openxmlformats.org/officeDocument/2006/relationships/image" Target="/ppt/media/image5.png" Id="Ra5320394d0c347d5" /><Relationship Type="http://schemas.openxmlformats.org/officeDocument/2006/relationships/notesSlide" Target="/ppt/notesSlides/notesSlide21.xml" Id="Ra4f4ff6bf7e14d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1c9183a0f3e548ba" /><Relationship Type="http://schemas.openxmlformats.org/officeDocument/2006/relationships/image" Target="/ppt/media/image2.jpeg" Id="R6cc4d77be8c14e49" /><Relationship Type="http://schemas.openxmlformats.org/officeDocument/2006/relationships/image" Target="/ppt/media/image2.png" Id="Raa3c3517e0f4459b" /><Relationship Type="http://schemas.openxmlformats.org/officeDocument/2006/relationships/image" Target="/ppt/media/image5.png" Id="R873c58eee0ca48e7" /><Relationship Type="http://schemas.openxmlformats.org/officeDocument/2006/relationships/notesSlide" Target="/ppt/notesSlides/notesSlide22.xml" Id="R23db110b238c4a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87fb47400b834912" /><Relationship Type="http://schemas.openxmlformats.org/officeDocument/2006/relationships/image" Target="/ppt/media/image.jpeg" Id="Rb52fe3be17db45b0" /><Relationship Type="http://schemas.openxmlformats.org/officeDocument/2006/relationships/image" Target="/ppt/media/image2.png" Id="R6bdefef233aa4d7d" /><Relationship Type="http://schemas.openxmlformats.org/officeDocument/2006/relationships/image" Target="/ppt/media/image3.png" Id="R9685a5abfbeb469d" /><Relationship Type="http://schemas.openxmlformats.org/officeDocument/2006/relationships/notesSlide" Target="/ppt/notesSlides/notesSlide23.xml" Id="R5d14d80c532a40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974bbeb486a4840" /><Relationship Type="http://schemas.openxmlformats.org/officeDocument/2006/relationships/image" Target="/ppt/media/image10.png" Id="Ra4e07b7aa7374bd4" /><Relationship Type="http://schemas.openxmlformats.org/officeDocument/2006/relationships/image" Target="/ppt/media/image2.png" Id="R89fc6c61e8254d4f" /><Relationship Type="http://schemas.openxmlformats.org/officeDocument/2006/relationships/image" Target="/ppt/media/image3.png" Id="Re96cfa0dea80446c" /><Relationship Type="http://schemas.openxmlformats.org/officeDocument/2006/relationships/notesSlide" Target="/ppt/notesSlides/notesSlide24.xml" Id="Re088a04016594d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7154a96e98e44611" /><Relationship Type="http://schemas.openxmlformats.org/officeDocument/2006/relationships/image" Target="/ppt/media/image4.png" Id="Rd31f80deaee44075" /><Relationship Type="http://schemas.openxmlformats.org/officeDocument/2006/relationships/image" Target="/ppt/media/image5.png" Id="R069b16c3c589415f" /><Relationship Type="http://schemas.openxmlformats.org/officeDocument/2006/relationships/image" Target="/ppt/media/image15.png" Id="Rec270123e3334066" /><Relationship Type="http://schemas.openxmlformats.org/officeDocument/2006/relationships/notesSlide" Target="/ppt/notesSlides/notesSlide25.xml" Id="R0ab9460b8e6f438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5085d36c8cf94424" /><Relationship Type="http://schemas.openxmlformats.org/officeDocument/2006/relationships/image" Target="/ppt/media/image4.png" Id="Ra6ee601a54b449a1" /><Relationship Type="http://schemas.openxmlformats.org/officeDocument/2006/relationships/image" Target="/ppt/media/image5.png" Id="R14e9d0bb7e6547d7" /><Relationship Type="http://schemas.openxmlformats.org/officeDocument/2006/relationships/image" Target="/ppt/media/image16.png" Id="Rb8ab260ad58c4031" /><Relationship Type="http://schemas.openxmlformats.org/officeDocument/2006/relationships/notesSlide" Target="/ppt/notesSlides/notesSlide26.xml" Id="R4c3b8676293c479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569cf85e31474e33" /><Relationship Type="http://schemas.openxmlformats.org/officeDocument/2006/relationships/image" Target="/ppt/media/image4.png" Id="R63e817bdc6b04a7e" /><Relationship Type="http://schemas.openxmlformats.org/officeDocument/2006/relationships/image" Target="/ppt/media/image5.png" Id="Rdbe11eb3f488491d" /><Relationship Type="http://schemas.openxmlformats.org/officeDocument/2006/relationships/image" Target="/ppt/media/image17.png" Id="Rce267603aa924fb2" /><Relationship Type="http://schemas.openxmlformats.org/officeDocument/2006/relationships/notesSlide" Target="/ppt/notesSlides/notesSlide27.xml" Id="R4abc41a5b32a4a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15dc80034ac34593" /><Relationship Type="http://schemas.openxmlformats.org/officeDocument/2006/relationships/image" Target="/ppt/media/image4.png" Id="Re7732429a7fb4e79" /><Relationship Type="http://schemas.openxmlformats.org/officeDocument/2006/relationships/image" Target="/ppt/media/image5.png" Id="R38235de95bbb4662" /><Relationship Type="http://schemas.openxmlformats.org/officeDocument/2006/relationships/notesSlide" Target="/ppt/notesSlides/notesSlide28.xml" Id="Rccbc15b76e7143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75605e9597e84a2d" /><Relationship Type="http://schemas.openxmlformats.org/officeDocument/2006/relationships/image" Target="/ppt/media/image6.png" Id="R8e728179d1e94740" /><Relationship Type="http://schemas.openxmlformats.org/officeDocument/2006/relationships/image" Target="/ppt/media/image7.png" Id="R36f33b0a421e4691" /><Relationship Type="http://schemas.openxmlformats.org/officeDocument/2006/relationships/image" Target="/ppt/media/image8.png" Id="R59e0ad32464f468c" /><Relationship Type="http://schemas.openxmlformats.org/officeDocument/2006/relationships/image" Target="/ppt/media/image9.png" Id="R7ed14303cb8e47b5" /><Relationship Type="http://schemas.openxmlformats.org/officeDocument/2006/relationships/image" Target="/ppt/media/image2.png" Id="Rc6c0f1220b984b9a" /><Relationship Type="http://schemas.openxmlformats.org/officeDocument/2006/relationships/image" Target="/ppt/media/image5.png" Id="R29c2da55b1514fe4" /><Relationship Type="http://schemas.openxmlformats.org/officeDocument/2006/relationships/notesSlide" Target="/ppt/notesSlides/notesSlide29.xml" Id="Rf4e9b2c4de674f4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84ff2a174f2d4105" /><Relationship Type="http://schemas.openxmlformats.org/officeDocument/2006/relationships/image" Target="/ppt/media/image6.png" Id="Ra517c5c1f9324709" /><Relationship Type="http://schemas.openxmlformats.org/officeDocument/2006/relationships/image" Target="/ppt/media/image7.png" Id="Ra95e1d75a9ac4f18" /><Relationship Type="http://schemas.openxmlformats.org/officeDocument/2006/relationships/image" Target="/ppt/media/image8.png" Id="Rd545e92c9e86461e" /><Relationship Type="http://schemas.openxmlformats.org/officeDocument/2006/relationships/image" Target="/ppt/media/image9.png" Id="R7465e98472c643d9" /><Relationship Type="http://schemas.openxmlformats.org/officeDocument/2006/relationships/image" Target="/ppt/media/image2.png" Id="R24f825c3f11947d6" /><Relationship Type="http://schemas.openxmlformats.org/officeDocument/2006/relationships/image" Target="/ppt/media/image5.png" Id="Ra0661c7dfbf54b80" /><Relationship Type="http://schemas.openxmlformats.org/officeDocument/2006/relationships/notesSlide" Target="/ppt/notesSlides/notesSlide30.xml" Id="R882e9af1ef044f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a41712fea1f4c51" /><Relationship Type="http://schemas.openxmlformats.org/officeDocument/2006/relationships/image" Target="/ppt/media/image10.png" Id="R63f49d2d1dbc4940" /><Relationship Type="http://schemas.openxmlformats.org/officeDocument/2006/relationships/image" Target="/ppt/media/image2.png" Id="R7004287596784504" /><Relationship Type="http://schemas.openxmlformats.org/officeDocument/2006/relationships/image" Target="/ppt/media/image3.png" Id="Ra18c84942ca44d6f" /><Relationship Type="http://schemas.openxmlformats.org/officeDocument/2006/relationships/notesSlide" Target="/ppt/notesSlides/notesSlide31.xml" Id="R5cbbb352fbf643e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A3A782CE-D637-4123-8DF4-A69EF380C58C}"/>
              </a:ext>
            </a:extLst>
          </p:cNvPr>
          <p:cNvSpPr>
            <a:spLocks xmlns:a="http://schemas.openxmlformats.org/drawingml/2006/main" noGrp="1"/>
          </p:cNvSpPr>
          <p:nvPr/>
        </p:nvSpPr>
        <p:spPr>
          <a:xfrm xmlns:a="http://schemas.openxmlformats.org/drawingml/2006/main">
            <a:off x="0" y="-10375"/>
            <a:ext cx="9144000"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55" name="Google Shape;55;p13">
            <a:extLst xmlns:a="http://schemas.openxmlformats.org/drawingml/2006/main">
              <a:ext uri="{FF2B5EF4-FFF2-40B4-BE49-F238E27FC236}">
                <a16:creationId xmlns:a16="http://schemas.microsoft.com/office/drawing/2014/main" id="{F3670CF4-7AA4-41A7-A5AA-B13E819249DE}"/>
              </a:ext>
            </a:extLst>
          </p:cNvPr>
          <p:cNvSpPr>
            <a:spLocks xmlns:a="http://schemas.openxmlformats.org/drawingml/2006/main" noGrp="1"/>
          </p:cNvSpPr>
          <p:nvPr/>
        </p:nvSpPr>
        <p:spPr>
          <a:xfrm xmlns:a="http://schemas.openxmlformats.org/drawingml/2006/main">
            <a:off x="495300" y="1304925"/>
            <a:ext cx="4286250" cy="33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000"/>
            </a:defPPr>
          </a:lstStyle>
          <a:p xmlns:a="http://schemas.openxmlformats.org/drawingml/2006/main">
            <a:pPr marL="0" lvl="0" indent="0" algn="l">
              <a:spcBef>
                <a:spcPts val="0"/>
              </a:spcBef>
              <a:spcAft>
                <a:spcPts val="0"/>
              </a:spcAft>
              <a:buNone/>
              <a:defRPr sz="1000"/>
            </a:pPr>
            <a:r>
              <a:rPr sz="1000" b="1">
                <a:solidFill>
                  <a:schemeClr val="dk1"/>
                </a:solidFill>
                <a:latin typeface="Inter"/>
                <a:ea typeface="Inter"/>
                <a:cs typeface="Inter"/>
              </a:rPr>
              <a:t>BUILDING AT HACK MERIDIAN</a:t>
            </a:r>
            <a:endParaRPr sz="1000" b="1">
              <a:solidFill>
                <a:schemeClr val="dk1"/>
              </a:solidFill>
              <a:latin typeface="Inter"/>
              <a:ea typeface="Inter"/>
              <a:cs typeface="Inter"/>
            </a:endParaRPr>
          </a:p>
        </p:txBody>
      </p:sp>
      <p:sp>
        <p:nvSpPr>
          <p:cNvPr id="56" name="Google Shape;56;p13">
            <a:extLst xmlns:a="http://schemas.openxmlformats.org/drawingml/2006/main">
              <a:ext uri="{FF2B5EF4-FFF2-40B4-BE49-F238E27FC236}">
                <a16:creationId xmlns:a16="http://schemas.microsoft.com/office/drawing/2014/main" id="{D2710FA0-6DB0-401B-A25F-BF3A8CFB9EE8}"/>
              </a:ext>
            </a:extLst>
          </p:cNvPr>
          <p:cNvSpPr>
            <a:spLocks xmlns:a="http://schemas.openxmlformats.org/drawingml/2006/main" noGrp="1"/>
          </p:cNvSpPr>
          <p:nvPr/>
        </p:nvSpPr>
        <p:spPr>
          <a:xfrm xmlns:a="http://schemas.openxmlformats.org/drawingml/2006/main">
            <a:off x="485775" y="1714500"/>
            <a:ext cx="4429125" cy="1965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None/>
              <a:defRPr sz="3900"/>
            </a:pPr>
            <a:r>
              <a:rPr sz="3900">
                <a:latin typeface="Inter SemiBold"/>
                <a:ea typeface="Inter SemiBold"/>
                <a:cs typeface="Inter SemiBold"/>
              </a:rPr>
              <a:t>STELLAR</a:t>
            </a:r>
            <a:endParaRPr sz="3900">
              <a:latin typeface="Inter SemiBold"/>
              <a:ea typeface="Inter SemiBold"/>
              <a:cs typeface="Inter SemiBold"/>
            </a:endParaRPr>
          </a:p>
          <a:p xmlns:a="http://schemas.openxmlformats.org/drawingml/2006/main">
            <a:pPr marL="0" lvl="0" indent="0" algn="l">
              <a:spcBef>
                <a:spcPts val="0"/>
              </a:spcBef>
              <a:spcAft>
                <a:spcPts val="0"/>
              </a:spcAft>
              <a:buNone/>
              <a:defRPr sz="3900"/>
            </a:pPr>
            <a:r>
              <a:rPr sz="3900">
                <a:latin typeface="Inter SemiBold"/>
                <a:ea typeface="Inter SemiBold"/>
                <a:cs typeface="Inter SemiBold"/>
              </a:rPr>
              <a:t>SMART</a:t>
            </a:r>
            <a:endParaRPr sz="3900">
              <a:latin typeface="Inter SemiBold"/>
              <a:ea typeface="Inter SemiBold"/>
              <a:cs typeface="Inter SemiBold"/>
            </a:endParaRPr>
          </a:p>
          <a:p xmlns:a="http://schemas.openxmlformats.org/drawingml/2006/main">
            <a:pPr marL="0" lvl="0" indent="0" algn="l">
              <a:spcBef>
                <a:spcPts val="0"/>
              </a:spcBef>
              <a:spcAft>
                <a:spcPts val="0"/>
              </a:spcAft>
              <a:buNone/>
              <a:defRPr sz="3900"/>
            </a:pPr>
            <a:r>
              <a:rPr sz="3900">
                <a:latin typeface="Inter SemiBold"/>
                <a:ea typeface="Inter SemiBold"/>
                <a:cs typeface="Inter SemiBold"/>
              </a:rPr>
              <a:t>ACCOUNTS</a:t>
            </a:r>
            <a:endParaRPr sz="3900">
              <a:latin typeface="Inter SemiBold"/>
              <a:ea typeface="Inter SemiBold"/>
              <a:cs typeface="Inter SemiBold"/>
            </a:endParaRPr>
          </a:p>
        </p:txBody>
      </p:sp>
      <p:sp>
        <p:nvSpPr>
          <p:cNvPr id="57" name="Google Shape;57;p13">
            <a:extLst xmlns:a="http://schemas.openxmlformats.org/drawingml/2006/main">
              <a:ext uri="{FF2B5EF4-FFF2-40B4-BE49-F238E27FC236}">
                <a16:creationId xmlns:a16="http://schemas.microsoft.com/office/drawing/2014/main" id="{AA2D9D3A-C0C2-4972-AEE1-F4B99EF69674}"/>
              </a:ext>
            </a:extLst>
          </p:cNvPr>
          <p:cNvSpPr>
            <a:spLocks xmlns:a="http://schemas.openxmlformats.org/drawingml/2006/main" noGrp="1"/>
          </p:cNvSpPr>
          <p:nvPr/>
        </p:nvSpPr>
        <p:spPr>
          <a:xfrm xmlns:a="http://schemas.openxmlformats.org/drawingml/2006/main">
            <a:off x="495300" y="3648075"/>
            <a:ext cx="4191000" cy="685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650"/>
            </a:defPPr>
          </a:lstStyle>
          <a:p xmlns:a="http://schemas.openxmlformats.org/drawingml/2006/main">
            <a:pPr marL="0" lvl="0" indent="0" algn="l">
              <a:spcBef>
                <a:spcPts val="0"/>
              </a:spcBef>
              <a:spcAft>
                <a:spcPts val="0"/>
              </a:spcAft>
              <a:buNone/>
              <a:defRPr sz="1650"/>
            </a:pPr>
            <a:r>
              <a:rPr sz="1650">
                <a:latin typeface="Inter"/>
                <a:ea typeface="Inter"/>
                <a:cs typeface="Inter"/>
              </a:rPr>
              <a:t>Why a C-address, and how to build an app on one</a:t>
            </a:r>
            <a:endParaRPr sz="1800">
              <a:latin typeface="Inter"/>
              <a:ea typeface="Inter"/>
              <a:cs typeface="Inter"/>
            </a:endParaRPr>
          </a:p>
        </p:txBody>
      </p:sp>
      <p:pic>
        <p:nvPicPr>
          <p:cNvPr id="58" name="Google Shape;58;p13">
            <a:extLst xmlns:a="http://schemas.openxmlformats.org/drawingml/2006/main">
              <a:ext uri="{FF2B5EF4-FFF2-40B4-BE49-F238E27FC236}">
                <a16:creationId xmlns:a16="http://schemas.microsoft.com/office/drawing/2014/main" id="{5D4029B2-E190-4E8E-B8E8-B2BD694A95FF}"/>
              </a:ext>
            </a:extLst>
          </p:cNvPr>
          <p:cNvPicPr>
            <a:picLocks xmlns:a="http://schemas.openxmlformats.org/drawingml/2006/main" noChangeAspect="1"/>
          </p:cNvPicPr>
          <p:nvPr/>
        </p:nvPicPr>
        <p:blipFill>
          <a:blip xmlns:r="http://schemas.openxmlformats.org/officeDocument/2006/relationships" xmlns:a="http://schemas.openxmlformats.org/drawingml/2006/main" r:embed="R5c9ad3ef61f94a4f">
            <a:alphaModFix/>
          </a:blip>
          <a:stretch xmlns:a="http://schemas.openxmlformats.org/drawingml/2006/main">
            <a:fillRect l="0" t="0" r="0" b="0"/>
          </a:stretch>
        </p:blipFill>
        <p:spPr>
          <a:xfrm xmlns:a="http://schemas.openxmlformats.org/drawingml/2006/main">
            <a:off x="5117726" y="-10375"/>
            <a:ext cx="4026273" cy="5140800"/>
          </a:xfrm>
          <a:prstGeom xmlns:a="http://schemas.openxmlformats.org/drawingml/2006/main" prst="rect">
            <a:avLst/>
          </a:prstGeom>
          <a:ln xmlns:a="http://schemas.openxmlformats.org/drawingml/2006/main">
            <a:noFill/>
          </a:ln>
        </p:spPr>
      </p:pic>
      <p:pic>
        <p:nvPicPr>
          <p:cNvPr id="59" name="Google Shape;59;p13">
            <a:extLst xmlns:a="http://schemas.openxmlformats.org/drawingml/2006/main">
              <a:ext uri="{FF2B5EF4-FFF2-40B4-BE49-F238E27FC236}">
                <a16:creationId xmlns:a16="http://schemas.microsoft.com/office/drawing/2014/main" id="{A656C7CA-0167-47B6-8A81-3B3AE466116D}"/>
              </a:ext>
            </a:extLst>
          </p:cNvPr>
          <p:cNvPicPr>
            <a:picLocks xmlns:a="http://schemas.openxmlformats.org/drawingml/2006/main" noChangeAspect="1"/>
          </p:cNvPicPr>
          <p:nvPr/>
        </p:nvPicPr>
        <p:blipFill>
          <a:blip xmlns:r="http://schemas.openxmlformats.org/officeDocument/2006/relationships" xmlns:a="http://schemas.openxmlformats.org/drawingml/2006/main" r:embed="R3790fbf458344b32">
            <a:alphaModFix/>
          </a:blip>
          <a:stretch xmlns:a="http://schemas.openxmlformats.org/drawingml/2006/main">
            <a:fillRect l="0" t="0" r="0" b="0"/>
          </a:stretch>
        </p:blipFill>
        <p:spPr>
          <a:xfrm xmlns:a="http://schemas.openxmlformats.org/drawingml/2006/main">
            <a:off x="251689" y="246151"/>
            <a:ext cx="1149929" cy="200042"/>
          </a:xfrm>
          <a:prstGeom xmlns:a="http://schemas.openxmlformats.org/drawingml/2006/main" prst="rect">
            <a:avLst/>
          </a:prstGeom>
          <a:ln xmlns:a="http://schemas.openxmlformats.org/drawingml/2006/main">
            <a:noFill/>
          </a:ln>
        </p:spPr>
      </p:pic>
      <p:pic>
        <p:nvPicPr>
          <p:cNvPr id="60" name="Google Shape;60;p13">
            <a:extLst xmlns:a="http://schemas.openxmlformats.org/drawingml/2006/main">
              <a:ext uri="{FF2B5EF4-FFF2-40B4-BE49-F238E27FC236}">
                <a16:creationId xmlns:a16="http://schemas.microsoft.com/office/drawing/2014/main" id="{17013FB4-4BDE-454C-85AA-86F10EB4D29C}"/>
              </a:ext>
            </a:extLst>
          </p:cNvPr>
          <p:cNvPicPr>
            <a:picLocks xmlns:a="http://schemas.openxmlformats.org/drawingml/2006/main" noChangeAspect="1"/>
          </p:cNvPicPr>
          <p:nvPr/>
        </p:nvPicPr>
        <p:blipFill>
          <a:blip xmlns:r="http://schemas.openxmlformats.org/officeDocument/2006/relationships" xmlns:a="http://schemas.openxmlformats.org/drawingml/2006/main" r:embed="R420d4f6d1be748e3">
            <a:alphaModFix/>
          </a:blip>
          <a:stretch xmlns:a="http://schemas.openxmlformats.org/drawingml/2006/main">
            <a:fillRect l="0" t="0" r="0" b="0"/>
          </a:stretch>
        </p:blipFill>
        <p:spPr>
          <a:xfrm xmlns:a="http://schemas.openxmlformats.org/drawingml/2006/main">
            <a:off x="251700" y="4636650"/>
            <a:ext cx="967025" cy="249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2958837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18">
            <a:extLst xmlns:a="http://schemas.openxmlformats.org/drawingml/2006/main">
              <a:ext uri="{FF2B5EF4-FFF2-40B4-BE49-F238E27FC236}">
                <a16:creationId xmlns:a16="http://schemas.microsoft.com/office/drawing/2014/main" id="{6E6BE604-952B-4AB4-AF4D-7E321BFECCE4}"/>
              </a:ext>
            </a:extLst>
          </p:cNvPr>
          <p:cNvSpPr>
            <a:spLocks xmlns:a="http://schemas.openxmlformats.org/drawingml/2006/main" noGrp="1"/>
          </p:cNvSpPr>
          <p:nvPr/>
        </p:nvSpPr>
        <p:spPr>
          <a:xfrm xmlns:a="http://schemas.openxmlformats.org/drawingml/2006/main">
            <a:off x="0" y="-10375"/>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26" name="Google Shape;126;p18">
            <a:extLst xmlns:a="http://schemas.openxmlformats.org/drawingml/2006/main">
              <a:ext uri="{FF2B5EF4-FFF2-40B4-BE49-F238E27FC236}">
                <a16:creationId xmlns:a16="http://schemas.microsoft.com/office/drawing/2014/main" id="{D2BC35EC-49F3-4233-8F96-3FE729092C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b7c025dcccb4d5c">
            <a:alphaModFix amt="39000"/>
          </a:blip>
          <a:srcRect xmlns:a="http://schemas.openxmlformats.org/drawingml/2006/main" l="0" t="0" r="0" b="6621"/>
          <a:stretch xmlns:a="http://schemas.openxmlformats.org/drawingml/2006/main"/>
        </p:blipFill>
        <p:spPr>
          <a:xfrm xmlns:a="http://schemas.openxmlformats.org/drawingml/2006/main">
            <a:off x="0" y="-10375"/>
            <a:ext cx="9144000" cy="5143500"/>
          </a:xfrm>
          <a:prstGeom xmlns:a="http://schemas.openxmlformats.org/drawingml/2006/main" prst="rect">
            <a:avLst/>
          </a:prstGeom>
          <a:ln xmlns:a="http://schemas.openxmlformats.org/drawingml/2006/main">
            <a:noFill/>
          </a:ln>
        </p:spPr>
      </p:pic>
      <p:sp>
        <p:nvSpPr>
          <p:cNvPr id="127" name="Google Shape;127;p18">
            <a:extLst xmlns:a="http://schemas.openxmlformats.org/drawingml/2006/main">
              <a:ext uri="{FF2B5EF4-FFF2-40B4-BE49-F238E27FC236}">
                <a16:creationId xmlns:a16="http://schemas.microsoft.com/office/drawing/2014/main" id="{3DFAF13F-4509-46A3-BDE9-4E7FE7F3A49D}"/>
              </a:ext>
            </a:extLst>
          </p:cNvPr>
          <p:cNvSpPr>
            <a:spLocks xmlns:a="http://schemas.openxmlformats.org/drawingml/2006/main" noGrp="1"/>
          </p:cNvSpPr>
          <p:nvPr/>
        </p:nvSpPr>
        <p:spPr>
          <a:xfrm xmlns:a="http://schemas.openxmlformats.org/drawingml/2006/main">
            <a:off x="1104900" y="1143000"/>
            <a:ext cx="7429500" cy="1965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None/>
              <a:defRPr sz="3900"/>
            </a:pPr>
            <a:r>
              <a:rPr sz="3900">
                <a:solidFill>
                  <a:schemeClr val="lt1"/>
                </a:solidFill>
                <a:latin typeface="Inter SemiBold"/>
                <a:ea typeface="Inter SemiBold"/>
                <a:cs typeface="Inter SemiBold"/>
              </a:rPr>
              <a:t>YOUR ACCOUNT SHOULD</a:t>
            </a:r>
            <a:endParaRPr sz="3900">
              <a:solidFill>
                <a:schemeClr val="lt1"/>
              </a:solidFill>
              <a:latin typeface="Inter SemiBold"/>
              <a:ea typeface="Inter SemiBold"/>
              <a:cs typeface="Inter SemiBold"/>
            </a:endParaRPr>
          </a:p>
          <a:p xmlns:a="http://schemas.openxmlformats.org/drawingml/2006/main">
            <a:pPr marL="0" lvl="0" indent="0" algn="l">
              <a:spcBef>
                <a:spcPts val="0"/>
              </a:spcBef>
              <a:spcAft>
                <a:spcPts val="0"/>
              </a:spcAft>
              <a:buNone/>
              <a:defRPr sz="3900"/>
            </a:pPr>
            <a:r>
              <a:rPr sz="3900">
                <a:solidFill>
                  <a:schemeClr val="lt1"/>
                </a:solidFill>
                <a:latin typeface="Inter SemiBold"/>
                <a:ea typeface="Inter SemiBold"/>
                <a:cs typeface="Inter SemiBold"/>
              </a:rPr>
              <a:t>HAVE RULES,</a:t>
            </a:r>
            <a:endParaRPr sz="3900">
              <a:solidFill>
                <a:schemeClr val="lt1"/>
              </a:solidFill>
              <a:latin typeface="Inter SemiBold"/>
              <a:ea typeface="Inter SemiBold"/>
              <a:cs typeface="Inter SemiBold"/>
            </a:endParaRPr>
          </a:p>
          <a:p xmlns:a="http://schemas.openxmlformats.org/drawingml/2006/main">
            <a:pPr marL="0" lvl="0" indent="0" algn="l">
              <a:spcBef>
                <a:spcPts val="0"/>
              </a:spcBef>
              <a:spcAft>
                <a:spcPts val="0"/>
              </a:spcAft>
              <a:buNone/>
              <a:defRPr sz="3900"/>
            </a:pPr>
            <a:r>
              <a:rPr sz="3900">
                <a:solidFill>
                  <a:schemeClr val="lt1"/>
                </a:solidFill>
                <a:latin typeface="Inter SemiBold"/>
                <a:ea typeface="Inter SemiBold"/>
                <a:cs typeface="Inter SemiBold"/>
              </a:rPr>
              <a:t>NOT JUST A KEY</a:t>
            </a:r>
            <a:endParaRPr sz="3900">
              <a:solidFill>
                <a:schemeClr val="lt1"/>
              </a:solidFill>
              <a:latin typeface="Inter SemiBold"/>
              <a:ea typeface="Inter SemiBold"/>
              <a:cs typeface="Inter SemiBold"/>
            </a:endParaRPr>
          </a:p>
        </p:txBody>
      </p:sp>
      <p:sp>
        <p:nvSpPr>
          <p:cNvPr id="128" name="Google Shape;128;p18">
            <a:extLst xmlns:a="http://schemas.openxmlformats.org/drawingml/2006/main">
              <a:ext uri="{FF2B5EF4-FFF2-40B4-BE49-F238E27FC236}">
                <a16:creationId xmlns:a16="http://schemas.microsoft.com/office/drawing/2014/main" id="{CBC6506B-32A5-4610-8D5B-CCE7057596C7}"/>
              </a:ext>
            </a:extLst>
          </p:cNvPr>
          <p:cNvSpPr>
            <a:spLocks xmlns:a="http://schemas.openxmlformats.org/drawingml/2006/main" noGrp="1"/>
          </p:cNvSpPr>
          <p:nvPr/>
        </p:nvSpPr>
        <p:spPr>
          <a:xfrm xmlns:a="http://schemas.openxmlformats.org/drawingml/2006/main">
            <a:off x="1152525" y="3114675"/>
            <a:ext cx="6572250" cy="4343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650" i="0"/>
            </a:defPPr>
          </a:lstStyle>
          <a:p xmlns:a="http://schemas.openxmlformats.org/drawingml/2006/main">
            <a:pPr marL="0" lvl="0" indent="0" algn="l">
              <a:spcBef>
                <a:spcPts val="0"/>
              </a:spcBef>
              <a:spcAft>
                <a:spcPts val="0"/>
              </a:spcAft>
              <a:buNone/>
              <a:defRPr sz="1650" i="0"/>
            </a:pPr>
            <a:r>
              <a:rPr sz="1650" i="0">
                <a:solidFill>
                  <a:schemeClr val="lt1"/>
                </a:solidFill>
                <a:latin typeface="Inter"/>
                <a:ea typeface="Inter"/>
                <a:cs typeface="Inter"/>
              </a:rPr>
              <a:t>G-addresses hold keys. C-addresses run code.</a:t>
            </a:r>
            <a:endParaRPr sz="1200" i="1">
              <a:solidFill>
                <a:schemeClr val="lt1"/>
              </a:solidFill>
              <a:latin typeface="Inter"/>
              <a:ea typeface="Inter"/>
              <a:cs typeface="Inter"/>
            </a:endParaRPr>
          </a:p>
        </p:txBody>
      </p:sp>
      <p:sp>
        <p:nvSpPr>
          <p:cNvPr id="129" name="Google Shape;129;p18">
            <a:extLst xmlns:a="http://schemas.openxmlformats.org/drawingml/2006/main">
              <a:ext uri="{FF2B5EF4-FFF2-40B4-BE49-F238E27FC236}">
                <a16:creationId xmlns:a16="http://schemas.microsoft.com/office/drawing/2014/main" id="{F975C957-E201-41EB-ABA1-F31CA9B5002B}"/>
              </a:ext>
            </a:extLst>
          </p:cNvPr>
          <p:cNvSpPr>
            <a:spLocks xmlns:a="http://schemas.openxmlformats.org/drawingml/2006/main" noGrp="1"/>
          </p:cNvSpPr>
          <p:nvPr/>
        </p:nvSpPr>
        <p:spPr>
          <a:xfrm xmlns:a="http://schemas.openxmlformats.org/drawingml/2006/main">
            <a:off x="514350" y="314325"/>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T H E   B I G   I D E A</a:t>
            </a:r>
            <a:endParaRPr sz="900" b="1">
              <a:solidFill>
                <a:schemeClr val="lt1"/>
              </a:solidFill>
              <a:latin typeface="Inter"/>
              <a:ea typeface="Inter"/>
              <a:cs typeface="Inter"/>
            </a:endParaRPr>
          </a:p>
        </p:txBody>
      </p:sp>
      <p:pic>
        <p:nvPicPr>
          <p:cNvPr id="130" name="Google Shape;130;p18">
            <a:extLst xmlns:a="http://schemas.openxmlformats.org/drawingml/2006/main">
              <a:ext uri="{FF2B5EF4-FFF2-40B4-BE49-F238E27FC236}">
                <a16:creationId xmlns:a16="http://schemas.microsoft.com/office/drawing/2014/main" id="{4F41CC66-9A6A-4156-B45D-C910D24E039D}"/>
              </a:ext>
            </a:extLst>
          </p:cNvPr>
          <p:cNvPicPr>
            <a:picLocks xmlns:a="http://schemas.openxmlformats.org/drawingml/2006/main" noChangeAspect="1"/>
          </p:cNvPicPr>
          <p:nvPr/>
        </p:nvPicPr>
        <p:blipFill>
          <a:blip xmlns:r="http://schemas.openxmlformats.org/officeDocument/2006/relationships" xmlns:a="http://schemas.openxmlformats.org/drawingml/2006/main" r:embed="R1c04923b8d6d494b">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31" name="Google Shape;131;p18">
            <a:extLst xmlns:a="http://schemas.openxmlformats.org/drawingml/2006/main">
              <a:ext uri="{FF2B5EF4-FFF2-40B4-BE49-F238E27FC236}">
                <a16:creationId xmlns:a16="http://schemas.microsoft.com/office/drawing/2014/main" id="{2DB04439-2A12-4DAF-90D5-7292D4076685}"/>
              </a:ext>
            </a:extLst>
          </p:cNvPr>
          <p:cNvPicPr>
            <a:picLocks xmlns:a="http://schemas.openxmlformats.org/drawingml/2006/main" noChangeAspect="1"/>
          </p:cNvPicPr>
          <p:nvPr/>
        </p:nvPicPr>
        <p:blipFill>
          <a:blip xmlns:r="http://schemas.openxmlformats.org/officeDocument/2006/relationships" xmlns:a="http://schemas.openxmlformats.org/drawingml/2006/main" r:embed="Rd40ba4a104c047be">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553908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4" name="Google Shape;164;p21">
            <a:extLst xmlns:a="http://schemas.openxmlformats.org/drawingml/2006/main">
              <a:ext uri="{FF2B5EF4-FFF2-40B4-BE49-F238E27FC236}">
                <a16:creationId xmlns:a16="http://schemas.microsoft.com/office/drawing/2014/main" id="{52F62372-C213-4763-B0C8-3E5CD56BAB68}"/>
              </a:ext>
            </a:extLst>
          </p:cNvPr>
          <p:cNvSpPr>
            <a:spLocks xmlns:a="http://schemas.openxmlformats.org/drawingml/2006/main" noGrp="1"/>
          </p:cNvSpPr>
          <p:nvPr/>
        </p:nvSpPr>
        <p:spPr>
          <a:xfrm xmlns:a="http://schemas.openxmlformats.org/drawingml/2006/main">
            <a:off x="483370" y="851143"/>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C L A S S I C   A C C O U N T S</a:t>
            </a:r>
            <a:endParaRPr sz="1000" b="1">
              <a:solidFill>
                <a:schemeClr val="dk1"/>
              </a:solidFill>
              <a:latin typeface="Inter"/>
              <a:ea typeface="Inter"/>
              <a:cs typeface="Inter"/>
            </a:endParaRPr>
          </a:p>
        </p:txBody>
      </p:sp>
      <p:sp>
        <p:nvSpPr>
          <p:cNvPr id="165" name="Google Shape;165;p21">
            <a:extLst xmlns:a="http://schemas.openxmlformats.org/drawingml/2006/main">
              <a:ext uri="{FF2B5EF4-FFF2-40B4-BE49-F238E27FC236}">
                <a16:creationId xmlns:a16="http://schemas.microsoft.com/office/drawing/2014/main" id="{E6E48E09-9756-4C91-8EA9-E64C5F4A053E}"/>
              </a:ext>
            </a:extLst>
          </p:cNvPr>
          <p:cNvSpPr>
            <a:spLocks xmlns:a="http://schemas.openxmlformats.org/drawingml/2006/main" noGrp="1"/>
          </p:cNvSpPr>
          <p:nvPr/>
        </p:nvSpPr>
        <p:spPr>
          <a:xfrm xmlns:a="http://schemas.openxmlformats.org/drawingml/2006/main">
            <a:off x="485775" y="1219200"/>
            <a:ext cx="4714875" cy="7086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450"/>
            </a:defPPr>
          </a:lstStyle>
          <a:p xmlns:a="http://schemas.openxmlformats.org/drawingml/2006/main">
            <a:pPr marL="0" lvl="0" indent="0" algn="l">
              <a:spcBef>
                <a:spcPts val="0"/>
              </a:spcBef>
              <a:spcAft>
                <a:spcPts val="0"/>
              </a:spcAft>
              <a:buNone/>
              <a:defRPr sz="3450"/>
            </a:pPr>
            <a:r>
              <a:rPr sz="3450" spc="-231">
                <a:solidFill>
                  <a:schemeClr val="dk1"/>
                </a:solidFill>
                <a:latin typeface="Inter Medium"/>
                <a:ea typeface="Inter Medium"/>
                <a:cs typeface="Inter Medium"/>
              </a:rPr>
              <a:t>G-ADDRESS: A KEY</a:t>
            </a:r>
            <a:endParaRPr sz="3900">
              <a:solidFill>
                <a:schemeClr val="dk1"/>
              </a:solidFill>
              <a:latin typeface="Inter Medium"/>
              <a:ea typeface="Inter Medium"/>
              <a:cs typeface="Inter Medium"/>
            </a:endParaRPr>
          </a:p>
        </p:txBody>
      </p:sp>
      <p:sp>
        <p:nvSpPr>
          <p:cNvPr id="166" name="Google Shape;166;p21">
            <a:extLst xmlns:a="http://schemas.openxmlformats.org/drawingml/2006/main">
              <a:ext uri="{FF2B5EF4-FFF2-40B4-BE49-F238E27FC236}">
                <a16:creationId xmlns:a16="http://schemas.microsoft.com/office/drawing/2014/main" id="{A4E2F2AC-49DB-4FB4-8E4E-E1AFDF1D405F}"/>
              </a:ext>
            </a:extLst>
          </p:cNvPr>
          <p:cNvSpPr>
            <a:spLocks xmlns:a="http://schemas.openxmlformats.org/drawingml/2006/main" noGrp="1"/>
          </p:cNvSpPr>
          <p:nvPr/>
        </p:nvSpPr>
        <p:spPr>
          <a:xfrm xmlns:a="http://schemas.openxmlformats.org/drawingml/2006/main">
            <a:off x="495300" y="1990725"/>
            <a:ext cx="4619625" cy="97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725"/>
            </a:defPPr>
          </a:lstStyle>
          <a:p xmlns:a="http://schemas.openxmlformats.org/drawingml/2006/main">
            <a:pPr marL="0" lvl="0" indent="0" algn="l">
              <a:spcBef>
                <a:spcPts val="0"/>
              </a:spcBef>
              <a:spcAft>
                <a:spcPts val="0"/>
              </a:spcAft>
              <a:buNone/>
              <a:defRPr sz="1725"/>
            </a:pPr>
            <a:r>
              <a:rPr sz="1725">
                <a:latin typeface="Inter"/>
                <a:ea typeface="Inter"/>
                <a:cs typeface="Inter"/>
              </a:rPr>
              <a:t>Ed25519 signers, weights, thresholds:</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fixed rules the protocol defines.</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An app asks every time, or holds your key.</a:t>
            </a:r>
            <a:endParaRPr sz="1800">
              <a:latin typeface="Inter"/>
              <a:ea typeface="Inter"/>
              <a:cs typeface="Inter"/>
            </a:endParaRPr>
          </a:p>
        </p:txBody>
      </p:sp>
      <p:pic>
        <p:nvPicPr>
          <p:cNvPr id="167" name="Google Shape;167;p21">
            <a:extLst xmlns:a="http://schemas.openxmlformats.org/drawingml/2006/main">
              <a:ext uri="{FF2B5EF4-FFF2-40B4-BE49-F238E27FC236}">
                <a16:creationId xmlns:a16="http://schemas.microsoft.com/office/drawing/2014/main" id="{1F8433EB-1E31-4760-AEC0-744667E436B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d38eaeb1f2461c">
            <a:alphaModFix/>
          </a:blip>
          <a:srcRect xmlns:a="http://schemas.openxmlformats.org/drawingml/2006/main" l="0" t="0" r="9190" b="0"/>
          <a:stretch xmlns:a="http://schemas.openxmlformats.org/drawingml/2006/main"/>
        </p:blipFill>
        <p:spPr>
          <a:xfrm xmlns:a="http://schemas.openxmlformats.org/drawingml/2006/main">
            <a:off x="5694059" y="0"/>
            <a:ext cx="3449942" cy="5143501"/>
          </a:xfrm>
          <a:prstGeom xmlns:a="http://schemas.openxmlformats.org/drawingml/2006/main" prst="rect">
            <a:avLst/>
          </a:prstGeom>
          <a:ln xmlns:a="http://schemas.openxmlformats.org/drawingml/2006/main">
            <a:noFill/>
          </a:ln>
        </p:spPr>
      </p:pic>
      <p:pic>
        <p:nvPicPr>
          <p:cNvPr id="168" name="Google Shape;168;p21">
            <a:extLst xmlns:a="http://schemas.openxmlformats.org/drawingml/2006/main">
              <a:ext uri="{FF2B5EF4-FFF2-40B4-BE49-F238E27FC236}">
                <a16:creationId xmlns:a16="http://schemas.microsoft.com/office/drawing/2014/main" id="{7B543C8C-BC1F-4DAB-B508-A8C2FFFB53BB}"/>
              </a:ext>
            </a:extLst>
          </p:cNvPr>
          <p:cNvPicPr>
            <a:picLocks xmlns:a="http://schemas.openxmlformats.org/drawingml/2006/main" noChangeAspect="1"/>
          </p:cNvPicPr>
          <p:nvPr/>
        </p:nvPicPr>
        <p:blipFill>
          <a:blip xmlns:r="http://schemas.openxmlformats.org/officeDocument/2006/relationships" xmlns:a="http://schemas.openxmlformats.org/drawingml/2006/main" r:embed="Rc4f07f9f0481486d">
            <a:alphaModFix/>
          </a:blip>
          <a:stretch xmlns:a="http://schemas.openxmlformats.org/drawingml/2006/main">
            <a:fillRect l="0" t="0" r="0" b="0"/>
          </a:stretch>
        </p:blipFill>
        <p:spPr>
          <a:xfrm xmlns:a="http://schemas.openxmlformats.org/drawingml/2006/main">
            <a:off x="251689" y="246151"/>
            <a:ext cx="1149929" cy="200042"/>
          </a:xfrm>
          <a:prstGeom xmlns:a="http://schemas.openxmlformats.org/drawingml/2006/main" prst="rect">
            <a:avLst/>
          </a:prstGeom>
          <a:ln xmlns:a="http://schemas.openxmlformats.org/drawingml/2006/main">
            <a:noFill/>
          </a:ln>
        </p:spPr>
      </p:pic>
      <p:pic>
        <p:nvPicPr>
          <p:cNvPr id="169" name="Google Shape;169;p21">
            <a:extLst xmlns:a="http://schemas.openxmlformats.org/drawingml/2006/main">
              <a:ext uri="{FF2B5EF4-FFF2-40B4-BE49-F238E27FC236}">
                <a16:creationId xmlns:a16="http://schemas.microsoft.com/office/drawing/2014/main" id="{63CA8D59-8F27-466C-9B43-D8F6A8A68B80}"/>
              </a:ext>
            </a:extLst>
          </p:cNvPr>
          <p:cNvPicPr>
            <a:picLocks xmlns:a="http://schemas.openxmlformats.org/drawingml/2006/main" noChangeAspect="1"/>
          </p:cNvPicPr>
          <p:nvPr/>
        </p:nvPicPr>
        <p:blipFill>
          <a:blip xmlns:r="http://schemas.openxmlformats.org/officeDocument/2006/relationships" xmlns:a="http://schemas.openxmlformats.org/drawingml/2006/main" r:embed="R1aad7dede9434fb1">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70" name="">
            <a:extLst xmlns:a="http://schemas.openxmlformats.org/drawingml/2006/main">
              <a:ext uri="{FF2B5EF4-FFF2-40B4-BE49-F238E27FC236}">
                <a16:creationId xmlns:a16="http://schemas.microsoft.com/office/drawing/2014/main" id="{D56A8A5C-D2DB-4656-9EB9-3D42DA560108}"/>
              </a:ext>
            </a:extLst>
          </p:cNvPr>
          <p:cNvSpPr>
            <a:spLocks xmlns:a="http://schemas.openxmlformats.org/drawingml/2006/main" noGrp="1"/>
          </p:cNvSpPr>
          <p:nvPr/>
        </p:nvSpPr>
        <p:spPr>
          <a:xfrm xmlns:a="http://schemas.openxmlformats.org/drawingml/2006/main">
            <a:off x="495300" y="4267200"/>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Multisig exists. Scoped permission does not.</a:t>
            </a:r>
          </a:p>
        </p:txBody>
      </p:sp>
    </p:spTree>
    <p:extLst>
      <p:ext uri="{BB962C8B-B14F-4D97-AF65-F5344CB8AC3E}">
        <p14:creationId xmlns:p14="http://schemas.microsoft.com/office/powerpoint/2010/main" val="9828091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6" name="Google Shape;136;p19">
            <a:extLst xmlns:a="http://schemas.openxmlformats.org/drawingml/2006/main">
              <a:ext uri="{FF2B5EF4-FFF2-40B4-BE49-F238E27FC236}">
                <a16:creationId xmlns:a16="http://schemas.microsoft.com/office/drawing/2014/main" id="{4FA796BF-06EB-4679-96CE-6D749EA285BA}"/>
              </a:ext>
            </a:extLst>
          </p:cNvPr>
          <p:cNvSpPr>
            <a:spLocks xmlns:a="http://schemas.openxmlformats.org/drawingml/2006/main" noGrp="1"/>
          </p:cNvSpPr>
          <p:nvPr/>
        </p:nvSpPr>
        <p:spPr>
          <a:xfrm xmlns:a="http://schemas.openxmlformats.org/drawingml/2006/main">
            <a:off x="3031396" y="849570"/>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C O N T R A C T   A C C O U N T S</a:t>
            </a:r>
            <a:endParaRPr sz="1000" b="1">
              <a:solidFill>
                <a:schemeClr val="dk1"/>
              </a:solidFill>
              <a:latin typeface="Inter"/>
              <a:ea typeface="Inter"/>
              <a:cs typeface="Inter"/>
            </a:endParaRPr>
          </a:p>
        </p:txBody>
      </p:sp>
      <p:sp>
        <p:nvSpPr>
          <p:cNvPr id="137" name="Google Shape;137;p19">
            <a:extLst xmlns:a="http://schemas.openxmlformats.org/drawingml/2006/main">
              <a:ext uri="{FF2B5EF4-FFF2-40B4-BE49-F238E27FC236}">
                <a16:creationId xmlns:a16="http://schemas.microsoft.com/office/drawing/2014/main" id="{3B6E446C-B8D3-4EA9-AF55-F24691D838DD}"/>
              </a:ext>
            </a:extLst>
          </p:cNvPr>
          <p:cNvSpPr>
            <a:spLocks xmlns:a="http://schemas.openxmlformats.org/drawingml/2006/main" noGrp="1"/>
          </p:cNvSpPr>
          <p:nvPr/>
        </p:nvSpPr>
        <p:spPr>
          <a:xfrm xmlns:a="http://schemas.openxmlformats.org/drawingml/2006/main">
            <a:off x="3028950" y="1219200"/>
            <a:ext cx="5715000" cy="19659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C-ADDRESS:</a:t>
            </a:r>
            <a:endParaRPr sz="3900" spc="-231">
              <a:solidFill>
                <a:schemeClr val="dk1"/>
              </a:solidFill>
              <a:latin typeface="Inter Medium"/>
              <a:ea typeface="Inter Medium"/>
              <a:cs typeface="Inter Medium"/>
            </a:endParaRPr>
          </a:p>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AN ACCOUNT</a:t>
            </a:r>
            <a:endParaRPr sz="3900" spc="-231">
              <a:solidFill>
                <a:schemeClr val="dk1"/>
              </a:solidFill>
              <a:latin typeface="Inter Medium"/>
              <a:ea typeface="Inter Medium"/>
              <a:cs typeface="Inter Medium"/>
            </a:endParaRPr>
          </a:p>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THAT RUNS CODE</a:t>
            </a:r>
            <a:endParaRPr sz="3900" spc="-231">
              <a:solidFill>
                <a:schemeClr val="dk1"/>
              </a:solidFill>
              <a:latin typeface="Inter Medium"/>
              <a:ea typeface="Inter Medium"/>
              <a:cs typeface="Inter Medium"/>
            </a:endParaRPr>
          </a:p>
        </p:txBody>
      </p:sp>
      <p:sp>
        <p:nvSpPr>
          <p:cNvPr id="138" name="Google Shape;138;p19">
            <a:extLst xmlns:a="http://schemas.openxmlformats.org/drawingml/2006/main">
              <a:ext uri="{FF2B5EF4-FFF2-40B4-BE49-F238E27FC236}">
                <a16:creationId xmlns:a16="http://schemas.microsoft.com/office/drawing/2014/main" id="{0C2BDDD1-FC24-4AAB-92DD-8A663EC5FDBC}"/>
              </a:ext>
            </a:extLst>
          </p:cNvPr>
          <p:cNvSpPr>
            <a:spLocks xmlns:a="http://schemas.openxmlformats.org/drawingml/2006/main" noGrp="1"/>
          </p:cNvSpPr>
          <p:nvPr/>
        </p:nvSpPr>
        <p:spPr>
          <a:xfrm xmlns:a="http://schemas.openxmlformats.org/drawingml/2006/main">
            <a:off x="3038475" y="3228975"/>
            <a:ext cx="5619750" cy="97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725"/>
            </a:defPPr>
          </a:lstStyle>
          <a:p xmlns:a="http://schemas.openxmlformats.org/drawingml/2006/main">
            <a:pPr marL="0" lvl="0" indent="0" algn="l">
              <a:spcBef>
                <a:spcPts val="0"/>
              </a:spcBef>
              <a:spcAft>
                <a:spcPts val="0"/>
              </a:spcAft>
              <a:buNone/>
              <a:defRPr sz="1725"/>
            </a:pPr>
            <a:r>
              <a:rPr sz="1725">
                <a:latin typeface="Inter"/>
                <a:ea typeface="Inter"/>
                <a:cs typeface="Inter"/>
              </a:rPr>
              <a:t>from.require_auth()</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 the account’s __check_auth</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 its rules decide</a:t>
            </a:r>
            <a:endParaRPr sz="1800">
              <a:latin typeface="Inter"/>
              <a:ea typeface="Inter"/>
              <a:cs typeface="Inter"/>
            </a:endParaRPr>
          </a:p>
        </p:txBody>
      </p:sp>
      <p:pic>
        <p:nvPicPr>
          <p:cNvPr id="139" name="Google Shape;139;p19">
            <a:extLst xmlns:a="http://schemas.openxmlformats.org/drawingml/2006/main">
              <a:ext uri="{FF2B5EF4-FFF2-40B4-BE49-F238E27FC236}">
                <a16:creationId xmlns:a16="http://schemas.microsoft.com/office/drawing/2014/main" id="{BE06D2BE-5039-47B5-A959-0FD9A69879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466710d625b4de7">
            <a:alphaModFix/>
          </a:blip>
          <a:srcRect xmlns:a="http://schemas.openxmlformats.org/drawingml/2006/main" l="44448" t="2095" r="26037" b="0"/>
          <a:stretch xmlns:a="http://schemas.openxmlformats.org/drawingml/2006/main"/>
        </p:blipFill>
        <p:spPr>
          <a:xfrm xmlns:a="http://schemas.openxmlformats.org/drawingml/2006/main">
            <a:off x="0" y="0"/>
            <a:ext cx="2520000" cy="5035825"/>
          </a:xfrm>
          <a:prstGeom xmlns:a="http://schemas.openxmlformats.org/drawingml/2006/main" prst="rect">
            <a:avLst/>
          </a:prstGeom>
          <a:ln xmlns:a="http://schemas.openxmlformats.org/drawingml/2006/main">
            <a:noFill/>
          </a:ln>
        </p:spPr>
      </p:pic>
      <p:pic>
        <p:nvPicPr>
          <p:cNvPr id="140" name="Google Shape;140;p19">
            <a:extLst xmlns:a="http://schemas.openxmlformats.org/drawingml/2006/main">
              <a:ext uri="{FF2B5EF4-FFF2-40B4-BE49-F238E27FC236}">
                <a16:creationId xmlns:a16="http://schemas.microsoft.com/office/drawing/2014/main" id="{30EC4DE3-3C90-4A26-AED9-5936DECC7448}"/>
              </a:ext>
            </a:extLst>
          </p:cNvPr>
          <p:cNvPicPr>
            <a:picLocks xmlns:a="http://schemas.openxmlformats.org/drawingml/2006/main" noChangeAspect="1"/>
          </p:cNvPicPr>
          <p:nvPr/>
        </p:nvPicPr>
        <p:blipFill>
          <a:blip xmlns:r="http://schemas.openxmlformats.org/officeDocument/2006/relationships" xmlns:a="http://schemas.openxmlformats.org/drawingml/2006/main" r:embed="R7b350408884a4d2d">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41" name="Google Shape;141;p19">
            <a:extLst xmlns:a="http://schemas.openxmlformats.org/drawingml/2006/main">
              <a:ext uri="{FF2B5EF4-FFF2-40B4-BE49-F238E27FC236}">
                <a16:creationId xmlns:a16="http://schemas.microsoft.com/office/drawing/2014/main" id="{A18B86C8-02D3-4F4C-B8B0-1713BBB0A806}"/>
              </a:ext>
            </a:extLst>
          </p:cNvPr>
          <p:cNvPicPr>
            <a:picLocks xmlns:a="http://schemas.openxmlformats.org/drawingml/2006/main" noChangeAspect="1"/>
          </p:cNvPicPr>
          <p:nvPr/>
        </p:nvPicPr>
        <p:blipFill>
          <a:blip xmlns:r="http://schemas.openxmlformats.org/officeDocument/2006/relationships" xmlns:a="http://schemas.openxmlformats.org/drawingml/2006/main" r:embed="R3ab403ec25884131">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
        <p:nvSpPr>
          <p:cNvPr id="142" name="">
            <a:extLst xmlns:a="http://schemas.openxmlformats.org/drawingml/2006/main">
              <a:ext uri="{FF2B5EF4-FFF2-40B4-BE49-F238E27FC236}">
                <a16:creationId xmlns:a16="http://schemas.microsoft.com/office/drawing/2014/main" id="{12DBE2F4-EA24-4C82-BF4E-124BFD4C40C9}"/>
              </a:ext>
            </a:extLst>
          </p:cNvPr>
          <p:cNvSpPr>
            <a:spLocks xmlns:a="http://schemas.openxmlformats.org/drawingml/2006/main" noGrp="1"/>
          </p:cNvSpPr>
          <p:nvPr/>
        </p:nvSpPr>
        <p:spPr>
          <a:xfrm xmlns:a="http://schemas.openxmlformats.org/drawingml/2006/main">
            <a:off x="3038475" y="4267200"/>
            <a:ext cx="561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Same Address type for your contract</a:t>
            </a:r>
          </a:p>
        </p:txBody>
      </p:sp>
    </p:spTree>
    <p:extLst>
      <p:ext uri="{BB962C8B-B14F-4D97-AF65-F5344CB8AC3E}">
        <p14:creationId xmlns:p14="http://schemas.microsoft.com/office/powerpoint/2010/main" val="3346452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20">
            <a:extLst xmlns:a="http://schemas.openxmlformats.org/drawingml/2006/main">
              <a:ext uri="{FF2B5EF4-FFF2-40B4-BE49-F238E27FC236}">
                <a16:creationId xmlns:a16="http://schemas.microsoft.com/office/drawing/2014/main" id="{DF8C0561-2FAE-4531-850C-4FF264366183}"/>
              </a:ext>
            </a:extLst>
          </p:cNvPr>
          <p:cNvSpPr>
            <a:spLocks xmlns:a="http://schemas.openxmlformats.org/drawingml/2006/main" noGrp="1"/>
          </p:cNvSpPr>
          <p:nvPr/>
        </p:nvSpPr>
        <p:spPr>
          <a:xfrm xmlns:a="http://schemas.openxmlformats.org/drawingml/2006/main">
            <a:off x="0" y="1489525"/>
            <a:ext cx="9144000" cy="36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7" name="Google Shape;147;p20">
            <a:extLst xmlns:a="http://schemas.openxmlformats.org/drawingml/2006/main">
              <a:ext uri="{FF2B5EF4-FFF2-40B4-BE49-F238E27FC236}">
                <a16:creationId xmlns:a16="http://schemas.microsoft.com/office/drawing/2014/main" id="{EF383876-131E-49CE-A712-088124D73625}"/>
              </a:ext>
            </a:extLst>
          </p:cNvPr>
          <p:cNvSpPr>
            <a:spLocks xmlns:a="http://schemas.openxmlformats.org/drawingml/2006/main" noGrp="1"/>
          </p:cNvSpPr>
          <p:nvPr/>
        </p:nvSpPr>
        <p:spPr>
          <a:xfrm xmlns:a="http://schemas.openxmlformats.org/drawingml/2006/main">
            <a:off x="466725" y="866775"/>
            <a:ext cx="817245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WHAT RULES BUY YOU</a:t>
            </a:r>
            <a:endParaRPr sz="3900">
              <a:latin typeface="Inter Medium"/>
              <a:ea typeface="Inter Medium"/>
              <a:cs typeface="Inter Medium"/>
            </a:endParaRPr>
          </a:p>
        </p:txBody>
      </p:sp>
      <p:sp>
        <p:nvSpPr>
          <p:cNvPr id="148" name="Google Shape;148;p20">
            <a:extLst xmlns:a="http://schemas.openxmlformats.org/drawingml/2006/main">
              <a:ext uri="{FF2B5EF4-FFF2-40B4-BE49-F238E27FC236}">
                <a16:creationId xmlns:a16="http://schemas.microsoft.com/office/drawing/2014/main" id="{34E1A8D1-70A7-4201-A62E-8F1137AE3372}"/>
              </a:ext>
            </a:extLst>
          </p:cNvPr>
          <p:cNvSpPr>
            <a:spLocks xmlns:a="http://schemas.openxmlformats.org/drawingml/2006/main" noGrp="1"/>
          </p:cNvSpPr>
          <p:nvPr/>
        </p:nvSpPr>
        <p:spPr>
          <a:xfrm xmlns:a="http://schemas.openxmlformats.org/drawingml/2006/main">
            <a:off x="49530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PASSKEYS</a:t>
            </a:r>
          </a:p>
          <a:p xmlns:a="http://schemas.openxmlformats.org/drawingml/2006/main">
            <a:r>
              <a:rPr sz="1500" b="0">
                <a:solidFill>
                  <a:srgbClr val="FFFFFF"/>
                </a:solidFill>
                <a:latin typeface="Inter"/>
                <a:ea typeface="Inter"/>
                <a:cs typeface="Inter"/>
              </a:rPr>
              <a:t>Face ID instead of a seed phrase</a:t>
            </a:r>
          </a:p>
        </p:txBody>
      </p:sp>
      <p:sp>
        <p:nvSpPr>
          <p:cNvPr id="149" name="Google Shape;149;p20">
            <a:extLst xmlns:a="http://schemas.openxmlformats.org/drawingml/2006/main">
              <a:ext uri="{FF2B5EF4-FFF2-40B4-BE49-F238E27FC236}">
                <a16:creationId xmlns:a16="http://schemas.microsoft.com/office/drawing/2014/main" id="{8F8BBA27-C242-4F70-8FA8-F6EF0C873857}"/>
              </a:ext>
            </a:extLst>
          </p:cNvPr>
          <p:cNvSpPr>
            <a:spLocks xmlns:a="http://schemas.openxmlformats.org/drawingml/2006/main" noGrp="1"/>
          </p:cNvSpPr>
          <p:nvPr/>
        </p:nvSpPr>
        <p:spPr>
          <a:xfrm xmlns:a="http://schemas.openxmlformats.org/drawingml/2006/main">
            <a:off x="495300" y="285750"/>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W H A T   R U L E S   B U Y   Y O U</a:t>
            </a:r>
            <a:endParaRPr sz="900" b="1">
              <a:solidFill>
                <a:schemeClr val="dk1"/>
              </a:solidFill>
              <a:latin typeface="Inter"/>
              <a:ea typeface="Inter"/>
              <a:cs typeface="Inter"/>
            </a:endParaRPr>
          </a:p>
        </p:txBody>
      </p:sp>
      <p:pic>
        <p:nvPicPr>
          <p:cNvPr id="150" name="Google Shape;150;p20">
            <a:extLst xmlns:a="http://schemas.openxmlformats.org/drawingml/2006/main">
              <a:ext uri="{FF2B5EF4-FFF2-40B4-BE49-F238E27FC236}">
                <a16:creationId xmlns:a16="http://schemas.microsoft.com/office/drawing/2014/main" id="{40234DBD-7D59-4A64-8915-AC1655C4E663}"/>
              </a:ext>
            </a:extLst>
          </p:cNvPr>
          <p:cNvPicPr>
            <a:picLocks xmlns:a="http://schemas.openxmlformats.org/drawingml/2006/main" noChangeAspect="1"/>
          </p:cNvPicPr>
          <p:nvPr/>
        </p:nvPicPr>
        <p:blipFill>
          <a:blip xmlns:r="http://schemas.openxmlformats.org/officeDocument/2006/relationships" xmlns:a="http://schemas.openxmlformats.org/drawingml/2006/main" r:embed="Rbed52c4893e144b2">
            <a:alphaModFix/>
          </a:blip>
          <a:stretch xmlns:a="http://schemas.openxmlformats.org/drawingml/2006/main">
            <a:fillRect l="0" t="0" r="0" b="0"/>
          </a:stretch>
        </p:blipFill>
        <p:spPr>
          <a:xfrm xmlns:a="http://schemas.openxmlformats.org/drawingml/2006/main">
            <a:off x="6213174" y="1928314"/>
            <a:ext cx="704738" cy="599027"/>
          </a:xfrm>
          <a:prstGeom xmlns:a="http://schemas.openxmlformats.org/drawingml/2006/main" prst="rect">
            <a:avLst/>
          </a:prstGeom>
          <a:ln xmlns:a="http://schemas.openxmlformats.org/drawingml/2006/main">
            <a:noFill/>
          </a:ln>
        </p:spPr>
      </p:pic>
      <p:pic>
        <p:nvPicPr>
          <p:cNvPr id="151" name="Google Shape;151;p20">
            <a:extLst xmlns:a="http://schemas.openxmlformats.org/drawingml/2006/main">
              <a:ext uri="{FF2B5EF4-FFF2-40B4-BE49-F238E27FC236}">
                <a16:creationId xmlns:a16="http://schemas.microsoft.com/office/drawing/2014/main" id="{6346241A-EB16-4750-867B-4F81524D6132}"/>
              </a:ext>
            </a:extLst>
          </p:cNvPr>
          <p:cNvPicPr>
            <a:picLocks xmlns:a="http://schemas.openxmlformats.org/drawingml/2006/main" noChangeAspect="1"/>
          </p:cNvPicPr>
          <p:nvPr/>
        </p:nvPicPr>
        <p:blipFill>
          <a:blip xmlns:r="http://schemas.openxmlformats.org/officeDocument/2006/relationships" xmlns:a="http://schemas.openxmlformats.org/drawingml/2006/main" r:embed="R257be449659d4a8e">
            <a:alphaModFix/>
          </a:blip>
          <a:stretch xmlns:a="http://schemas.openxmlformats.org/drawingml/2006/main">
            <a:fillRect l="0" t="0" r="0" b="0"/>
          </a:stretch>
        </p:blipFill>
        <p:spPr>
          <a:xfrm xmlns:a="http://schemas.openxmlformats.org/drawingml/2006/main">
            <a:off x="3339252" y="1928314"/>
            <a:ext cx="683596" cy="599027"/>
          </a:xfrm>
          <a:prstGeom xmlns:a="http://schemas.openxmlformats.org/drawingml/2006/main" prst="rect">
            <a:avLst/>
          </a:prstGeom>
          <a:ln xmlns:a="http://schemas.openxmlformats.org/drawingml/2006/main">
            <a:noFill/>
          </a:ln>
        </p:spPr>
      </p:pic>
      <p:pic>
        <p:nvPicPr>
          <p:cNvPr id="152" name="Google Shape;152;p20">
            <a:extLst xmlns:a="http://schemas.openxmlformats.org/drawingml/2006/main">
              <a:ext uri="{FF2B5EF4-FFF2-40B4-BE49-F238E27FC236}">
                <a16:creationId xmlns:a16="http://schemas.microsoft.com/office/drawing/2014/main" id="{DCAAA086-612D-4FB2-ACCE-F5AE9A3243E2}"/>
              </a:ext>
            </a:extLst>
          </p:cNvPr>
          <p:cNvPicPr>
            <a:picLocks xmlns:a="http://schemas.openxmlformats.org/drawingml/2006/main" noChangeAspect="1"/>
          </p:cNvPicPr>
          <p:nvPr/>
        </p:nvPicPr>
        <p:blipFill>
          <a:blip xmlns:r="http://schemas.openxmlformats.org/officeDocument/2006/relationships" xmlns:a="http://schemas.openxmlformats.org/drawingml/2006/main" r:embed="R4bffb03d5d9942da">
            <a:alphaModFix/>
          </a:blip>
          <a:stretch xmlns:a="http://schemas.openxmlformats.org/drawingml/2006/main">
            <a:fillRect l="0" t="0" r="0" b="0"/>
          </a:stretch>
        </p:blipFill>
        <p:spPr>
          <a:xfrm xmlns:a="http://schemas.openxmlformats.org/drawingml/2006/main">
            <a:off x="483596" y="1977160"/>
            <a:ext cx="528553" cy="599027"/>
          </a:xfrm>
          <a:prstGeom xmlns:a="http://schemas.openxmlformats.org/drawingml/2006/main" prst="rect">
            <a:avLst/>
          </a:prstGeom>
          <a:ln xmlns:a="http://schemas.openxmlformats.org/drawingml/2006/main">
            <a:noFill/>
          </a:ln>
        </p:spPr>
      </p:pic>
      <p:sp>
        <p:nvSpPr>
          <p:cNvPr id="153" name="Google Shape;153;p20">
            <a:extLst xmlns:a="http://schemas.openxmlformats.org/drawingml/2006/main">
              <a:ext uri="{FF2B5EF4-FFF2-40B4-BE49-F238E27FC236}">
                <a16:creationId xmlns:a16="http://schemas.microsoft.com/office/drawing/2014/main" id="{68D57CE8-F8E5-489B-A66B-EADE3949060B}"/>
              </a:ext>
            </a:extLst>
          </p:cNvPr>
          <p:cNvSpPr>
            <a:spLocks xmlns:a="http://schemas.openxmlformats.org/drawingml/2006/main" noGrp="1"/>
          </p:cNvSpPr>
          <p:nvPr/>
        </p:nvSpPr>
        <p:spPr>
          <a:xfrm xmlns:a="http://schemas.openxmlformats.org/drawingml/2006/main">
            <a:off x="3121574"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4" name="Google Shape;154;p20">
            <a:extLst xmlns:a="http://schemas.openxmlformats.org/drawingml/2006/main">
              <a:ext uri="{FF2B5EF4-FFF2-40B4-BE49-F238E27FC236}">
                <a16:creationId xmlns:a16="http://schemas.microsoft.com/office/drawing/2014/main" id="{FC4945A8-123B-4B26-8E97-76D71C2C3E4D}"/>
              </a:ext>
            </a:extLst>
          </p:cNvPr>
          <p:cNvSpPr>
            <a:spLocks xmlns:a="http://schemas.openxmlformats.org/drawingml/2006/main" noGrp="1"/>
          </p:cNvSpPr>
          <p:nvPr/>
        </p:nvSpPr>
        <p:spPr>
          <a:xfrm xmlns:a="http://schemas.openxmlformats.org/drawingml/2006/main">
            <a:off x="6001425"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20">
            <a:extLst xmlns:a="http://schemas.openxmlformats.org/drawingml/2006/main">
              <a:ext uri="{FF2B5EF4-FFF2-40B4-BE49-F238E27FC236}">
                <a16:creationId xmlns:a16="http://schemas.microsoft.com/office/drawing/2014/main" id="{689FA661-20E8-4DA1-BDD4-72125760483F}"/>
              </a:ext>
            </a:extLst>
          </p:cNvPr>
          <p:cNvSpPr>
            <a:spLocks xmlns:a="http://schemas.openxmlformats.org/drawingml/2006/main" noGrp="1"/>
          </p:cNvSpPr>
          <p:nvPr/>
        </p:nvSpPr>
        <p:spPr>
          <a:xfrm xmlns:a="http://schemas.openxmlformats.org/drawingml/2006/main">
            <a:off x="3343275"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SCOPED KEYS</a:t>
            </a:r>
          </a:p>
          <a:p xmlns:a="http://schemas.openxmlformats.org/drawingml/2006/main">
            <a:r>
              <a:rPr sz="1500" b="0">
                <a:solidFill>
                  <a:srgbClr val="FFFFFF"/>
                </a:solidFill>
                <a:latin typeface="Inter"/>
                <a:ea typeface="Inter"/>
                <a:cs typeface="Inter"/>
              </a:rPr>
              <a:t>One contract, listed functions, an expiry</a:t>
            </a:r>
          </a:p>
        </p:txBody>
      </p:sp>
      <p:sp>
        <p:nvSpPr>
          <p:cNvPr id="156" name="Google Shape;156;p20">
            <a:extLst xmlns:a="http://schemas.openxmlformats.org/drawingml/2006/main">
              <a:ext uri="{FF2B5EF4-FFF2-40B4-BE49-F238E27FC236}">
                <a16:creationId xmlns:a16="http://schemas.microsoft.com/office/drawing/2014/main" id="{5211F131-288F-4C55-AE5F-ECB2EA9F681F}"/>
              </a:ext>
            </a:extLst>
          </p:cNvPr>
          <p:cNvSpPr>
            <a:spLocks xmlns:a="http://schemas.openxmlformats.org/drawingml/2006/main" noGrp="1"/>
          </p:cNvSpPr>
          <p:nvPr/>
        </p:nvSpPr>
        <p:spPr>
          <a:xfrm xmlns:a="http://schemas.openxmlformats.org/drawingml/2006/main">
            <a:off x="622935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SPENDING CAPS</a:t>
            </a:r>
          </a:p>
          <a:p xmlns:a="http://schemas.openxmlformats.org/drawingml/2006/main">
            <a:r>
              <a:rPr sz="1500" b="0">
                <a:solidFill>
                  <a:srgbClr val="FFFFFF"/>
                </a:solidFill>
                <a:latin typeface="Inter"/>
                <a:ea typeface="Inter"/>
                <a:cs typeface="Inter"/>
              </a:rPr>
              <a:t>A rolling limit the account enforces</a:t>
            </a:r>
          </a:p>
        </p:txBody>
      </p:sp>
      <p:pic>
        <p:nvPicPr>
          <p:cNvPr id="157" name="Google Shape;157;p20">
            <a:extLst xmlns:a="http://schemas.openxmlformats.org/drawingml/2006/main">
              <a:ext uri="{FF2B5EF4-FFF2-40B4-BE49-F238E27FC236}">
                <a16:creationId xmlns:a16="http://schemas.microsoft.com/office/drawing/2014/main" id="{B89AB6B0-5F96-4EA2-A98C-3C98D80E9EBA}"/>
              </a:ext>
            </a:extLst>
          </p:cNvPr>
          <p:cNvPicPr>
            <a:picLocks xmlns:a="http://schemas.openxmlformats.org/drawingml/2006/main" noChangeAspect="1"/>
          </p:cNvPicPr>
          <p:nvPr/>
        </p:nvPicPr>
        <p:blipFill>
          <a:blip xmlns:r="http://schemas.openxmlformats.org/officeDocument/2006/relationships" xmlns:a="http://schemas.openxmlformats.org/drawingml/2006/main" r:embed="R6faecc280eba4a72">
            <a:alphaModFix amt="40000"/>
          </a:blip>
          <a:stretch xmlns:a="http://schemas.openxmlformats.org/drawingml/2006/main">
            <a:fillRect l="0" t="0" r="0" b="0"/>
          </a:stretch>
        </p:blipFill>
        <p:spPr>
          <a:xfrm xmlns:a="http://schemas.openxmlformats.org/drawingml/2006/main">
            <a:off x="0" y="4848216"/>
            <a:ext cx="9144000" cy="273050"/>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D6ED8720-3A1F-4535-ABB4-F30AC15F8068}"/>
              </a:ext>
            </a:extLst>
          </p:cNvPr>
          <p:cNvPicPr>
            <a:picLocks xmlns:a="http://schemas.openxmlformats.org/drawingml/2006/main" noChangeAspect="1"/>
          </p:cNvPicPr>
          <p:nvPr/>
        </p:nvPicPr>
        <p:blipFill>
          <a:blip xmlns:r="http://schemas.openxmlformats.org/officeDocument/2006/relationships" xmlns:a="http://schemas.openxmlformats.org/drawingml/2006/main" r:embed="R39d322c2b01c4181">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5880C17E-5B8F-42E4-9371-53F478B091AA}"/>
              </a:ext>
            </a:extLst>
          </p:cNvPr>
          <p:cNvPicPr>
            <a:picLocks xmlns:a="http://schemas.openxmlformats.org/drawingml/2006/main" noChangeAspect="1"/>
          </p:cNvPicPr>
          <p:nvPr/>
        </p:nvPicPr>
        <p:blipFill>
          <a:blip xmlns:r="http://schemas.openxmlformats.org/officeDocument/2006/relationships" xmlns:a="http://schemas.openxmlformats.org/drawingml/2006/main" r:embed="R09da9cd5e1f14258">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72638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THE HONEST TRADE-OFFS</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No classic operations; Horizon shows no account</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W H A T   I T   C O S T S</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Sponsored, up to a shared daily budget</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Testnet, pre-audit, forked dependencies</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453094c30d694e8f">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8af17a84f30d49a7">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0BCDA76E-0E4E-42A1-AF99-88DE4CA29EA1}"/>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COMPATIBILITY</a:t>
            </a:r>
          </a:p>
        </p:txBody>
      </p:sp>
      <p:sp>
        <p:nvSpPr>
          <p:cNvPr id="189" name="">
            <a:extLst xmlns:a="http://schemas.openxmlformats.org/drawingml/2006/main">
              <a:ext uri="{FF2B5EF4-FFF2-40B4-BE49-F238E27FC236}">
                <a16:creationId xmlns:a16="http://schemas.microsoft.com/office/drawing/2014/main" id="{CFEE59CB-9B7D-4899-8937-4E48033A0AA1}"/>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COST</a:t>
            </a:r>
          </a:p>
        </p:txBody>
      </p:sp>
      <p:sp>
        <p:nvSpPr>
          <p:cNvPr id="190" name="">
            <a:extLst xmlns:a="http://schemas.openxmlformats.org/drawingml/2006/main">
              <a:ext uri="{FF2B5EF4-FFF2-40B4-BE49-F238E27FC236}">
                <a16:creationId xmlns:a16="http://schemas.microsoft.com/office/drawing/2014/main" id="{98DD7333-2FD6-431B-9953-AEC0A69B3A3B}"/>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MATURITY</a:t>
            </a:r>
          </a:p>
        </p:txBody>
      </p:sp>
      <p:sp>
        <p:nvSpPr>
          <p:cNvPr id="191" name="">
            <a:extLst xmlns:a="http://schemas.openxmlformats.org/drawingml/2006/main">
              <a:ext uri="{FF2B5EF4-FFF2-40B4-BE49-F238E27FC236}">
                <a16:creationId xmlns:a16="http://schemas.microsoft.com/office/drawing/2014/main" id="{2DB13E0D-EB92-4A42-B8C3-3098E4DDEA91}"/>
              </a:ext>
            </a:extLst>
          </p:cNvPr>
          <p:cNvSpPr>
            <a:spLocks xmlns:a="http://schemas.openxmlformats.org/drawingml/2006/main" noGrp="1"/>
          </p:cNvSpPr>
          <p:nvPr/>
        </p:nvSpPr>
        <p:spPr>
          <a:xfrm xmlns:a="http://schemas.openxmlformats.org/drawingml/2006/main">
            <a:off x="657225" y="185737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2250" b="0">
                <a:solidFill>
                  <a:srgbClr val="FFFFFF"/>
                </a:solidFill>
                <a:latin typeface="Inter"/>
                <a:ea typeface="Inter"/>
                <a:cs typeface="Inter"/>
              </a:rPr>
              <a:t>WHAT NIDO’S</a:t>
            </a:r>
            <a:br>
              <a:rPr sz="2250" b="0">
                <a:solidFill>
                  <a:srgbClr val="FFFFFF"/>
                </a:solidFill>
                <a:latin typeface="Inter"/>
                <a:ea typeface="Inter"/>
                <a:cs typeface="Inter"/>
              </a:rPr>
            </a:br>
            <a:r>
              <a:rPr sz="2250" b="0">
                <a:solidFill>
                  <a:srgbClr val="FFFFFF"/>
                </a:solidFill>
                <a:latin typeface="Inter"/>
                <a:ea typeface="Inter"/>
                <a:cs typeface="Inter"/>
              </a:rPr>
              <a:t>RELAYER PAYS</a:t>
            </a:r>
          </a:p>
        </p:txBody>
      </p:sp>
      <p:sp>
        <p:nvSpPr>
          <p:cNvPr id="192" name="">
            <a:extLst xmlns:a="http://schemas.openxmlformats.org/drawingml/2006/main">
              <a:ext uri="{FF2B5EF4-FFF2-40B4-BE49-F238E27FC236}">
                <a16:creationId xmlns:a16="http://schemas.microsoft.com/office/drawing/2014/main" id="{F1465E0E-49A3-4D30-9179-8A93CB5D5020}"/>
              </a:ext>
            </a:extLst>
          </p:cNvPr>
          <p:cNvSpPr>
            <a:spLocks xmlns:a="http://schemas.openxmlformats.org/drawingml/2006/main" noGrp="1"/>
          </p:cNvSpPr>
          <p:nvPr/>
        </p:nvSpPr>
        <p:spPr>
          <a:xfrm xmlns:a="http://schemas.openxmlformats.org/drawingml/2006/main">
            <a:off x="657225" y="2971800"/>
            <a:ext cx="409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500" b="0">
                <a:solidFill>
                  <a:srgbClr val="FFFFFF"/>
                </a:solidFill>
                <a:latin typeface="Inter"/>
                <a:ea typeface="Inter"/>
                <a:cs typeface="Inter"/>
              </a:rPr>
              <a:t>Account: about 1.4 XLM</a:t>
            </a:r>
            <a:br>
              <a:rPr sz="1500" b="0">
                <a:solidFill>
                  <a:srgbClr val="FFFFFF"/>
                </a:solidFill>
                <a:latin typeface="Inter"/>
                <a:ea typeface="Inter"/>
                <a:cs typeface="Inter"/>
              </a:rPr>
            </a:br>
            <a:r>
              <a:rPr sz="1500" b="0">
                <a:solidFill>
                  <a:srgbClr val="FFFFFF"/>
                </a:solidFill>
                <a:latin typeface="Inter"/>
                <a:ea typeface="Inter"/>
                <a:cs typeface="Inter"/>
              </a:rPr>
              <a:t>First grant: about 4.5 XLM</a:t>
            </a:r>
            <a:br>
              <a:rPr sz="1500" b="0">
                <a:solidFill>
                  <a:srgbClr val="FFFFFF"/>
                </a:solidFill>
                <a:latin typeface="Inter"/>
                <a:ea typeface="Inter"/>
                <a:cs typeface="Inter"/>
              </a:rPr>
            </a:br>
            <a:r>
              <a:rPr sz="1500" b="0">
                <a:solidFill>
                  <a:srgbClr val="FFFFFF"/>
                </a:solidFill>
                <a:latin typeface="Inter"/>
                <a:ea typeface="Inter"/>
                <a:cs typeface="Inter"/>
              </a:rPr>
              <a:t>Capped grant: about 2.7 XLM</a:t>
            </a:r>
          </a:p>
        </p:txBody>
      </p:sp>
      <p:sp>
        <p:nvSpPr>
          <p:cNvPr id="193" name="">
            <a:extLst xmlns:a="http://schemas.openxmlformats.org/drawingml/2006/main">
              <a:ext uri="{FF2B5EF4-FFF2-40B4-BE49-F238E27FC236}">
                <a16:creationId xmlns:a16="http://schemas.microsoft.com/office/drawing/2014/main" id="{E689DFCB-2457-415A-8BD4-CAC1DCE08D39}"/>
              </a:ext>
            </a:extLst>
          </p:cNvPr>
          <p:cNvSpPr>
            <a:spLocks xmlns:a="http://schemas.openxmlformats.org/drawingml/2006/main" noGrp="1"/>
          </p:cNvSpPr>
          <p:nvPr/>
        </p:nvSpPr>
        <p:spPr>
          <a:xfrm xmlns:a="http://schemas.openxmlformats.org/drawingml/2006/main">
            <a:off x="657225" y="4114800"/>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From one 100 XLM/day pot, on 22 Oct 2026</a:t>
            </a:r>
          </a:p>
        </p:txBody>
      </p:sp>
    </p:spTree>
    <p:extLst>
      <p:ext uri="{BB962C8B-B14F-4D97-AF65-F5344CB8AC3E}">
        <p14:creationId xmlns:p14="http://schemas.microsoft.com/office/powerpoint/2010/main" val="12960780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PERCH: A RULE YOU CAN READ</a:t>
            </a:r>
            <a:endParaRPr sz="3000">
              <a:solidFill>
                <a:schemeClr val="lt1"/>
              </a:solidFill>
              <a:latin typeface="Inter SemiBold"/>
              <a:ea typeface="Inter SemiBold"/>
              <a:cs typeface="Inter SemiBold"/>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P E R C H   ·   T H E   P O L I C Y   L A Y E R</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3f1b1732f4f043b5">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eea05fc9a13d4858">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06DBCF3E-B7EF-4B08-856E-CE24EC9E63FC}"/>
              </a:ext>
            </a:extLst>
          </p:cNvPr>
          <p:cNvSpPr>
            <a:spLocks xmlns:a="http://schemas.openxmlformats.org/drawingml/2006/main" noGrp="1"/>
          </p:cNvSpPr>
          <p:nvPr/>
        </p:nvSpPr>
        <p:spPr>
          <a:xfrm xmlns:a="http://schemas.openxmlformats.org/drawingml/2006/main">
            <a:off x="657225" y="1638300"/>
            <a:ext cx="78962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725" b="0">
                <a:solidFill>
                  <a:srgbClr val="FFFFFF"/>
                </a:solidFill>
                <a:latin typeface="Inter"/>
                <a:ea typeface="Inter"/>
                <a:cs typeface="Inter"/>
              </a:rPr>
              <a:t>{ "name": "kudos-xlm",</a:t>
            </a:r>
            <a:br>
              <a:rPr sz="1725" b="0">
                <a:solidFill>
                  <a:srgbClr val="FFFFFF"/>
                </a:solidFill>
                <a:latin typeface="Inter"/>
                <a:ea typeface="Inter"/>
                <a:cs typeface="Inter"/>
              </a:rPr>
            </a:br>
            <a:r>
              <a:rPr sz="1725" b="0">
                <a:solidFill>
                  <a:srgbClr val="FFFFFF"/>
                </a:solidFill>
                <a:latin typeface="Inter"/>
                <a:ea typeface="Inter"/>
                <a:cs typeface="Inter"/>
              </a:rPr>
              <a:t>  "scope": { "type": "contract", "address": "CDLZ…CYSC" },</a:t>
            </a:r>
            <a:br>
              <a:rPr sz="1725" b="0">
                <a:solidFill>
                  <a:srgbClr val="FFFFFF"/>
                </a:solidFill>
                <a:latin typeface="Inter"/>
                <a:ea typeface="Inter"/>
                <a:cs typeface="Inter"/>
              </a:rPr>
            </a:br>
            <a:r>
              <a:rPr sz="1725" b="0">
                <a:solidFill>
                  <a:srgbClr val="FFFFFF"/>
                </a:solidFill>
                <a:latin typeface="Inter"/>
                <a:ea typeface="Inter"/>
                <a:cs typeface="Inter"/>
              </a:rPr>
              <a:t>  "principals": { "type": "all", "signers": ["session"] },</a:t>
            </a:r>
            <a:br>
              <a:rPr sz="1725" b="0">
                <a:solidFill>
                  <a:srgbClr val="FFFFFF"/>
                </a:solidFill>
                <a:latin typeface="Inter"/>
                <a:ea typeface="Inter"/>
                <a:cs typeface="Inter"/>
              </a:rPr>
            </a:br>
            <a:r>
              <a:rPr sz="1725" b="0">
                <a:solidFill>
                  <a:srgbClr val="FFFFFF"/>
                </a:solidFill>
                <a:latin typeface="Inter"/>
                <a:ea typeface="Inter"/>
                <a:cs typeface="Inter"/>
              </a:rPr>
              <a:t>  "functions": ["transfer"],</a:t>
            </a:r>
            <a:br>
              <a:rPr sz="1725" b="0">
                <a:solidFill>
                  <a:srgbClr val="FFFFFF"/>
                </a:solidFill>
                <a:latin typeface="Inter"/>
                <a:ea typeface="Inter"/>
                <a:cs typeface="Inter"/>
              </a:rPr>
            </a:br>
            <a:r>
              <a:rPr sz="1725" b="0">
                <a:solidFill>
                  <a:srgbClr val="FFFFFF"/>
                </a:solidFill>
                <a:latin typeface="Inter"/>
                <a:ea typeface="Inter"/>
                <a:cs typeface="Inter"/>
              </a:rPr>
              <a:t>  "cap": { "limit": "20000000", "period-ledgers": 17280 },</a:t>
            </a:r>
            <a:br>
              <a:rPr sz="1725" b="0">
                <a:solidFill>
                  <a:srgbClr val="FFFFFF"/>
                </a:solidFill>
                <a:latin typeface="Inter"/>
                <a:ea typeface="Inter"/>
                <a:cs typeface="Inter"/>
              </a:rPr>
            </a:br>
            <a:r>
              <a:rPr sz="1725" b="0">
                <a:solidFill>
                  <a:srgbClr val="FFFFFF"/>
                </a:solidFill>
                <a:latin typeface="Inter"/>
                <a:ea typeface="Inter"/>
                <a:cs typeface="Inter"/>
              </a:rPr>
              <a:t>  "not-after-ledger": 5342393 }</a:t>
            </a:r>
          </a:p>
        </p:txBody>
      </p:sp>
      <p:sp>
        <p:nvSpPr>
          <p:cNvPr id="189" name="">
            <a:extLst xmlns:a="http://schemas.openxmlformats.org/drawingml/2006/main">
              <a:ext uri="{FF2B5EF4-FFF2-40B4-BE49-F238E27FC236}">
                <a16:creationId xmlns:a16="http://schemas.microsoft.com/office/drawing/2014/main" id="{83B3BD2B-4E09-4AD1-8EAB-AA440017ED59}"/>
              </a:ext>
            </a:extLst>
          </p:cNvPr>
          <p:cNvSpPr>
            <a:spLocks xmlns:a="http://schemas.openxmlformats.org/drawingml/2006/main" noGrp="1"/>
          </p:cNvSpPr>
          <p:nvPr/>
        </p:nvSpPr>
        <p:spPr>
          <a:xfrm xmlns:a="http://schemas.openxmlformats.org/drawingml/2006/main">
            <a:off x="657225" y="4333875"/>
            <a:ext cx="789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One document per account, hashed and compiled on chain, enforced in __check_auth.</a:t>
            </a:r>
          </a:p>
        </p:txBody>
      </p:sp>
    </p:spTree>
    <p:extLst>
      <p:ext uri="{BB962C8B-B14F-4D97-AF65-F5344CB8AC3E}">
        <p14:creationId xmlns:p14="http://schemas.microsoft.com/office/powerpoint/2010/main" val="12960780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4" name="Google Shape;164;p21">
            <a:extLst xmlns:a="http://schemas.openxmlformats.org/drawingml/2006/main">
              <a:ext uri="{FF2B5EF4-FFF2-40B4-BE49-F238E27FC236}">
                <a16:creationId xmlns:a16="http://schemas.microsoft.com/office/drawing/2014/main" id="{52F62372-C213-4763-B0C8-3E5CD56BAB68}"/>
              </a:ext>
            </a:extLst>
          </p:cNvPr>
          <p:cNvSpPr>
            <a:spLocks xmlns:a="http://schemas.openxmlformats.org/drawingml/2006/main" noGrp="1"/>
          </p:cNvSpPr>
          <p:nvPr/>
        </p:nvSpPr>
        <p:spPr>
          <a:xfrm xmlns:a="http://schemas.openxmlformats.org/drawingml/2006/main">
            <a:off x="483370" y="851143"/>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T H E   W A L L E T</a:t>
            </a:r>
            <a:endParaRPr sz="1000" b="1">
              <a:solidFill>
                <a:schemeClr val="dk1"/>
              </a:solidFill>
              <a:latin typeface="Inter"/>
              <a:ea typeface="Inter"/>
              <a:cs typeface="Inter"/>
            </a:endParaRPr>
          </a:p>
        </p:txBody>
      </p:sp>
      <p:sp>
        <p:nvSpPr>
          <p:cNvPr id="165" name="Google Shape;165;p21">
            <a:extLst xmlns:a="http://schemas.openxmlformats.org/drawingml/2006/main">
              <a:ext uri="{FF2B5EF4-FFF2-40B4-BE49-F238E27FC236}">
                <a16:creationId xmlns:a16="http://schemas.microsoft.com/office/drawing/2014/main" id="{E6E48E09-9756-4C91-8EA9-E64C5F4A053E}"/>
              </a:ext>
            </a:extLst>
          </p:cNvPr>
          <p:cNvSpPr>
            <a:spLocks xmlns:a="http://schemas.openxmlformats.org/drawingml/2006/main" noGrp="1"/>
          </p:cNvSpPr>
          <p:nvPr/>
        </p:nvSpPr>
        <p:spPr>
          <a:xfrm xmlns:a="http://schemas.openxmlformats.org/drawingml/2006/main">
            <a:off x="485775" y="1352550"/>
            <a:ext cx="4714875" cy="9600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5100"/>
            </a:defPPr>
          </a:lstStyle>
          <a:p xmlns:a="http://schemas.openxmlformats.org/drawingml/2006/main">
            <a:pPr marL="0" lvl="0" indent="0" algn="l">
              <a:spcBef>
                <a:spcPts val="0"/>
              </a:spcBef>
              <a:spcAft>
                <a:spcPts val="0"/>
              </a:spcAft>
              <a:buNone/>
              <a:defRPr sz="5100"/>
            </a:pPr>
            <a:r>
              <a:rPr sz="5100" spc="-231">
                <a:solidFill>
                  <a:schemeClr val="dk1"/>
                </a:solidFill>
                <a:latin typeface="Inter Medium"/>
                <a:ea typeface="Inter Medium"/>
                <a:cs typeface="Inter Medium"/>
              </a:rPr>
              <a:t>NIDO</a:t>
            </a:r>
            <a:endParaRPr sz="3900">
              <a:solidFill>
                <a:schemeClr val="dk1"/>
              </a:solidFill>
              <a:latin typeface="Inter Medium"/>
              <a:ea typeface="Inter Medium"/>
              <a:cs typeface="Inter Medium"/>
            </a:endParaRPr>
          </a:p>
        </p:txBody>
      </p:sp>
      <p:sp>
        <p:nvSpPr>
          <p:cNvPr id="166" name="Google Shape;166;p21">
            <a:extLst xmlns:a="http://schemas.openxmlformats.org/drawingml/2006/main">
              <a:ext uri="{FF2B5EF4-FFF2-40B4-BE49-F238E27FC236}">
                <a16:creationId xmlns:a16="http://schemas.microsoft.com/office/drawing/2014/main" id="{A4E2F2AC-49DB-4FB4-8E4E-E1AFDF1D405F}"/>
              </a:ext>
            </a:extLst>
          </p:cNvPr>
          <p:cNvSpPr>
            <a:spLocks xmlns:a="http://schemas.openxmlformats.org/drawingml/2006/main" noGrp="1"/>
          </p:cNvSpPr>
          <p:nvPr/>
        </p:nvSpPr>
        <p:spPr>
          <a:xfrm xmlns:a="http://schemas.openxmlformats.org/drawingml/2006/main">
            <a:off x="495300" y="2371725"/>
            <a:ext cx="4619625" cy="97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725"/>
            </a:defPPr>
          </a:lstStyle>
          <a:p xmlns:a="http://schemas.openxmlformats.org/drawingml/2006/main">
            <a:pPr marL="0" lvl="0" indent="0" algn="l">
              <a:spcBef>
                <a:spcPts val="0"/>
              </a:spcBef>
              <a:spcAft>
                <a:spcPts val="0"/>
              </a:spcAft>
              <a:buNone/>
              <a:defRPr sz="1725"/>
            </a:pPr>
            <a:r>
              <a:rPr sz="1725">
                <a:latin typeface="Inter"/>
                <a:ea typeface="Inter"/>
                <a:cs typeface="Inter"/>
              </a:rPr>
              <a:t>Passkey-native Perch accounts.</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Connect, sign, or grant a session.</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Creation and fees sponsored.</a:t>
            </a:r>
            <a:endParaRPr sz="1800">
              <a:latin typeface="Inter"/>
              <a:ea typeface="Inter"/>
              <a:cs typeface="Inter"/>
            </a:endParaRPr>
          </a:p>
        </p:txBody>
      </p:sp>
      <p:pic>
        <p:nvPicPr>
          <p:cNvPr id="167" name="Google Shape;167;p21">
            <a:extLst xmlns:a="http://schemas.openxmlformats.org/drawingml/2006/main">
              <a:ext uri="{FF2B5EF4-FFF2-40B4-BE49-F238E27FC236}">
                <a16:creationId xmlns:a16="http://schemas.microsoft.com/office/drawing/2014/main" id="{1F8433EB-1E31-4760-AEC0-744667E436B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3a9032b8654443">
            <a:alphaModFix/>
          </a:blip>
          <a:srcRect xmlns:a="http://schemas.openxmlformats.org/drawingml/2006/main" l="0" t="0" r="9190" b="0"/>
          <a:stretch xmlns:a="http://schemas.openxmlformats.org/drawingml/2006/main"/>
        </p:blipFill>
        <p:spPr>
          <a:xfrm xmlns:a="http://schemas.openxmlformats.org/drawingml/2006/main">
            <a:off x="5694059" y="0"/>
            <a:ext cx="3449942" cy="5143501"/>
          </a:xfrm>
          <a:prstGeom xmlns:a="http://schemas.openxmlformats.org/drawingml/2006/main" prst="rect">
            <a:avLst/>
          </a:prstGeom>
          <a:ln xmlns:a="http://schemas.openxmlformats.org/drawingml/2006/main">
            <a:noFill/>
          </a:ln>
        </p:spPr>
      </p:pic>
      <p:pic>
        <p:nvPicPr>
          <p:cNvPr id="168" name="Google Shape;168;p21">
            <a:extLst xmlns:a="http://schemas.openxmlformats.org/drawingml/2006/main">
              <a:ext uri="{FF2B5EF4-FFF2-40B4-BE49-F238E27FC236}">
                <a16:creationId xmlns:a16="http://schemas.microsoft.com/office/drawing/2014/main" id="{7B543C8C-BC1F-4DAB-B508-A8C2FFFB53BB}"/>
              </a:ext>
            </a:extLst>
          </p:cNvPr>
          <p:cNvPicPr>
            <a:picLocks xmlns:a="http://schemas.openxmlformats.org/drawingml/2006/main" noChangeAspect="1"/>
          </p:cNvPicPr>
          <p:nvPr/>
        </p:nvPicPr>
        <p:blipFill>
          <a:blip xmlns:r="http://schemas.openxmlformats.org/officeDocument/2006/relationships" xmlns:a="http://schemas.openxmlformats.org/drawingml/2006/main" r:embed="Rec9bcc9acbe54e15">
            <a:alphaModFix/>
          </a:blip>
          <a:stretch xmlns:a="http://schemas.openxmlformats.org/drawingml/2006/main">
            <a:fillRect l="0" t="0" r="0" b="0"/>
          </a:stretch>
        </p:blipFill>
        <p:spPr>
          <a:xfrm xmlns:a="http://schemas.openxmlformats.org/drawingml/2006/main">
            <a:off x="251689" y="246151"/>
            <a:ext cx="1149929" cy="200042"/>
          </a:xfrm>
          <a:prstGeom xmlns:a="http://schemas.openxmlformats.org/drawingml/2006/main" prst="rect">
            <a:avLst/>
          </a:prstGeom>
          <a:ln xmlns:a="http://schemas.openxmlformats.org/drawingml/2006/main">
            <a:noFill/>
          </a:ln>
        </p:spPr>
      </p:pic>
      <p:pic>
        <p:nvPicPr>
          <p:cNvPr id="169" name="Google Shape;169;p21">
            <a:extLst xmlns:a="http://schemas.openxmlformats.org/drawingml/2006/main">
              <a:ext uri="{FF2B5EF4-FFF2-40B4-BE49-F238E27FC236}">
                <a16:creationId xmlns:a16="http://schemas.microsoft.com/office/drawing/2014/main" id="{63CA8D59-8F27-466C-9B43-D8F6A8A68B80}"/>
              </a:ext>
            </a:extLst>
          </p:cNvPr>
          <p:cNvPicPr>
            <a:picLocks xmlns:a="http://schemas.openxmlformats.org/drawingml/2006/main" noChangeAspect="1"/>
          </p:cNvPicPr>
          <p:nvPr/>
        </p:nvPicPr>
        <p:blipFill>
          <a:blip xmlns:r="http://schemas.openxmlformats.org/officeDocument/2006/relationships" xmlns:a="http://schemas.openxmlformats.org/drawingml/2006/main" r:embed="R6c63a3c40a844e30">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70" name="">
            <a:extLst xmlns:a="http://schemas.openxmlformats.org/drawingml/2006/main">
              <a:ext uri="{FF2B5EF4-FFF2-40B4-BE49-F238E27FC236}">
                <a16:creationId xmlns:a16="http://schemas.microsoft.com/office/drawing/2014/main" id="{4323EEC2-1EDB-4AE4-8C10-E538D2C54355}"/>
              </a:ext>
            </a:extLst>
          </p:cNvPr>
          <p:cNvSpPr>
            <a:spLocks xmlns:a="http://schemas.openxmlformats.org/drawingml/2006/main" noGrp="1"/>
          </p:cNvSpPr>
          <p:nvPr/>
        </p:nvSpPr>
        <p:spPr>
          <a:xfrm xmlns:a="http://schemas.openxmlformats.org/drawingml/2006/main">
            <a:off x="495300" y="4267200"/>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test.nido.fyi · TESTNET</a:t>
            </a:r>
          </a:p>
        </p:txBody>
      </p:sp>
    </p:spTree>
    <p:extLst>
      <p:ext uri="{BB962C8B-B14F-4D97-AF65-F5344CB8AC3E}">
        <p14:creationId xmlns:p14="http://schemas.microsoft.com/office/powerpoint/2010/main" val="9828091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109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THE POPUP CAN’T SIGN</a:t>
            </a:r>
            <a:endParaRPr sz="3000">
              <a:solidFill>
                <a:schemeClr val="lt1"/>
              </a:solidFill>
              <a:latin typeface="Inter SemiBold"/>
              <a:ea typeface="Inter SemiBold"/>
              <a:cs typeface="Inter SemiBold"/>
            </a:endParaRPr>
          </a:p>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FOR YOUR CONTRACT</a:t>
            </a:r>
            <a:endParaRPr sz="3000">
              <a:solidFill>
                <a:schemeClr val="lt1"/>
              </a:solidFill>
              <a:latin typeface="Inter SemiBold"/>
              <a:ea typeface="Inter SemiBold"/>
              <a:cs typeface="Inter SemiBold"/>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V E R I F I E D   O N   T E S T N E T</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c5436e8800d74cec">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c1b54aa1e905481e">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1E67F9A1-5185-4B72-BFC1-898E34B934AA}"/>
              </a:ext>
            </a:extLst>
          </p:cNvPr>
          <p:cNvSpPr>
            <a:spLocks xmlns:a="http://schemas.openxmlformats.org/drawingml/2006/main" noGrp="1"/>
          </p:cNvSpPr>
          <p:nvPr/>
        </p:nvSpPr>
        <p:spPr>
          <a:xfrm xmlns:a="http://schemas.openxmlformats.org/drawingml/2006/main">
            <a:off x="657225" y="2085975"/>
            <a:ext cx="78962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725" b="0">
                <a:solidFill>
                  <a:srgbClr val="FFFFFF"/>
                </a:solidFill>
                <a:latin typeface="Inter"/>
                <a:ea typeface="Inter"/>
                <a:cs typeface="Inter"/>
              </a:rPr>
              <a:t>guess(3, CAXS…) → __check_auth</a:t>
            </a:r>
            <a:br>
              <a:rPr sz="1725" b="0">
                <a:solidFill>
                  <a:srgbClr val="FFFFFF"/>
                </a:solidFill>
                <a:latin typeface="Inter"/>
                <a:ea typeface="Inter"/>
                <a:cs typeface="Inter"/>
              </a:rPr>
            </a:br>
            <a:r>
              <a:rPr sz="1725" b="0">
                <a:solidFill>
                  <a:srgbClr val="FFFFFF"/>
                </a:solidFill>
                <a:latin typeface="Inter"/>
                <a:ea typeface="Inter"/>
                <a:cs typeface="Inter"/>
              </a:rPr>
              <a:t>  context_rule_ids: [0]  // "admin", scoped to the account</a:t>
            </a:r>
            <a:br>
              <a:rPr sz="1725" b="0">
                <a:solidFill>
                  <a:srgbClr val="FFFFFF"/>
                </a:solidFill>
                <a:latin typeface="Inter"/>
                <a:ea typeface="Inter"/>
                <a:cs typeface="Inter"/>
              </a:rPr>
            </a:br>
            <a:r>
              <a:rPr sz="1725" b="0">
                <a:solidFill>
                  <a:srgbClr val="FFFFFF"/>
                </a:solidFill>
                <a:latin typeface="Inter"/>
                <a:ea typeface="Inter"/>
                <a:cs typeface="Inter"/>
              </a:rPr>
              <a:t>  contexts: guess, transfer  // two calls, one rule</a:t>
            </a:r>
            <a:br>
              <a:rPr sz="1725" b="0">
                <a:solidFill>
                  <a:srgbClr val="FFFFFF"/>
                </a:solidFill>
                <a:latin typeface="Inter"/>
                <a:ea typeface="Inter"/>
                <a:cs typeface="Inter"/>
              </a:rPr>
            </a:br>
            <a:r>
              <a:rPr sz="1725" b="0">
                <a:solidFill>
                  <a:srgbClr val="FFFFFF"/>
                </a:solidFill>
                <a:latin typeface="Inter"/>
                <a:ea typeface="Inter"/>
                <a:cs typeface="Inter"/>
              </a:rPr>
              <a:t>→ Error(Contract, #3014) ContextRuleIdsLengthMismatch</a:t>
            </a:r>
          </a:p>
        </p:txBody>
      </p:sp>
      <p:sp>
        <p:nvSpPr>
          <p:cNvPr id="189" name="">
            <a:extLst xmlns:a="http://schemas.openxmlformats.org/drawingml/2006/main">
              <a:ext uri="{FF2B5EF4-FFF2-40B4-BE49-F238E27FC236}">
                <a16:creationId xmlns:a16="http://schemas.microsoft.com/office/drawing/2014/main" id="{72EC1B0E-6C20-49D7-BB40-C54C21C94377}"/>
              </a:ext>
            </a:extLst>
          </p:cNvPr>
          <p:cNvSpPr>
            <a:spLocks xmlns:a="http://schemas.openxmlformats.org/drawingml/2006/main" noGrp="1"/>
          </p:cNvSpPr>
          <p:nvPr/>
        </p:nvSpPr>
        <p:spPr>
          <a:xfrm xmlns:a="http://schemas.openxmlformats.org/drawingml/2006/main">
            <a:off x="657225" y="4333875"/>
            <a:ext cx="789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One contract: #3002. Several: #3014. Fix: ask once for a session.</a:t>
            </a:r>
          </a:p>
        </p:txBody>
      </p:sp>
    </p:spTree>
    <p:extLst>
      <p:ext uri="{BB962C8B-B14F-4D97-AF65-F5344CB8AC3E}">
        <p14:creationId xmlns:p14="http://schemas.microsoft.com/office/powerpoint/2010/main" val="129607807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3C9F9020-ABF7-4FAA-9258-B8EEE18937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6542b2e7631404b">
            <a:alphaModFix/>
          </a:blip>
          <a:srcRect xmlns:a="http://schemas.openxmlformats.org/drawingml/2006/main" l="17437" t="17743" r="4474" b="8636"/>
          <a:stretch xmlns:a="http://schemas.openxmlformats.org/drawingml/2006/main"/>
        </p:blipFill>
        <p:spPr>
          <a:xfrm xmlns:a="http://schemas.openxmlformats.org/drawingml/2006/main">
            <a:off x="0" y="0"/>
            <a:ext cx="2520000" cy="5143501"/>
          </a:xfrm>
          <a:prstGeom xmlns:a="http://schemas.openxmlformats.org/drawingml/2006/main" prst="rect">
            <a:avLst/>
          </a:prstGeom>
          <a:ln xmlns:a="http://schemas.openxmlformats.org/drawingml/2006/main">
            <a:noFill/>
          </a:ln>
        </p:spPr>
      </p:pic>
      <p:sp>
        <p:nvSpPr>
          <p:cNvPr id="77" name="Google Shape;77;p15">
            <a:extLst xmlns:a="http://schemas.openxmlformats.org/drawingml/2006/main">
              <a:ext uri="{FF2B5EF4-FFF2-40B4-BE49-F238E27FC236}">
                <a16:creationId xmlns:a16="http://schemas.microsoft.com/office/drawing/2014/main" id="{024B7BA4-61D9-4247-BB18-65C294CB9435}"/>
              </a:ext>
            </a:extLst>
          </p:cNvPr>
          <p:cNvSpPr>
            <a:spLocks xmlns:a="http://schemas.openxmlformats.org/drawingml/2006/main" noGrp="1"/>
          </p:cNvSpPr>
          <p:nvPr/>
        </p:nvSpPr>
        <p:spPr>
          <a:xfrm xmlns:a="http://schemas.openxmlformats.org/drawingml/2006/main">
            <a:off x="2762250" y="933450"/>
            <a:ext cx="5905500" cy="685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300"/>
            </a:defPPr>
          </a:lstStyle>
          <a:p xmlns:a="http://schemas.openxmlformats.org/drawingml/2006/main">
            <a:pPr marL="0" lvl="0" indent="0" algn="l">
              <a:spcBef>
                <a:spcPts val="0"/>
              </a:spcBef>
              <a:spcAft>
                <a:spcPts val="0"/>
              </a:spcAft>
              <a:buNone/>
              <a:defRPr sz="3300"/>
            </a:pPr>
            <a:r>
              <a:rPr sz="3300" spc="-231">
                <a:solidFill>
                  <a:schemeClr val="dk1"/>
                </a:solidFill>
                <a:latin typeface="Inter Medium"/>
                <a:ea typeface="Inter Medium"/>
                <a:cs typeface="Inter Medium"/>
              </a:rPr>
              <a:t>ONE PROMPT: KUDOS JAR</a:t>
            </a:r>
            <a:endParaRPr sz="3900">
              <a:latin typeface="Inter Medium"/>
              <a:ea typeface="Inter Medium"/>
              <a:cs typeface="Inter Medium"/>
            </a:endParaRPr>
          </a:p>
        </p:txBody>
      </p:sp>
      <p:sp>
        <p:nvSpPr>
          <p:cNvPr id="78" name="Google Shape;78;p15">
            <a:extLst xmlns:a="http://schemas.openxmlformats.org/drawingml/2006/main">
              <a:ext uri="{FF2B5EF4-FFF2-40B4-BE49-F238E27FC236}">
                <a16:creationId xmlns:a16="http://schemas.microsoft.com/office/drawing/2014/main" id="{573804E9-D57C-4F6F-B611-BA499B38B91B}"/>
              </a:ext>
            </a:extLst>
          </p:cNvPr>
          <p:cNvSpPr>
            <a:spLocks xmlns:a="http://schemas.openxmlformats.org/drawingml/2006/main" noGrp="1"/>
          </p:cNvSpPr>
          <p:nvPr/>
        </p:nvSpPr>
        <p:spPr>
          <a:xfrm xmlns:a="http://schemas.openxmlformats.org/drawingml/2006/main">
            <a:off x="2688283" y="1689804"/>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01</a:t>
            </a:r>
            <a:endParaRPr sz="2100">
              <a:latin typeface="Inter"/>
              <a:ea typeface="Inter"/>
              <a:cs typeface="Inter"/>
            </a:endParaRPr>
          </a:p>
        </p:txBody>
      </p:sp>
      <p:sp>
        <p:nvSpPr>
          <p:cNvPr id="79" name="Google Shape;79;p15">
            <a:extLst xmlns:a="http://schemas.openxmlformats.org/drawingml/2006/main">
              <a:ext uri="{FF2B5EF4-FFF2-40B4-BE49-F238E27FC236}">
                <a16:creationId xmlns:a16="http://schemas.microsoft.com/office/drawing/2014/main" id="{7FE65504-21F8-4E72-A67B-E5E04279C948}"/>
              </a:ext>
            </a:extLst>
          </p:cNvPr>
          <p:cNvSpPr>
            <a:spLocks xmlns:a="http://schemas.openxmlformats.org/drawingml/2006/main" noGrp="1"/>
          </p:cNvSpPr>
          <p:nvPr/>
        </p:nvSpPr>
        <p:spPr>
          <a:xfrm xmlns:a="http://schemas.openxmlformats.org/drawingml/2006/main">
            <a:off x="2809875" y="304800"/>
            <a:ext cx="45720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A N   A G E N T   B U I L D S   A N   A P P</a:t>
            </a:r>
            <a:endParaRPr sz="900" b="1">
              <a:solidFill>
                <a:schemeClr val="dk1"/>
              </a:solidFill>
              <a:latin typeface="Inter"/>
              <a:ea typeface="Inter"/>
              <a:cs typeface="Inter"/>
            </a:endParaRPr>
          </a:p>
        </p:txBody>
      </p:sp>
      <p:sp>
        <p:nvSpPr>
          <p:cNvPr id="80" name="Google Shape;80;p15">
            <a:extLst xmlns:a="http://schemas.openxmlformats.org/drawingml/2006/main">
              <a:ext uri="{FF2B5EF4-FFF2-40B4-BE49-F238E27FC236}">
                <a16:creationId xmlns:a16="http://schemas.microsoft.com/office/drawing/2014/main" id="{A1C8F538-C083-4399-9CD8-3BF2F689B23D}"/>
              </a:ext>
            </a:extLst>
          </p:cNvPr>
          <p:cNvSpPr>
            <a:spLocks xmlns:a="http://schemas.openxmlformats.org/drawingml/2006/main" noGrp="1"/>
          </p:cNvSpPr>
          <p:nvPr/>
        </p:nvSpPr>
        <p:spPr>
          <a:xfrm xmlns:a="http://schemas.openxmlformats.org/drawingml/2006/main">
            <a:off x="3467100" y="186690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Copy the template with new-app</a:t>
            </a:r>
            <a:endParaRPr sz="1600">
              <a:latin typeface="Inter"/>
              <a:ea typeface="Inter"/>
              <a:cs typeface="Inter"/>
            </a:endParaRPr>
          </a:p>
        </p:txBody>
      </p:sp>
      <p:sp>
        <p:nvSpPr>
          <p:cNvPr id="82" name="Google Shape;82;p15">
            <a:extLst xmlns:a="http://schemas.openxmlformats.org/drawingml/2006/main">
              <a:ext uri="{FF2B5EF4-FFF2-40B4-BE49-F238E27FC236}">
                <a16:creationId xmlns:a16="http://schemas.microsoft.com/office/drawing/2014/main" id="{DBB0C3D3-0837-40F9-9A8D-5AE3738A4CC4}"/>
              </a:ext>
            </a:extLst>
          </p:cNvPr>
          <p:cNvSpPr>
            <a:spLocks xmlns:a="http://schemas.openxmlformats.org/drawingml/2006/main" noGrp="1"/>
          </p:cNvSpPr>
          <p:nvPr/>
        </p:nvSpPr>
        <p:spPr>
          <a:xfrm xmlns:a="http://schemas.openxmlformats.org/drawingml/2006/main" rot="5400000">
            <a:off x="5286068" y="-25140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3" name="Google Shape;83;p15">
            <a:extLst xmlns:a="http://schemas.openxmlformats.org/drawingml/2006/main">
              <a:ext uri="{FF2B5EF4-FFF2-40B4-BE49-F238E27FC236}">
                <a16:creationId xmlns:a16="http://schemas.microsoft.com/office/drawing/2014/main" id="{0D3EE8DD-439B-4418-A086-476B7CA7B66D}"/>
              </a:ext>
            </a:extLst>
          </p:cNvPr>
          <p:cNvSpPr>
            <a:spLocks xmlns:a="http://schemas.openxmlformats.org/drawingml/2006/main" noGrp="1"/>
          </p:cNvSpPr>
          <p:nvPr/>
        </p:nvSpPr>
        <p:spPr>
          <a:xfrm xmlns:a="http://schemas.openxmlformats.org/drawingml/2006/main" rot="5400000">
            <a:off x="5286068" y="429655"/>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4" name="Google Shape;84;p15">
            <a:extLst xmlns:a="http://schemas.openxmlformats.org/drawingml/2006/main">
              <a:ext uri="{FF2B5EF4-FFF2-40B4-BE49-F238E27FC236}">
                <a16:creationId xmlns:a16="http://schemas.microsoft.com/office/drawing/2014/main" id="{440AA23C-C0C8-4E76-9FA3-C7E12AFA5D65}"/>
              </a:ext>
            </a:extLst>
          </p:cNvPr>
          <p:cNvSpPr>
            <a:spLocks xmlns:a="http://schemas.openxmlformats.org/drawingml/2006/main" noGrp="1"/>
          </p:cNvSpPr>
          <p:nvPr/>
        </p:nvSpPr>
        <p:spPr>
          <a:xfrm xmlns:a="http://schemas.openxmlformats.org/drawingml/2006/main" rot="5400000">
            <a:off x="5286068" y="1110716"/>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5" name="Google Shape;85;p15">
            <a:extLst xmlns:a="http://schemas.openxmlformats.org/drawingml/2006/main">
              <a:ext uri="{FF2B5EF4-FFF2-40B4-BE49-F238E27FC236}">
                <a16:creationId xmlns:a16="http://schemas.microsoft.com/office/drawing/2014/main" id="{D3F2A02F-ECD6-4B3A-AC89-1E04A02BEDFB}"/>
              </a:ext>
            </a:extLst>
          </p:cNvPr>
          <p:cNvSpPr>
            <a:spLocks xmlns:a="http://schemas.openxmlformats.org/drawingml/2006/main" noGrp="1"/>
          </p:cNvSpPr>
          <p:nvPr/>
        </p:nvSpPr>
        <p:spPr>
          <a:xfrm xmlns:a="http://schemas.openxmlformats.org/drawingml/2006/main" rot="5400000">
            <a:off x="5286068" y="179177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6" name="Google Shape;86;p15">
            <a:extLst xmlns:a="http://schemas.openxmlformats.org/drawingml/2006/main">
              <a:ext uri="{FF2B5EF4-FFF2-40B4-BE49-F238E27FC236}">
                <a16:creationId xmlns:a16="http://schemas.microsoft.com/office/drawing/2014/main" id="{A193CEC9-EA4E-4F52-9F20-5FFB594AC389}"/>
              </a:ext>
            </a:extLst>
          </p:cNvPr>
          <p:cNvSpPr>
            <a:spLocks xmlns:a="http://schemas.openxmlformats.org/drawingml/2006/main" noGrp="1"/>
          </p:cNvSpPr>
          <p:nvPr/>
        </p:nvSpPr>
        <p:spPr>
          <a:xfrm xmlns:a="http://schemas.openxmlformats.org/drawingml/2006/main">
            <a:off x="2688283" y="2357336"/>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02</a:t>
            </a:r>
            <a:endParaRPr sz="2100">
              <a:latin typeface="Inter"/>
              <a:ea typeface="Inter"/>
              <a:cs typeface="Inter"/>
            </a:endParaRPr>
          </a:p>
        </p:txBody>
      </p:sp>
      <p:sp>
        <p:nvSpPr>
          <p:cNvPr id="87" name="Google Shape;87;p15">
            <a:extLst xmlns:a="http://schemas.openxmlformats.org/drawingml/2006/main">
              <a:ext uri="{FF2B5EF4-FFF2-40B4-BE49-F238E27FC236}">
                <a16:creationId xmlns:a16="http://schemas.microsoft.com/office/drawing/2014/main" id="{5F3FC239-D716-431F-8D91-BC6F32A1ED4F}"/>
              </a:ext>
            </a:extLst>
          </p:cNvPr>
          <p:cNvSpPr>
            <a:spLocks xmlns:a="http://schemas.openxmlformats.org/drawingml/2006/main" noGrp="1"/>
          </p:cNvSpPr>
          <p:nvPr/>
        </p:nvSpPr>
        <p:spPr>
          <a:xfrm xmlns:a="http://schemas.openxmlformats.org/drawingml/2006/main">
            <a:off x="3467100" y="254317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Write and test the contract</a:t>
            </a:r>
            <a:endParaRPr sz="1600">
              <a:latin typeface="Inter"/>
              <a:ea typeface="Inter"/>
              <a:cs typeface="Inter"/>
            </a:endParaRPr>
          </a:p>
        </p:txBody>
      </p:sp>
      <p:sp>
        <p:nvSpPr>
          <p:cNvPr id="89" name="Google Shape;89;p15">
            <a:extLst xmlns:a="http://schemas.openxmlformats.org/drawingml/2006/main">
              <a:ext uri="{FF2B5EF4-FFF2-40B4-BE49-F238E27FC236}">
                <a16:creationId xmlns:a16="http://schemas.microsoft.com/office/drawing/2014/main" id="{893ED2BF-82D4-4C5D-B69B-A7C240A163AA}"/>
              </a:ext>
            </a:extLst>
          </p:cNvPr>
          <p:cNvSpPr>
            <a:spLocks xmlns:a="http://schemas.openxmlformats.org/drawingml/2006/main" noGrp="1"/>
          </p:cNvSpPr>
          <p:nvPr/>
        </p:nvSpPr>
        <p:spPr>
          <a:xfrm xmlns:a="http://schemas.openxmlformats.org/drawingml/2006/main">
            <a:off x="2688283" y="3025409"/>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03</a:t>
            </a:r>
            <a:endParaRPr sz="2100">
              <a:latin typeface="Inter"/>
              <a:ea typeface="Inter"/>
              <a:cs typeface="Inter"/>
            </a:endParaRPr>
          </a:p>
        </p:txBody>
      </p:sp>
      <p:sp>
        <p:nvSpPr>
          <p:cNvPr id="90" name="Google Shape;90;p15">
            <a:extLst xmlns:a="http://schemas.openxmlformats.org/drawingml/2006/main">
              <a:ext uri="{FF2B5EF4-FFF2-40B4-BE49-F238E27FC236}">
                <a16:creationId xmlns:a16="http://schemas.microsoft.com/office/drawing/2014/main" id="{746A4B8F-6997-4461-BB8F-56C5B8D230C1}"/>
              </a:ext>
            </a:extLst>
          </p:cNvPr>
          <p:cNvSpPr>
            <a:spLocks xmlns:a="http://schemas.openxmlformats.org/drawingml/2006/main" noGrp="1"/>
          </p:cNvSpPr>
          <p:nvPr/>
        </p:nvSpPr>
        <p:spPr>
          <a:xfrm xmlns:a="http://schemas.openxmlformats.org/drawingml/2006/main">
            <a:off x="3467100" y="321945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Deploy it to testnet</a:t>
            </a:r>
            <a:endParaRPr sz="1600">
              <a:latin typeface="Inter"/>
              <a:ea typeface="Inter"/>
              <a:cs typeface="Inter"/>
            </a:endParaRPr>
          </a:p>
        </p:txBody>
      </p:sp>
      <p:sp>
        <p:nvSpPr>
          <p:cNvPr id="92" name="Google Shape;92;p15">
            <a:extLst xmlns:a="http://schemas.openxmlformats.org/drawingml/2006/main">
              <a:ext uri="{FF2B5EF4-FFF2-40B4-BE49-F238E27FC236}">
                <a16:creationId xmlns:a16="http://schemas.microsoft.com/office/drawing/2014/main" id="{A5CA518E-F82A-4A2B-8DFF-2DC55C2D943D}"/>
              </a:ext>
            </a:extLst>
          </p:cNvPr>
          <p:cNvSpPr>
            <a:spLocks xmlns:a="http://schemas.openxmlformats.org/drawingml/2006/main" noGrp="1"/>
          </p:cNvSpPr>
          <p:nvPr/>
        </p:nvSpPr>
        <p:spPr>
          <a:xfrm xmlns:a="http://schemas.openxmlformats.org/drawingml/2006/main">
            <a:off x="2688283" y="3710197"/>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04</a:t>
            </a:r>
            <a:endParaRPr sz="2100">
              <a:latin typeface="Inter"/>
              <a:ea typeface="Inter"/>
              <a:cs typeface="Inter"/>
            </a:endParaRPr>
          </a:p>
        </p:txBody>
      </p:sp>
      <p:sp>
        <p:nvSpPr>
          <p:cNvPr id="93" name="Google Shape;93;p15">
            <a:extLst xmlns:a="http://schemas.openxmlformats.org/drawingml/2006/main">
              <a:ext uri="{FF2B5EF4-FFF2-40B4-BE49-F238E27FC236}">
                <a16:creationId xmlns:a16="http://schemas.microsoft.com/office/drawing/2014/main" id="{AA1ACF90-07BC-446C-ACC0-2A4D47C2CCCD}"/>
              </a:ext>
            </a:extLst>
          </p:cNvPr>
          <p:cNvSpPr>
            <a:spLocks xmlns:a="http://schemas.openxmlformats.org/drawingml/2006/main" noGrp="1"/>
          </p:cNvSpPr>
          <p:nvPr/>
        </p:nvSpPr>
        <p:spPr>
          <a:xfrm xmlns:a="http://schemas.openxmlformats.org/drawingml/2006/main">
            <a:off x="3467100" y="389572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Run it with a real Nido account</a:t>
            </a:r>
            <a:endParaRPr sz="1600">
              <a:latin typeface="Inter"/>
              <a:ea typeface="Inter"/>
              <a:cs typeface="Inter"/>
            </a:endParaRPr>
          </a:p>
        </p:txBody>
      </p:sp>
      <p:pic>
        <p:nvPicPr>
          <p:cNvPr id="95" name="Google Shape;95;p15">
            <a:extLst xmlns:a="http://schemas.openxmlformats.org/drawingml/2006/main">
              <a:ext uri="{FF2B5EF4-FFF2-40B4-BE49-F238E27FC236}">
                <a16:creationId xmlns:a16="http://schemas.microsoft.com/office/drawing/2014/main" id="{0934F2B7-3010-40C7-BACE-21D153FDB80C}"/>
              </a:ext>
            </a:extLst>
          </p:cNvPr>
          <p:cNvPicPr>
            <a:picLocks xmlns:a="http://schemas.openxmlformats.org/drawingml/2006/main" noChangeAspect="1"/>
          </p:cNvPicPr>
          <p:nvPr/>
        </p:nvPicPr>
        <p:blipFill>
          <a:blip xmlns:r="http://schemas.openxmlformats.org/officeDocument/2006/relationships" xmlns:a="http://schemas.openxmlformats.org/drawingml/2006/main" r:embed="Rfdaf02b4451949fe">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96" name="Google Shape;96;p15">
            <a:extLst xmlns:a="http://schemas.openxmlformats.org/drawingml/2006/main">
              <a:ext uri="{FF2B5EF4-FFF2-40B4-BE49-F238E27FC236}">
                <a16:creationId xmlns:a16="http://schemas.microsoft.com/office/drawing/2014/main" id="{9817DA67-C9AA-4A78-B6EE-C7B8F45BDC7B}"/>
              </a:ext>
            </a:extLst>
          </p:cNvPr>
          <p:cNvPicPr>
            <a:picLocks xmlns:a="http://schemas.openxmlformats.org/drawingml/2006/main" noChangeAspect="1"/>
          </p:cNvPicPr>
          <p:nvPr/>
        </p:nvPicPr>
        <p:blipFill>
          <a:blip xmlns:r="http://schemas.openxmlformats.org/officeDocument/2006/relationships" xmlns:a="http://schemas.openxmlformats.org/drawingml/2006/main" r:embed="Rff8169bb339b4db1">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075774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APPROVE THE RULE IN NIDO</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Only transfer, only on XLM</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A P P R O V E   O N C E</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Up to 2 XLM per day</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About 24 hours, then gone</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a3d51f7631c74b34">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30814ff820bc4347">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079F4727-35F0-4D59-B4C0-F5F8BE7DBDF5}"/>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SCOPE</a:t>
            </a:r>
          </a:p>
        </p:txBody>
      </p:sp>
      <p:sp>
        <p:nvSpPr>
          <p:cNvPr id="189" name="">
            <a:extLst xmlns:a="http://schemas.openxmlformats.org/drawingml/2006/main">
              <a:ext uri="{FF2B5EF4-FFF2-40B4-BE49-F238E27FC236}">
                <a16:creationId xmlns:a16="http://schemas.microsoft.com/office/drawing/2014/main" id="{C8C1D007-2577-47C1-B30B-68249FC68317}"/>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CAP</a:t>
            </a:r>
          </a:p>
        </p:txBody>
      </p:sp>
      <p:sp>
        <p:nvSpPr>
          <p:cNvPr id="190" name="">
            <a:extLst xmlns:a="http://schemas.openxmlformats.org/drawingml/2006/main">
              <a:ext uri="{FF2B5EF4-FFF2-40B4-BE49-F238E27FC236}">
                <a16:creationId xmlns:a16="http://schemas.microsoft.com/office/drawing/2014/main" id="{96EF5122-D08D-4D21-9E0A-D4A7DD63C7B2}"/>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EXPIRY</a:t>
            </a:r>
          </a:p>
        </p:txBody>
      </p:sp>
      <p:pic>
        <p:nvPicPr>
          <p:cNvPr id="191" name="">
            <a:extLst xmlns:a="http://schemas.openxmlformats.org/drawingml/2006/main">
              <a:ext uri="{FF2B5EF4-FFF2-40B4-BE49-F238E27FC236}">
                <a16:creationId xmlns:a16="http://schemas.microsoft.com/office/drawing/2014/main" id="{2A3C303A-59EC-4F08-BA2E-42741540223E}"/>
              </a:ext>
            </a:extLst>
          </p:cNvPr>
          <p:cNvPicPr>
            <a:picLocks xmlns:a="http://schemas.openxmlformats.org/drawingml/2006/main" noChangeAspect="1"/>
          </p:cNvPicPr>
          <p:nvPr/>
        </p:nvPicPr>
        <p:blipFill>
          <a:blip xmlns:r="http://schemas.openxmlformats.org/officeDocument/2006/relationships" xmlns:a="http://schemas.openxmlformats.org/drawingml/2006/main" r:embed="Rd1e61bce8fbe4da7"/>
          <a:srcRect xmlns:a="http://schemas.openxmlformats.org/drawingml/2006/main" l="41000" t="45000" r="23000" b="30000"/>
          <a:stretch xmlns:a="http://schemas.openxmlformats.org/drawingml/2006/main"/>
        </p:blipFill>
        <p:spPr>
          <a:xfrm xmlns:a="http://schemas.openxmlformats.org/drawingml/2006/main">
            <a:off x="896127" y="1619250"/>
            <a:ext cx="3713196" cy="2686050"/>
          </a:xfrm>
          <a:prstGeom xmlns:a="http://schemas.openxmlformats.org/drawingml/2006/main" prst="rect">
            <a:avLst/>
          </a:prstGeom>
        </p:spPr>
      </p:pic>
      <p:sp>
        <p:nvSpPr>
          <p:cNvPr id="192" name="">
            <a:extLst xmlns:a="http://schemas.openxmlformats.org/drawingml/2006/main">
              <a:ext uri="{FF2B5EF4-FFF2-40B4-BE49-F238E27FC236}">
                <a16:creationId xmlns:a16="http://schemas.microsoft.com/office/drawing/2014/main" id="{733232CB-D5EE-4DAC-8C00-4EED4C1E6174}"/>
              </a:ext>
            </a:extLst>
          </p:cNvPr>
          <p:cNvSpPr>
            <a:spLocks xmlns:a="http://schemas.openxmlformats.org/drawingml/2006/main" noGrp="1"/>
          </p:cNvSpPr>
          <p:nvPr/>
        </p:nvSpPr>
        <p:spPr>
          <a:xfrm xmlns:a="http://schemas.openxmlformats.org/drawingml/2006/main">
            <a:off x="657225" y="43624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FDDA24"/>
                </a:solidFill>
                <a:latin typeface="Inter"/>
                <a:ea typeface="Inter"/>
                <a:cs typeface="Inter"/>
              </a:rPr>
              <a:t>Nido’s grant page, before the passkey</a:t>
            </a:r>
          </a:p>
        </p:txBody>
      </p:sp>
    </p:spTree>
    <p:extLst>
      <p:ext uri="{BB962C8B-B14F-4D97-AF65-F5344CB8AC3E}">
        <p14:creationId xmlns:p14="http://schemas.microsoft.com/office/powerpoint/2010/main" val="12960780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TAP, TAP, TAP… REFUSED</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Four tips, each confirmed</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T I P   U N T I L   T H E   C A P</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The fifth would pass 2 XLM</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The account said no: #3221</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713fc4ddd8164aab">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daaa0361fea5462c">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E6FD357A-4CC2-4F11-B22E-6CC96DE486A0}"/>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NO PROMPTS</a:t>
            </a:r>
          </a:p>
        </p:txBody>
      </p:sp>
      <p:sp>
        <p:nvSpPr>
          <p:cNvPr id="189" name="">
            <a:extLst xmlns:a="http://schemas.openxmlformats.org/drawingml/2006/main">
              <a:ext uri="{FF2B5EF4-FFF2-40B4-BE49-F238E27FC236}">
                <a16:creationId xmlns:a16="http://schemas.microsoft.com/office/drawing/2014/main" id="{082FE68D-18E5-4940-82A0-2D16C7165343}"/>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THE CAP</a:t>
            </a:r>
          </a:p>
        </p:txBody>
      </p:sp>
      <p:sp>
        <p:nvSpPr>
          <p:cNvPr id="190" name="">
            <a:extLst xmlns:a="http://schemas.openxmlformats.org/drawingml/2006/main">
              <a:ext uri="{FF2B5EF4-FFF2-40B4-BE49-F238E27FC236}">
                <a16:creationId xmlns:a16="http://schemas.microsoft.com/office/drawing/2014/main" id="{1BF74312-EAAF-4C93-AA5E-D910C880A9BD}"/>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ON CHAIN</a:t>
            </a:r>
          </a:p>
        </p:txBody>
      </p:sp>
      <p:pic>
        <p:nvPicPr>
          <p:cNvPr id="191" name="">
            <a:extLst xmlns:a="http://schemas.openxmlformats.org/drawingml/2006/main">
              <a:ext uri="{FF2B5EF4-FFF2-40B4-BE49-F238E27FC236}">
                <a16:creationId xmlns:a16="http://schemas.microsoft.com/office/drawing/2014/main" id="{E408BCD3-8DD0-42FF-81B3-7329EFD0E4E0}"/>
              </a:ext>
            </a:extLst>
          </p:cNvPr>
          <p:cNvPicPr>
            <a:picLocks xmlns:a="http://schemas.openxmlformats.org/drawingml/2006/main" noChangeAspect="1"/>
          </p:cNvPicPr>
          <p:nvPr/>
        </p:nvPicPr>
        <p:blipFill>
          <a:blip xmlns:r="http://schemas.openxmlformats.org/officeDocument/2006/relationships" xmlns:a="http://schemas.openxmlformats.org/drawingml/2006/main" r:embed="R64475850916846da"/>
          <a:srcRect xmlns:a="http://schemas.openxmlformats.org/drawingml/2006/main" l="18000" t="28000" r="18000" b="11000"/>
          <a:stretch xmlns:a="http://schemas.openxmlformats.org/drawingml/2006/main"/>
        </p:blipFill>
        <p:spPr>
          <a:xfrm xmlns:a="http://schemas.openxmlformats.org/drawingml/2006/main">
            <a:off x="875696" y="1619250"/>
            <a:ext cx="3754058" cy="2686050"/>
          </a:xfrm>
          <a:prstGeom xmlns:a="http://schemas.openxmlformats.org/drawingml/2006/main" prst="rect">
            <a:avLst/>
          </a:prstGeom>
        </p:spPr>
      </p:pic>
      <p:sp>
        <p:nvSpPr>
          <p:cNvPr id="192" name="">
            <a:extLst xmlns:a="http://schemas.openxmlformats.org/drawingml/2006/main">
              <a:ext uri="{FF2B5EF4-FFF2-40B4-BE49-F238E27FC236}">
                <a16:creationId xmlns:a16="http://schemas.microsoft.com/office/drawing/2014/main" id="{43FDD760-63AC-4703-90CD-A7E05CD3B8DA}"/>
              </a:ext>
            </a:extLst>
          </p:cNvPr>
          <p:cNvSpPr>
            <a:spLocks xmlns:a="http://schemas.openxmlformats.org/drawingml/2006/main" noGrp="1"/>
          </p:cNvSpPr>
          <p:nvPr/>
        </p:nvSpPr>
        <p:spPr>
          <a:xfrm xmlns:a="http://schemas.openxmlformats.org/drawingml/2006/main">
            <a:off x="657225" y="43624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FDDA24"/>
                </a:solidFill>
                <a:latin typeface="Inter"/>
                <a:ea typeface="Inter"/>
                <a:cs typeface="Inter"/>
              </a:rPr>
              <a:t>Live testnet, 22 Oct 2026</a:t>
            </a:r>
          </a:p>
        </p:txBody>
      </p:sp>
    </p:spTree>
    <p:extLst>
      <p:ext uri="{BB962C8B-B14F-4D97-AF65-F5344CB8AC3E}">
        <p14:creationId xmlns:p14="http://schemas.microsoft.com/office/powerpoint/2010/main" val="129607807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WHEN THE WALLET SAYS “UNKNOWN”</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Nothing was sent. Wait, or pay your own fee</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W H E N   I T   G O E S   W R O N G</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Nothing was sent. Retry in a moment</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It may have landed. Check, then retry</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9d178497bb0d4433">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fc7ffa16f0ae43f6">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2EF8E31F-7463-427C-ADCB-2C2CA98875C3}"/>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429 · BUDGET USED UP</a:t>
            </a:r>
          </a:p>
        </p:txBody>
      </p:sp>
      <p:sp>
        <p:nvSpPr>
          <p:cNvPr id="189" name="">
            <a:extLst xmlns:a="http://schemas.openxmlformats.org/drawingml/2006/main">
              <a:ext uri="{FF2B5EF4-FFF2-40B4-BE49-F238E27FC236}">
                <a16:creationId xmlns:a16="http://schemas.microsoft.com/office/drawing/2014/main" id="{C87D9717-F1A9-42AE-BA1F-37EBFE59C83C}"/>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503 · RELAYER BUSY</a:t>
            </a:r>
          </a:p>
        </p:txBody>
      </p:sp>
      <p:sp>
        <p:nvSpPr>
          <p:cNvPr id="190" name="">
            <a:extLst xmlns:a="http://schemas.openxmlformats.org/drawingml/2006/main">
              <a:ext uri="{FF2B5EF4-FFF2-40B4-BE49-F238E27FC236}">
                <a16:creationId xmlns:a16="http://schemas.microsoft.com/office/drawing/2014/main" id="{AFB6B46C-EEDB-43E8-AC61-413AF68FA4E0}"/>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504 · TIMED OUT</a:t>
            </a:r>
          </a:p>
        </p:txBody>
      </p:sp>
      <p:sp>
        <p:nvSpPr>
          <p:cNvPr id="191" name="">
            <a:extLst xmlns:a="http://schemas.openxmlformats.org/drawingml/2006/main">
              <a:ext uri="{FF2B5EF4-FFF2-40B4-BE49-F238E27FC236}">
                <a16:creationId xmlns:a16="http://schemas.microsoft.com/office/drawing/2014/main" id="{1ACD760B-2AA0-4E58-8EE4-47CFB4E07E65}"/>
              </a:ext>
            </a:extLst>
          </p:cNvPr>
          <p:cNvSpPr>
            <a:spLocks xmlns:a="http://schemas.openxmlformats.org/drawingml/2006/main" noGrp="1"/>
          </p:cNvSpPr>
          <p:nvPr/>
        </p:nvSpPr>
        <p:spPr>
          <a:xfrm xmlns:a="http://schemas.openxmlformats.org/drawingml/2006/main">
            <a:off x="657225" y="185737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2250" b="0">
                <a:solidFill>
                  <a:srgbClr val="FFFFFF"/>
                </a:solidFill>
                <a:latin typeface="Inter"/>
                <a:ea typeface="Inter"/>
                <a:cs typeface="Inter"/>
              </a:rPr>
              <a:t>CHECK THE CHAIN</a:t>
            </a:r>
            <a:br>
              <a:rPr sz="2250" b="0">
                <a:solidFill>
                  <a:srgbClr val="FFFFFF"/>
                </a:solidFill>
                <a:latin typeface="Inter"/>
                <a:ea typeface="Inter"/>
                <a:cs typeface="Inter"/>
              </a:rPr>
            </a:br>
            <a:r>
              <a:rPr sz="2250" b="0">
                <a:solidFill>
                  <a:srgbClr val="FFFFFF"/>
                </a:solidFill>
                <a:latin typeface="Inter"/>
                <a:ea typeface="Inter"/>
                <a:cs typeface="Inter"/>
              </a:rPr>
              <a:t>BEFORE YOU RETRY</a:t>
            </a:r>
          </a:p>
        </p:txBody>
      </p:sp>
      <p:sp>
        <p:nvSpPr>
          <p:cNvPr id="192" name="">
            <a:extLst xmlns:a="http://schemas.openxmlformats.org/drawingml/2006/main">
              <a:ext uri="{FF2B5EF4-FFF2-40B4-BE49-F238E27FC236}">
                <a16:creationId xmlns:a16="http://schemas.microsoft.com/office/drawing/2014/main" id="{4E928DC6-910C-4FEA-BA0D-E48655148CD0}"/>
              </a:ext>
            </a:extLst>
          </p:cNvPr>
          <p:cNvSpPr>
            <a:spLocks xmlns:a="http://schemas.openxmlformats.org/drawingml/2006/main" noGrp="1"/>
          </p:cNvSpPr>
          <p:nvPr/>
        </p:nvSpPr>
        <p:spPr>
          <a:xfrm xmlns:a="http://schemas.openxmlformats.org/drawingml/2006/main">
            <a:off x="657225" y="2971800"/>
            <a:ext cx="409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500" b="0">
                <a:solidFill>
                  <a:srgbClr val="FFFFFF"/>
                </a:solidFill>
                <a:latin typeface="Inter"/>
                <a:ea typeface="Inter"/>
                <a:cs typeface="Inter"/>
              </a:rPr>
              <a:t>Go back to the app, press Check again:</a:t>
            </a:r>
            <a:br>
              <a:rPr sz="1500" b="0">
                <a:solidFill>
                  <a:srgbClr val="FFFFFF"/>
                </a:solidFill>
                <a:latin typeface="Inter"/>
                <a:ea typeface="Inter"/>
                <a:cs typeface="Inter"/>
              </a:rPr>
            </a:br>
            <a:r>
              <a:rPr sz="1500" b="0">
                <a:solidFill>
                  <a:srgbClr val="FFFFFF"/>
                </a:solidFill>
                <a:latin typeface="Inter"/>
                <a:ea typeface="Inter"/>
                <a:cs typeface="Inter"/>
              </a:rPr>
              <a:t>it reads the account’s rules on chain.</a:t>
            </a:r>
            <a:br>
              <a:rPr sz="1500" b="0">
                <a:solidFill>
                  <a:srgbClr val="FFFFFF"/>
                </a:solidFill>
                <a:latin typeface="Inter"/>
                <a:ea typeface="Inter"/>
                <a:cs typeface="Inter"/>
              </a:rPr>
            </a:br>
            <a:r>
              <a:rPr sz="1500" b="0">
                <a:solidFill>
                  <a:srgbClr val="FFFFFF"/>
                </a:solidFill>
                <a:latin typeface="Inter"/>
                <a:ea typeface="Inter"/>
                <a:cs typeface="Inter"/>
              </a:rPr>
              <a:t>Nothing there? Ask Nido again.</a:t>
            </a:r>
          </a:p>
        </p:txBody>
      </p:sp>
      <p:sp>
        <p:nvSpPr>
          <p:cNvPr id="193" name="">
            <a:extLst xmlns:a="http://schemas.openxmlformats.org/drawingml/2006/main">
              <a:ext uri="{FF2B5EF4-FFF2-40B4-BE49-F238E27FC236}">
                <a16:creationId xmlns:a16="http://schemas.microsoft.com/office/drawing/2014/main" id="{5B4E9B36-496C-404C-A017-2CE95A8A2620}"/>
              </a:ext>
            </a:extLst>
          </p:cNvPr>
          <p:cNvSpPr>
            <a:spLocks xmlns:a="http://schemas.openxmlformats.org/drawingml/2006/main" noGrp="1"/>
          </p:cNvSpPr>
          <p:nvPr/>
        </p:nvSpPr>
        <p:spPr>
          <a:xfrm xmlns:a="http://schemas.openxmlformats.org/drawingml/2006/main">
            <a:off x="657225" y="4114800"/>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A failed response can follow a success</a:t>
            </a:r>
          </a:p>
        </p:txBody>
      </p:sp>
    </p:spTree>
    <p:extLst>
      <p:ext uri="{BB962C8B-B14F-4D97-AF65-F5344CB8AC3E}">
        <p14:creationId xmlns:p14="http://schemas.microsoft.com/office/powerpoint/2010/main" val="129607807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3C9F9020-ABF7-4FAA-9258-B8EEE18937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7e5bd3d2a544a8c">
            <a:alphaModFix/>
          </a:blip>
          <a:srcRect xmlns:a="http://schemas.openxmlformats.org/drawingml/2006/main" l="17437" t="17743" r="4474" b="8636"/>
          <a:stretch xmlns:a="http://schemas.openxmlformats.org/drawingml/2006/main"/>
        </p:blipFill>
        <p:spPr>
          <a:xfrm xmlns:a="http://schemas.openxmlformats.org/drawingml/2006/main">
            <a:off x="0" y="0"/>
            <a:ext cx="2520000" cy="5143501"/>
          </a:xfrm>
          <a:prstGeom xmlns:a="http://schemas.openxmlformats.org/drawingml/2006/main" prst="rect">
            <a:avLst/>
          </a:prstGeom>
          <a:ln xmlns:a="http://schemas.openxmlformats.org/drawingml/2006/main">
            <a:noFill/>
          </a:ln>
        </p:spPr>
      </p:pic>
      <p:sp>
        <p:nvSpPr>
          <p:cNvPr id="77" name="Google Shape;77;p15">
            <a:extLst xmlns:a="http://schemas.openxmlformats.org/drawingml/2006/main">
              <a:ext uri="{FF2B5EF4-FFF2-40B4-BE49-F238E27FC236}">
                <a16:creationId xmlns:a16="http://schemas.microsoft.com/office/drawing/2014/main" id="{024B7BA4-61D9-4247-BB18-65C294CB9435}"/>
              </a:ext>
            </a:extLst>
          </p:cNvPr>
          <p:cNvSpPr>
            <a:spLocks xmlns:a="http://schemas.openxmlformats.org/drawingml/2006/main" noGrp="1"/>
          </p:cNvSpPr>
          <p:nvPr/>
        </p:nvSpPr>
        <p:spPr>
          <a:xfrm xmlns:a="http://schemas.openxmlformats.org/drawingml/2006/main">
            <a:off x="2762250" y="933450"/>
            <a:ext cx="5905500" cy="7086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450"/>
            </a:defPPr>
          </a:lstStyle>
          <a:p xmlns:a="http://schemas.openxmlformats.org/drawingml/2006/main">
            <a:pPr marL="0" lvl="0" indent="0" algn="l">
              <a:spcBef>
                <a:spcPts val="0"/>
              </a:spcBef>
              <a:spcAft>
                <a:spcPts val="0"/>
              </a:spcAft>
              <a:buNone/>
              <a:defRPr sz="3450"/>
            </a:pPr>
            <a:r>
              <a:rPr sz="3450" spc="-231">
                <a:solidFill>
                  <a:schemeClr val="dk1"/>
                </a:solidFill>
                <a:latin typeface="Inter Medium"/>
                <a:ea typeface="Inter Medium"/>
                <a:cs typeface="Inter Medium"/>
              </a:rPr>
              <a:t>PATTERNS THAT WORKED</a:t>
            </a:r>
            <a:endParaRPr sz="3900">
              <a:latin typeface="Inter Medium"/>
              <a:ea typeface="Inter Medium"/>
              <a:cs typeface="Inter Medium"/>
            </a:endParaRPr>
          </a:p>
        </p:txBody>
      </p:sp>
      <p:sp>
        <p:nvSpPr>
          <p:cNvPr id="78" name="Google Shape;78;p15">
            <a:extLst xmlns:a="http://schemas.openxmlformats.org/drawingml/2006/main">
              <a:ext uri="{FF2B5EF4-FFF2-40B4-BE49-F238E27FC236}">
                <a16:creationId xmlns:a16="http://schemas.microsoft.com/office/drawing/2014/main" id="{573804E9-D57C-4F6F-B611-BA499B38B91B}"/>
              </a:ext>
            </a:extLst>
          </p:cNvPr>
          <p:cNvSpPr>
            <a:spLocks xmlns:a="http://schemas.openxmlformats.org/drawingml/2006/main" noGrp="1"/>
          </p:cNvSpPr>
          <p:nvPr/>
        </p:nvSpPr>
        <p:spPr>
          <a:xfrm xmlns:a="http://schemas.openxmlformats.org/drawingml/2006/main">
            <a:off x="2688283" y="1689804"/>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01</a:t>
            </a:r>
            <a:endParaRPr sz="2100">
              <a:latin typeface="Inter"/>
              <a:ea typeface="Inter"/>
              <a:cs typeface="Inter"/>
            </a:endParaRPr>
          </a:p>
        </p:txBody>
      </p:sp>
      <p:sp>
        <p:nvSpPr>
          <p:cNvPr id="79" name="Google Shape;79;p15">
            <a:extLst xmlns:a="http://schemas.openxmlformats.org/drawingml/2006/main">
              <a:ext uri="{FF2B5EF4-FFF2-40B4-BE49-F238E27FC236}">
                <a16:creationId xmlns:a16="http://schemas.microsoft.com/office/drawing/2014/main" id="{7FE65504-21F8-4E72-A67B-E5E04279C948}"/>
              </a:ext>
            </a:extLst>
          </p:cNvPr>
          <p:cNvSpPr>
            <a:spLocks xmlns:a="http://schemas.openxmlformats.org/drawingml/2006/main" noGrp="1"/>
          </p:cNvSpPr>
          <p:nvPr/>
        </p:nvSpPr>
        <p:spPr>
          <a:xfrm xmlns:a="http://schemas.openxmlformats.org/drawingml/2006/main">
            <a:off x="2809875" y="304800"/>
            <a:ext cx="45720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W H A T   S I X   T E A M S   B U I L T</a:t>
            </a:r>
            <a:endParaRPr sz="900" b="1">
              <a:solidFill>
                <a:schemeClr val="dk1"/>
              </a:solidFill>
              <a:latin typeface="Inter"/>
              <a:ea typeface="Inter"/>
              <a:cs typeface="Inter"/>
            </a:endParaRPr>
          </a:p>
        </p:txBody>
      </p:sp>
      <p:sp>
        <p:nvSpPr>
          <p:cNvPr id="80" name="Google Shape;80;p15">
            <a:extLst xmlns:a="http://schemas.openxmlformats.org/drawingml/2006/main">
              <a:ext uri="{FF2B5EF4-FFF2-40B4-BE49-F238E27FC236}">
                <a16:creationId xmlns:a16="http://schemas.microsoft.com/office/drawing/2014/main" id="{A1C8F538-C083-4399-9CD8-3BF2F689B23D}"/>
              </a:ext>
            </a:extLst>
          </p:cNvPr>
          <p:cNvSpPr>
            <a:spLocks xmlns:a="http://schemas.openxmlformats.org/drawingml/2006/main" noGrp="1"/>
          </p:cNvSpPr>
          <p:nvPr/>
        </p:nvSpPr>
        <p:spPr>
          <a:xfrm xmlns:a="http://schemas.openxmlformats.org/drawingml/2006/main">
            <a:off x="3467100" y="186690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Per-user cap: a rule on the token</a:t>
            </a:r>
            <a:endParaRPr sz="1600">
              <a:latin typeface="Inter"/>
              <a:ea typeface="Inter"/>
              <a:cs typeface="Inter"/>
            </a:endParaRPr>
          </a:p>
        </p:txBody>
      </p:sp>
      <p:sp>
        <p:nvSpPr>
          <p:cNvPr id="82" name="Google Shape;82;p15">
            <a:extLst xmlns:a="http://schemas.openxmlformats.org/drawingml/2006/main">
              <a:ext uri="{FF2B5EF4-FFF2-40B4-BE49-F238E27FC236}">
                <a16:creationId xmlns:a16="http://schemas.microsoft.com/office/drawing/2014/main" id="{DBB0C3D3-0837-40F9-9A8D-5AE3738A4CC4}"/>
              </a:ext>
            </a:extLst>
          </p:cNvPr>
          <p:cNvSpPr>
            <a:spLocks xmlns:a="http://schemas.openxmlformats.org/drawingml/2006/main" noGrp="1"/>
          </p:cNvSpPr>
          <p:nvPr/>
        </p:nvSpPr>
        <p:spPr>
          <a:xfrm xmlns:a="http://schemas.openxmlformats.org/drawingml/2006/main" rot="5400000">
            <a:off x="5286068" y="-25140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3" name="Google Shape;83;p15">
            <a:extLst xmlns:a="http://schemas.openxmlformats.org/drawingml/2006/main">
              <a:ext uri="{FF2B5EF4-FFF2-40B4-BE49-F238E27FC236}">
                <a16:creationId xmlns:a16="http://schemas.microsoft.com/office/drawing/2014/main" id="{0D3EE8DD-439B-4418-A086-476B7CA7B66D}"/>
              </a:ext>
            </a:extLst>
          </p:cNvPr>
          <p:cNvSpPr>
            <a:spLocks xmlns:a="http://schemas.openxmlformats.org/drawingml/2006/main" noGrp="1"/>
          </p:cNvSpPr>
          <p:nvPr/>
        </p:nvSpPr>
        <p:spPr>
          <a:xfrm xmlns:a="http://schemas.openxmlformats.org/drawingml/2006/main" rot="5400000">
            <a:off x="5286068" y="429655"/>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4" name="Google Shape;84;p15">
            <a:extLst xmlns:a="http://schemas.openxmlformats.org/drawingml/2006/main">
              <a:ext uri="{FF2B5EF4-FFF2-40B4-BE49-F238E27FC236}">
                <a16:creationId xmlns:a16="http://schemas.microsoft.com/office/drawing/2014/main" id="{440AA23C-C0C8-4E76-9FA3-C7E12AFA5D65}"/>
              </a:ext>
            </a:extLst>
          </p:cNvPr>
          <p:cNvSpPr>
            <a:spLocks xmlns:a="http://schemas.openxmlformats.org/drawingml/2006/main" noGrp="1"/>
          </p:cNvSpPr>
          <p:nvPr/>
        </p:nvSpPr>
        <p:spPr>
          <a:xfrm xmlns:a="http://schemas.openxmlformats.org/drawingml/2006/main" rot="5400000">
            <a:off x="5286068" y="1110716"/>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5" name="Google Shape;85;p15">
            <a:extLst xmlns:a="http://schemas.openxmlformats.org/drawingml/2006/main">
              <a:ext uri="{FF2B5EF4-FFF2-40B4-BE49-F238E27FC236}">
                <a16:creationId xmlns:a16="http://schemas.microsoft.com/office/drawing/2014/main" id="{D3F2A02F-ECD6-4B3A-AC89-1E04A02BEDFB}"/>
              </a:ext>
            </a:extLst>
          </p:cNvPr>
          <p:cNvSpPr>
            <a:spLocks xmlns:a="http://schemas.openxmlformats.org/drawingml/2006/main" noGrp="1"/>
          </p:cNvSpPr>
          <p:nvPr/>
        </p:nvSpPr>
        <p:spPr>
          <a:xfrm xmlns:a="http://schemas.openxmlformats.org/drawingml/2006/main" rot="5400000">
            <a:off x="5286068" y="179177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6" name="Google Shape;86;p15">
            <a:extLst xmlns:a="http://schemas.openxmlformats.org/drawingml/2006/main">
              <a:ext uri="{FF2B5EF4-FFF2-40B4-BE49-F238E27FC236}">
                <a16:creationId xmlns:a16="http://schemas.microsoft.com/office/drawing/2014/main" id="{A193CEC9-EA4E-4F52-9F20-5FFB594AC389}"/>
              </a:ext>
            </a:extLst>
          </p:cNvPr>
          <p:cNvSpPr>
            <a:spLocks xmlns:a="http://schemas.openxmlformats.org/drawingml/2006/main" noGrp="1"/>
          </p:cNvSpPr>
          <p:nvPr/>
        </p:nvSpPr>
        <p:spPr>
          <a:xfrm xmlns:a="http://schemas.openxmlformats.org/drawingml/2006/main">
            <a:off x="2688283" y="2357336"/>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02</a:t>
            </a:r>
            <a:endParaRPr sz="2100">
              <a:latin typeface="Inter"/>
              <a:ea typeface="Inter"/>
              <a:cs typeface="Inter"/>
            </a:endParaRPr>
          </a:p>
        </p:txBody>
      </p:sp>
      <p:sp>
        <p:nvSpPr>
          <p:cNvPr id="87" name="Google Shape;87;p15">
            <a:extLst xmlns:a="http://schemas.openxmlformats.org/drawingml/2006/main">
              <a:ext uri="{FF2B5EF4-FFF2-40B4-BE49-F238E27FC236}">
                <a16:creationId xmlns:a16="http://schemas.microsoft.com/office/drawing/2014/main" id="{5F3FC239-D716-431F-8D91-BC6F32A1ED4F}"/>
              </a:ext>
            </a:extLst>
          </p:cNvPr>
          <p:cNvSpPr>
            <a:spLocks xmlns:a="http://schemas.openxmlformats.org/drawingml/2006/main" noGrp="1"/>
          </p:cNvSpPr>
          <p:nvPr/>
        </p:nvSpPr>
        <p:spPr>
          <a:xfrm xmlns:a="http://schemas.openxmlformats.org/drawingml/2006/main">
            <a:off x="3467100" y="254317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Shared pot: a contract, 2 of 3 approve</a:t>
            </a:r>
            <a:endParaRPr sz="1600">
              <a:latin typeface="Inter"/>
              <a:ea typeface="Inter"/>
              <a:cs typeface="Inter"/>
            </a:endParaRPr>
          </a:p>
        </p:txBody>
      </p:sp>
      <p:sp>
        <p:nvSpPr>
          <p:cNvPr id="89" name="Google Shape;89;p15">
            <a:extLst xmlns:a="http://schemas.openxmlformats.org/drawingml/2006/main">
              <a:ext uri="{FF2B5EF4-FFF2-40B4-BE49-F238E27FC236}">
                <a16:creationId xmlns:a16="http://schemas.microsoft.com/office/drawing/2014/main" id="{893ED2BF-82D4-4C5D-B69B-A7C240A163AA}"/>
              </a:ext>
            </a:extLst>
          </p:cNvPr>
          <p:cNvSpPr>
            <a:spLocks xmlns:a="http://schemas.openxmlformats.org/drawingml/2006/main" noGrp="1"/>
          </p:cNvSpPr>
          <p:nvPr/>
        </p:nvSpPr>
        <p:spPr>
          <a:xfrm xmlns:a="http://schemas.openxmlformats.org/drawingml/2006/main">
            <a:off x="2688283" y="3025409"/>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03</a:t>
            </a:r>
            <a:endParaRPr sz="2100">
              <a:latin typeface="Inter"/>
              <a:ea typeface="Inter"/>
              <a:cs typeface="Inter"/>
            </a:endParaRPr>
          </a:p>
        </p:txBody>
      </p:sp>
      <p:sp>
        <p:nvSpPr>
          <p:cNvPr id="90" name="Google Shape;90;p15">
            <a:extLst xmlns:a="http://schemas.openxmlformats.org/drawingml/2006/main">
              <a:ext uri="{FF2B5EF4-FFF2-40B4-BE49-F238E27FC236}">
                <a16:creationId xmlns:a16="http://schemas.microsoft.com/office/drawing/2014/main" id="{746A4B8F-6997-4461-BB8F-56C5B8D230C1}"/>
              </a:ext>
            </a:extLst>
          </p:cNvPr>
          <p:cNvSpPr>
            <a:spLocks xmlns:a="http://schemas.openxmlformats.org/drawingml/2006/main" noGrp="1"/>
          </p:cNvSpPr>
          <p:nvPr/>
        </p:nvSpPr>
        <p:spPr>
          <a:xfrm xmlns:a="http://schemas.openxmlformats.org/drawingml/2006/main">
            <a:off x="3467100" y="321945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No money moves: one grant, no cap</a:t>
            </a:r>
            <a:endParaRPr sz="1600">
              <a:latin typeface="Inter"/>
              <a:ea typeface="Inter"/>
              <a:cs typeface="Inter"/>
            </a:endParaRPr>
          </a:p>
        </p:txBody>
      </p:sp>
      <p:sp>
        <p:nvSpPr>
          <p:cNvPr id="92" name="Google Shape;92;p15">
            <a:extLst xmlns:a="http://schemas.openxmlformats.org/drawingml/2006/main">
              <a:ext uri="{FF2B5EF4-FFF2-40B4-BE49-F238E27FC236}">
                <a16:creationId xmlns:a16="http://schemas.microsoft.com/office/drawing/2014/main" id="{A5CA518E-F82A-4A2B-8DFF-2DC55C2D943D}"/>
              </a:ext>
            </a:extLst>
          </p:cNvPr>
          <p:cNvSpPr>
            <a:spLocks xmlns:a="http://schemas.openxmlformats.org/drawingml/2006/main" noGrp="1"/>
          </p:cNvSpPr>
          <p:nvPr/>
        </p:nvSpPr>
        <p:spPr>
          <a:xfrm xmlns:a="http://schemas.openxmlformats.org/drawingml/2006/main">
            <a:off x="2688283" y="3710197"/>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04</a:t>
            </a:r>
            <a:endParaRPr sz="2100">
              <a:latin typeface="Inter"/>
              <a:ea typeface="Inter"/>
              <a:cs typeface="Inter"/>
            </a:endParaRPr>
          </a:p>
        </p:txBody>
      </p:sp>
      <p:sp>
        <p:nvSpPr>
          <p:cNvPr id="93" name="Google Shape;93;p15">
            <a:extLst xmlns:a="http://schemas.openxmlformats.org/drawingml/2006/main">
              <a:ext uri="{FF2B5EF4-FFF2-40B4-BE49-F238E27FC236}">
                <a16:creationId xmlns:a16="http://schemas.microsoft.com/office/drawing/2014/main" id="{AA1ACF90-07BC-446C-ACC0-2A4D47C2CCCD}"/>
              </a:ext>
            </a:extLst>
          </p:cNvPr>
          <p:cNvSpPr>
            <a:spLocks xmlns:a="http://schemas.openxmlformats.org/drawingml/2006/main" noGrp="1"/>
          </p:cNvSpPr>
          <p:nvPr/>
        </p:nvSpPr>
        <p:spPr>
          <a:xfrm xmlns:a="http://schemas.openxmlformats.org/drawingml/2006/main">
            <a:off x="3467100" y="389572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Allowance or time lock: a vault holds it</a:t>
            </a:r>
            <a:endParaRPr sz="1600">
              <a:latin typeface="Inter"/>
              <a:ea typeface="Inter"/>
              <a:cs typeface="Inter"/>
            </a:endParaRPr>
          </a:p>
        </p:txBody>
      </p:sp>
      <p:pic>
        <p:nvPicPr>
          <p:cNvPr id="95" name="Google Shape;95;p15">
            <a:extLst xmlns:a="http://schemas.openxmlformats.org/drawingml/2006/main">
              <a:ext uri="{FF2B5EF4-FFF2-40B4-BE49-F238E27FC236}">
                <a16:creationId xmlns:a16="http://schemas.microsoft.com/office/drawing/2014/main" id="{0934F2B7-3010-40C7-BACE-21D153FDB80C}"/>
              </a:ext>
            </a:extLst>
          </p:cNvPr>
          <p:cNvPicPr>
            <a:picLocks xmlns:a="http://schemas.openxmlformats.org/drawingml/2006/main" noChangeAspect="1"/>
          </p:cNvPicPr>
          <p:nvPr/>
        </p:nvPicPr>
        <p:blipFill>
          <a:blip xmlns:r="http://schemas.openxmlformats.org/officeDocument/2006/relationships" xmlns:a="http://schemas.openxmlformats.org/drawingml/2006/main" r:embed="R9c81933ba95e4a28">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96" name="Google Shape;96;p15">
            <a:extLst xmlns:a="http://schemas.openxmlformats.org/drawingml/2006/main">
              <a:ext uri="{FF2B5EF4-FFF2-40B4-BE49-F238E27FC236}">
                <a16:creationId xmlns:a16="http://schemas.microsoft.com/office/drawing/2014/main" id="{9817DA67-C9AA-4A78-B6EE-C7B8F45BDC7B}"/>
              </a:ext>
            </a:extLst>
          </p:cNvPr>
          <p:cNvPicPr>
            <a:picLocks xmlns:a="http://schemas.openxmlformats.org/drawingml/2006/main" noChangeAspect="1"/>
          </p:cNvPicPr>
          <p:nvPr/>
        </p:nvPicPr>
        <p:blipFill>
          <a:blip xmlns:r="http://schemas.openxmlformats.org/officeDocument/2006/relationships" xmlns:a="http://schemas.openxmlformats.org/drawingml/2006/main" r:embed="R36e5fea53f81412c">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075774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YOUR OWN APP, START TO FINISH</a:t>
            </a:r>
            <a:endParaRPr sz="3000">
              <a:solidFill>
                <a:schemeClr val="lt1"/>
              </a:solidFill>
              <a:latin typeface="Inter SemiBold"/>
              <a:ea typeface="Inter SemiBold"/>
              <a:cs typeface="Inter SemiBold"/>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B U I L D   Y O U R   O W N</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a5e06ed8144a404f">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e593e17e03b34264">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724FB1EC-00C8-479D-985F-BF0089EAFA4A}"/>
              </a:ext>
            </a:extLst>
          </p:cNvPr>
          <p:cNvSpPr>
            <a:spLocks xmlns:a="http://schemas.openxmlformats.org/drawingml/2006/main" noGrp="1"/>
          </p:cNvSpPr>
          <p:nvPr/>
        </p:nvSpPr>
        <p:spPr>
          <a:xfrm xmlns:a="http://schemas.openxmlformats.org/drawingml/2006/main">
            <a:off x="657225" y="1638300"/>
            <a:ext cx="7896225"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650" b="0">
                <a:solidFill>
                  <a:srgbClr val="FFFFFF"/>
                </a:solidFill>
                <a:latin typeface="Inter"/>
                <a:ea typeface="Inter"/>
                <a:cs typeface="Inter"/>
              </a:rPr>
              <a:t>npm run new-app -- ../my-app --blank &amp;&amp; cd ../my-app</a:t>
            </a:r>
            <a:br>
              <a:rPr sz="1650" b="0">
                <a:solidFill>
                  <a:srgbClr val="FFFFFF"/>
                </a:solidFill>
                <a:latin typeface="Inter"/>
                <a:ea typeface="Inter"/>
                <a:cs typeface="Inter"/>
              </a:rPr>
            </a:br>
            <a:r>
              <a:rPr sz="1650" b="0">
                <a:solidFill>
                  <a:srgbClr val="FFFFFF"/>
                </a:solidFill>
                <a:latin typeface="Inter"/>
                <a:ea typeface="Inter"/>
                <a:cs typeface="Inter"/>
              </a:rPr>
              <a:t>npm run tools:scaffold &amp;&amp; npm ci &amp;&amp; npm run doctor</a:t>
            </a:r>
            <a:br>
              <a:rPr sz="1650" b="0">
                <a:solidFill>
                  <a:srgbClr val="FFFFFF"/>
                </a:solidFill>
                <a:latin typeface="Inter"/>
                <a:ea typeface="Inter"/>
                <a:cs typeface="Inter"/>
              </a:rPr>
            </a:br>
            <a:r>
              <a:rPr sz="1650" b="0">
                <a:solidFill>
                  <a:srgbClr val="FFFFFF"/>
                </a:solidFill>
                <a:latin typeface="Inter"/>
                <a:ea typeface="Inter"/>
                <a:cs typeface="Inter"/>
              </a:rPr>
              <a:t># grow contracts/check-in, or add a crate and list it in scaffold.yml</a:t>
            </a:r>
            <a:br>
              <a:rPr sz="1650" b="0">
                <a:solidFill>
                  <a:srgbClr val="FFFFFF"/>
                </a:solidFill>
                <a:latin typeface="Inter"/>
                <a:ea typeface="Inter"/>
                <a:cs typeface="Inter"/>
              </a:rPr>
            </a:br>
            <a:r>
              <a:rPr sz="1650" b="0">
                <a:solidFill>
                  <a:srgbClr val="FFFFFF"/>
                </a:solidFill>
                <a:latin typeface="Inter"/>
                <a:ea typeface="Inter"/>
                <a:cs typeface="Inter"/>
              </a:rPr>
              <a:t>npm run deploy:testnet  # deploys, pins its testnet ID, writes the client</a:t>
            </a:r>
            <a:br>
              <a:rPr sz="1650" b="0">
                <a:solidFill>
                  <a:srgbClr val="FFFFFF"/>
                </a:solidFill>
                <a:latin typeface="Inter"/>
                <a:ea typeface="Inter"/>
                <a:cs typeface="Inter"/>
              </a:rPr>
            </a:br>
            <a:r>
              <a:rPr sz="1650" b="0">
                <a:solidFill>
                  <a:srgbClr val="FFFFFF"/>
                </a:solidFill>
                <a:latin typeface="Inter"/>
                <a:ea typeface="Inter"/>
                <a:cs typeface="Inter"/>
              </a:rPr>
              <a:t>&lt;SessionGate grants={grants}&gt;  // one Grant per contract in env.auths()</a:t>
            </a:r>
            <a:br>
              <a:rPr sz="1650" b="0">
                <a:solidFill>
                  <a:srgbClr val="FFFFFF"/>
                </a:solidFill>
                <a:latin typeface="Inter"/>
                <a:ea typeface="Inter"/>
                <a:cs typeface="Inter"/>
              </a:rPr>
            </a:br>
            <a:r>
              <a:rPr sz="1650" b="0">
                <a:solidFill>
                  <a:srgbClr val="FFFFFF"/>
                </a:solidFill>
                <a:latin typeface="Inter"/>
                <a:ea typeface="Inter"/>
                <a:cs typeface="Inter"/>
              </a:rPr>
              <a:t>const { result, hash } = await submitCall(address, (publicKey) =&gt;</a:t>
            </a:r>
            <a:br>
              <a:rPr sz="1650" b="0">
                <a:solidFill>
                  <a:srgbClr val="FFFFFF"/>
                </a:solidFill>
                <a:latin typeface="Inter"/>
                <a:ea typeface="Inter"/>
                <a:cs typeface="Inter"/>
              </a:rPr>
            </a:br>
            <a:r>
              <a:rPr sz="1650" b="0">
                <a:solidFill>
                  <a:srgbClr val="FFFFFF"/>
                </a:solidFill>
                <a:latin typeface="Inter"/>
                <a:ea typeface="Inter"/>
                <a:cs typeface="Inter"/>
              </a:rPr>
              <a:t>  myContract.my_fn({ user: address }, { publicKey }))</a:t>
            </a:r>
          </a:p>
        </p:txBody>
      </p:sp>
      <p:sp>
        <p:nvSpPr>
          <p:cNvPr id="189" name="">
            <a:extLst xmlns:a="http://schemas.openxmlformats.org/drawingml/2006/main">
              <a:ext uri="{FF2B5EF4-FFF2-40B4-BE49-F238E27FC236}">
                <a16:creationId xmlns:a16="http://schemas.microsoft.com/office/drawing/2014/main" id="{9EA633F1-1246-4DEF-94F5-E3D74C98EBAC}"/>
              </a:ext>
            </a:extLst>
          </p:cNvPr>
          <p:cNvSpPr>
            <a:spLocks xmlns:a="http://schemas.openxmlformats.org/drawingml/2006/main" noGrp="1"/>
          </p:cNvSpPr>
          <p:nvPr/>
        </p:nvSpPr>
        <p:spPr>
          <a:xfrm xmlns:a="http://schemas.openxmlformats.org/drawingml/2006/main">
            <a:off x="657225" y="4333875"/>
            <a:ext cx="789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Helpers from the template’s app-lib. NIDO.md has the whole path; AGENTS.md is for your agent.</a:t>
            </a:r>
          </a:p>
        </p:txBody>
      </p:sp>
    </p:spTree>
    <p:extLst>
      <p:ext uri="{BB962C8B-B14F-4D97-AF65-F5344CB8AC3E}">
        <p14:creationId xmlns:p14="http://schemas.microsoft.com/office/powerpoint/2010/main" val="129607807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04" name="Google Shape;204;p24">
            <a:extLst xmlns:a="http://schemas.openxmlformats.org/drawingml/2006/main">
              <a:ext uri="{FF2B5EF4-FFF2-40B4-BE49-F238E27FC236}">
                <a16:creationId xmlns:a16="http://schemas.microsoft.com/office/drawing/2014/main" id="{293DF6B1-9DD2-4F57-9871-397C62B2D4C3}"/>
              </a:ext>
            </a:extLst>
          </p:cNvPr>
          <p:cNvSpPr>
            <a:spLocks xmlns:a="http://schemas.openxmlformats.org/drawingml/2006/main" noGrp="1"/>
          </p:cNvSpPr>
          <p:nvPr/>
        </p:nvSpPr>
        <p:spPr>
          <a:xfrm xmlns:a="http://schemas.openxmlformats.org/drawingml/2006/main">
            <a:off x="495300" y="942975"/>
            <a:ext cx="8248650" cy="6629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150"/>
            </a:defPPr>
          </a:lstStyle>
          <a:p xmlns:a="http://schemas.openxmlformats.org/drawingml/2006/main">
            <a:pPr marL="0" lvl="0" indent="0" algn="l">
              <a:spcBef>
                <a:spcPts val="0"/>
              </a:spcBef>
              <a:spcAft>
                <a:spcPts val="0"/>
              </a:spcAft>
              <a:buNone/>
              <a:defRPr sz="3150"/>
            </a:pPr>
            <a:r>
              <a:rPr sz="3150" spc="-231">
                <a:solidFill>
                  <a:schemeClr val="dk1"/>
                </a:solidFill>
                <a:latin typeface="Inter Medium"/>
                <a:ea typeface="Inter Medium"/>
                <a:cs typeface="Inter Medium"/>
              </a:rPr>
              <a:t>YOUR FIRST SMART ACCOUNT APP</a:t>
            </a:r>
            <a:endParaRPr sz="3900">
              <a:latin typeface="Inter Medium"/>
              <a:ea typeface="Inter Medium"/>
              <a:cs typeface="Inter Medium"/>
            </a:endParaRPr>
          </a:p>
        </p:txBody>
      </p:sp>
      <p:sp>
        <p:nvSpPr>
          <p:cNvPr id="205" name="Google Shape;205;p24">
            <a:extLst xmlns:a="http://schemas.openxmlformats.org/drawingml/2006/main">
              <a:ext uri="{FF2B5EF4-FFF2-40B4-BE49-F238E27FC236}">
                <a16:creationId xmlns:a16="http://schemas.microsoft.com/office/drawing/2014/main" id="{4F12F5CC-495B-4522-AF8E-7ACCD45C9B68}"/>
              </a:ext>
            </a:extLst>
          </p:cNvPr>
          <p:cNvSpPr>
            <a:spLocks xmlns:a="http://schemas.openxmlformats.org/drawingml/2006/main" noGrp="1"/>
          </p:cNvSpPr>
          <p:nvPr/>
        </p:nvSpPr>
        <p:spPr>
          <a:xfrm xmlns:a="http://schemas.openxmlformats.org/drawingml/2006/main">
            <a:off x="504825" y="1714500"/>
            <a:ext cx="5476875" cy="77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950"/>
            </a:defPPr>
          </a:lstStyle>
          <a:p xmlns:a="http://schemas.openxmlformats.org/drawingml/2006/main">
            <a:pPr marL="0" lvl="0" indent="0" algn="l">
              <a:spcBef>
                <a:spcPts val="0"/>
              </a:spcBef>
              <a:spcAft>
                <a:spcPts val="0"/>
              </a:spcAft>
              <a:buNone/>
              <a:defRPr sz="1950"/>
            </a:pPr>
            <a:r>
              <a:rPr sz="1950">
                <a:latin typeface="Inter"/>
                <a:ea typeface="Inter"/>
                <a:cs typeface="Inter"/>
              </a:rPr>
              <a:t>Give the app a rule, not your key.</a:t>
            </a:r>
            <a:endParaRPr sz="1800">
              <a:latin typeface="Inter"/>
              <a:ea typeface="Inter"/>
              <a:cs typeface="Inter"/>
            </a:endParaRPr>
          </a:p>
          <a:p xmlns:a="http://schemas.openxmlformats.org/drawingml/2006/main">
            <a:pPr marL="0" lvl="0" indent="0" algn="l">
              <a:spcBef>
                <a:spcPts val="0"/>
              </a:spcBef>
              <a:spcAft>
                <a:spcPts val="0"/>
              </a:spcAft>
              <a:buNone/>
              <a:defRPr sz="1950"/>
            </a:pPr>
            <a:r>
              <a:rPr sz="1950">
                <a:latin typeface="Inter"/>
                <a:ea typeface="Inter"/>
                <a:cs typeface="Inter"/>
              </a:rPr>
              <a:t>Let the account say no.</a:t>
            </a:r>
            <a:endParaRPr sz="1800">
              <a:latin typeface="Inter"/>
              <a:ea typeface="Inter"/>
              <a:cs typeface="Inter"/>
            </a:endParaRPr>
          </a:p>
        </p:txBody>
      </p:sp>
      <p:pic>
        <p:nvPicPr>
          <p:cNvPr id="206" name="Google Shape;206;p24">
            <a:extLst xmlns:a="http://schemas.openxmlformats.org/drawingml/2006/main">
              <a:ext uri="{FF2B5EF4-FFF2-40B4-BE49-F238E27FC236}">
                <a16:creationId xmlns:a16="http://schemas.microsoft.com/office/drawing/2014/main" id="{A6D582C0-A1F1-407E-8CD8-4EF148B17F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63fb7aa0ac43df">
            <a:alphaModFix/>
          </a:blip>
          <a:srcRect xmlns:a="http://schemas.openxmlformats.org/drawingml/2006/main" l="0" t="37145" r="0" b="40645"/>
          <a:stretch xmlns:a="http://schemas.openxmlformats.org/drawingml/2006/main"/>
        </p:blipFill>
        <p:spPr>
          <a:xfrm xmlns:a="http://schemas.openxmlformats.org/drawingml/2006/main">
            <a:off x="0" y="3510000"/>
            <a:ext cx="9144000" cy="1523075"/>
          </a:xfrm>
          <a:prstGeom xmlns:a="http://schemas.openxmlformats.org/drawingml/2006/main" prst="rect">
            <a:avLst/>
          </a:prstGeom>
          <a:ln xmlns:a="http://schemas.openxmlformats.org/drawingml/2006/main">
            <a:noFill/>
          </a:ln>
        </p:spPr>
      </p:pic>
      <p:sp>
        <p:nvSpPr>
          <p:cNvPr id="207" name="Google Shape;207;p24">
            <a:extLst xmlns:a="http://schemas.openxmlformats.org/drawingml/2006/main">
              <a:ext uri="{FF2B5EF4-FFF2-40B4-BE49-F238E27FC236}">
                <a16:creationId xmlns:a16="http://schemas.microsoft.com/office/drawing/2014/main" id="{C50996C1-4247-4494-87B2-BD3052B970EE}"/>
              </a:ext>
            </a:extLst>
          </p:cNvPr>
          <p:cNvSpPr>
            <a:spLocks xmlns:a="http://schemas.openxmlformats.org/drawingml/2006/main" noGrp="1"/>
          </p:cNvSpPr>
          <p:nvPr/>
        </p:nvSpPr>
        <p:spPr>
          <a:xfrm xmlns:a="http://schemas.openxmlformats.org/drawingml/2006/main">
            <a:off x="514350" y="314325"/>
            <a:ext cx="6286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K E E P   B U I L D I N G</a:t>
            </a:r>
            <a:endParaRPr sz="900" b="1">
              <a:solidFill>
                <a:schemeClr val="dk1"/>
              </a:solidFill>
              <a:latin typeface="Inter"/>
              <a:ea typeface="Inter"/>
              <a:cs typeface="Inter"/>
            </a:endParaRPr>
          </a:p>
        </p:txBody>
      </p:sp>
      <p:pic>
        <p:nvPicPr>
          <p:cNvPr id="208" name="Google Shape;208;p24">
            <a:extLst xmlns:a="http://schemas.openxmlformats.org/drawingml/2006/main">
              <a:ext uri="{FF2B5EF4-FFF2-40B4-BE49-F238E27FC236}">
                <a16:creationId xmlns:a16="http://schemas.microsoft.com/office/drawing/2014/main" id="{D66ECAB0-F799-4005-99D6-FA48B0920AE3}"/>
              </a:ext>
            </a:extLst>
          </p:cNvPr>
          <p:cNvPicPr>
            <a:picLocks xmlns:a="http://schemas.openxmlformats.org/drawingml/2006/main" noChangeAspect="1"/>
          </p:cNvPicPr>
          <p:nvPr/>
        </p:nvPicPr>
        <p:blipFill>
          <a:blip xmlns:r="http://schemas.openxmlformats.org/officeDocument/2006/relationships" xmlns:a="http://schemas.openxmlformats.org/drawingml/2006/main" r:embed="Rb6ccf4c5ed6343c0">
            <a:alphaModFix/>
          </a:blip>
          <a:stretch xmlns:a="http://schemas.openxmlformats.org/drawingml/2006/main">
            <a:fillRect l="0" t="0" r="0" b="0"/>
          </a:stretch>
        </p:blipFill>
        <p:spPr>
          <a:xfrm xmlns:a="http://schemas.openxmlformats.org/drawingml/2006/main">
            <a:off x="7524521" y="444352"/>
            <a:ext cx="1149929" cy="200042"/>
          </a:xfrm>
          <a:prstGeom xmlns:a="http://schemas.openxmlformats.org/drawingml/2006/main" prst="rect">
            <a:avLst/>
          </a:prstGeom>
          <a:ln xmlns:a="http://schemas.openxmlformats.org/drawingml/2006/main">
            <a:noFill/>
          </a:ln>
        </p:spPr>
      </p:pic>
      <p:pic>
        <p:nvPicPr>
          <p:cNvPr id="209" name="Google Shape;209;p24">
            <a:extLst xmlns:a="http://schemas.openxmlformats.org/drawingml/2006/main">
              <a:ext uri="{FF2B5EF4-FFF2-40B4-BE49-F238E27FC236}">
                <a16:creationId xmlns:a16="http://schemas.microsoft.com/office/drawing/2014/main" id="{D9A37245-40C5-46EC-89F2-3DA8E21F4CC9}"/>
              </a:ext>
            </a:extLst>
          </p:cNvPr>
          <p:cNvPicPr>
            <a:picLocks xmlns:a="http://schemas.openxmlformats.org/drawingml/2006/main" noChangeAspect="1"/>
          </p:cNvPicPr>
          <p:nvPr/>
        </p:nvPicPr>
        <p:blipFill>
          <a:blip xmlns:r="http://schemas.openxmlformats.org/officeDocument/2006/relationships" xmlns:a="http://schemas.openxmlformats.org/drawingml/2006/main" r:embed="R88845a171e304d1f">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sp>
        <p:nvSpPr>
          <p:cNvPr id="210" name="Google Shape;210;p24">
            <a:extLst xmlns:a="http://schemas.openxmlformats.org/drawingml/2006/main">
              <a:ext uri="{FF2B5EF4-FFF2-40B4-BE49-F238E27FC236}">
                <a16:creationId xmlns:a16="http://schemas.microsoft.com/office/drawing/2014/main" id="{8C8702E7-19D5-4E02-930D-F51258C1776C}"/>
              </a:ext>
            </a:extLst>
          </p:cNvPr>
          <p:cNvSpPr>
            <a:spLocks xmlns:a="http://schemas.openxmlformats.org/drawingml/2006/main" noGrp="1"/>
          </p:cNvSpPr>
          <p:nvPr/>
        </p:nvSpPr>
        <p:spPr>
          <a:xfrm xmlns:a="http://schemas.openxmlformats.org/drawingml/2006/main">
            <a:off x="6339875" y="2312625"/>
            <a:ext cx="1578900" cy="15789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212" name="Google Shape;212;p24">
            <a:extLst xmlns:a="http://schemas.openxmlformats.org/drawingml/2006/main">
              <a:ext uri="{FF2B5EF4-FFF2-40B4-BE49-F238E27FC236}">
                <a16:creationId xmlns:a16="http://schemas.microsoft.com/office/drawing/2014/main" id="{1DBA0D82-A901-4583-AD71-B154AAA0AD60}"/>
              </a:ext>
            </a:extLst>
          </p:cNvPr>
          <p:cNvPicPr>
            <a:picLocks xmlns:a="http://schemas.openxmlformats.org/drawingml/2006/main" noChangeAspect="1"/>
          </p:cNvPicPr>
          <p:nvPr/>
        </p:nvPicPr>
        <p:blipFill>
          <a:blip xmlns:r="http://schemas.openxmlformats.org/officeDocument/2006/relationships" xmlns:a="http://schemas.openxmlformats.org/drawingml/2006/main" r:embed="Re5139593dd8443c1">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213" name="">
            <a:extLst xmlns:a="http://schemas.openxmlformats.org/drawingml/2006/main">
              <a:ext uri="{FF2B5EF4-FFF2-40B4-BE49-F238E27FC236}">
                <a16:creationId xmlns:a16="http://schemas.microsoft.com/office/drawing/2014/main" id="{831F9FE9-F46B-4D73-9085-5DE2C8B16246}"/>
              </a:ext>
            </a:extLst>
          </p:cNvPr>
          <p:cNvSpPr>
            <a:spLocks xmlns:a="http://schemas.openxmlformats.org/drawingml/2006/main" noGrp="1"/>
          </p:cNvSpPr>
          <p:nvPr/>
        </p:nvSpPr>
        <p:spPr>
          <a:xfrm xmlns:a="http://schemas.openxmlformats.org/drawingml/2006/main">
            <a:off x="514350" y="2771775"/>
            <a:ext cx="5524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350" b="0">
                <a:solidFill>
                  <a:srgbClr val="000000"/>
                </a:solidFill>
                <a:latin typeface="Inter"/>
                <a:ea typeface="Inter"/>
                <a:cs typeface="Inter"/>
              </a:rPr>
              <a:t>test.nido.fyi  ·  testnet</a:t>
            </a:r>
            <a:br>
              <a:rPr sz="1350" b="0">
                <a:solidFill>
                  <a:srgbClr val="000000"/>
                </a:solidFill>
                <a:latin typeface="Inter"/>
                <a:ea typeface="Inter"/>
                <a:cs typeface="Inter"/>
              </a:rPr>
            </a:br>
            <a:r>
              <a:rPr sz="1350" b="0">
                <a:solidFill>
                  <a:srgbClr val="000000"/>
                </a:solidFill>
                <a:latin typeface="Inter"/>
                <a:ea typeface="Inter"/>
                <a:cs typeface="Inter"/>
              </a:rPr>
              <a:t>github.com/nidohq/nido</a:t>
            </a:r>
            <a:br>
              <a:rPr sz="1350" b="0">
                <a:solidFill>
                  <a:srgbClr val="000000"/>
                </a:solidFill>
                <a:latin typeface="Inter"/>
                <a:ea typeface="Inter"/>
                <a:cs typeface="Inter"/>
              </a:rPr>
            </a:br>
            <a:r>
              <a:rPr sz="1350" b="0">
                <a:solidFill>
                  <a:srgbClr val="000000"/>
                </a:solidFill>
                <a:latin typeface="Inter"/>
                <a:ea typeface="Inter"/>
                <a:cs typeface="Inter"/>
              </a:rPr>
              <a:t>github.com/stellar-registry/perch</a:t>
            </a:r>
          </a:p>
        </p:txBody>
      </p:sp>
      <p:pic>
        <p:nvPicPr>
          <p:cNvPr id="214" name="">
            <a:extLst xmlns:a="http://schemas.openxmlformats.org/drawingml/2006/main">
              <a:ext uri="{FF2B5EF4-FFF2-40B4-BE49-F238E27FC236}">
                <a16:creationId xmlns:a16="http://schemas.microsoft.com/office/drawing/2014/main" id="{C7EB1A4E-AE15-420A-A264-A6F0DAA6EB2E}"/>
              </a:ext>
            </a:extLst>
          </p:cNvPr>
          <p:cNvPicPr>
            <a:picLocks xmlns:a="http://schemas.openxmlformats.org/drawingml/2006/main" noChangeAspect="1"/>
          </p:cNvPicPr>
          <p:nvPr/>
        </p:nvPicPr>
        <p:blipFill>
          <a:blip xmlns:r="http://schemas.openxmlformats.org/officeDocument/2006/relationships" xmlns:a="http://schemas.openxmlformats.org/drawingml/2006/main" r:embed="R4791c3e18e0b487b"/>
          <a:stretch xmlns:a="http://schemas.openxmlformats.org/drawingml/2006/main"/>
        </p:blipFill>
        <p:spPr>
          <a:xfrm xmlns:a="http://schemas.openxmlformats.org/drawingml/2006/main">
            <a:off x="6343650" y="2314575"/>
            <a:ext cx="1571625" cy="1571625"/>
          </a:xfrm>
          <a:prstGeom xmlns:a="http://schemas.openxmlformats.org/drawingml/2006/main" prst="rect">
            <a:avLst/>
          </a:prstGeom>
        </p:spPr>
      </p:pic>
    </p:spTree>
    <p:extLst>
      <p:ext uri="{BB962C8B-B14F-4D97-AF65-F5344CB8AC3E}">
        <p14:creationId xmlns:p14="http://schemas.microsoft.com/office/powerpoint/2010/main" val="8126526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18">
            <a:extLst xmlns:a="http://schemas.openxmlformats.org/drawingml/2006/main">
              <a:ext uri="{FF2B5EF4-FFF2-40B4-BE49-F238E27FC236}">
                <a16:creationId xmlns:a16="http://schemas.microsoft.com/office/drawing/2014/main" id="{6E6BE604-952B-4AB4-AF4D-7E321BFECCE4}"/>
              </a:ext>
            </a:extLst>
          </p:cNvPr>
          <p:cNvSpPr>
            <a:spLocks xmlns:a="http://schemas.openxmlformats.org/drawingml/2006/main" noGrp="1"/>
          </p:cNvSpPr>
          <p:nvPr/>
        </p:nvSpPr>
        <p:spPr>
          <a:xfrm xmlns:a="http://schemas.openxmlformats.org/drawingml/2006/main">
            <a:off x="0" y="-10375"/>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26" name="Google Shape;126;p18">
            <a:extLst xmlns:a="http://schemas.openxmlformats.org/drawingml/2006/main">
              <a:ext uri="{FF2B5EF4-FFF2-40B4-BE49-F238E27FC236}">
                <a16:creationId xmlns:a16="http://schemas.microsoft.com/office/drawing/2014/main" id="{D2BC35EC-49F3-4233-8F96-3FE729092C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cb4c86374c493c">
            <a:alphaModFix amt="39000"/>
          </a:blip>
          <a:srcRect xmlns:a="http://schemas.openxmlformats.org/drawingml/2006/main" l="0" t="0" r="0" b="6621"/>
          <a:stretch xmlns:a="http://schemas.openxmlformats.org/drawingml/2006/main"/>
        </p:blipFill>
        <p:spPr>
          <a:xfrm xmlns:a="http://schemas.openxmlformats.org/drawingml/2006/main">
            <a:off x="0" y="-10375"/>
            <a:ext cx="9144000" cy="5143500"/>
          </a:xfrm>
          <a:prstGeom xmlns:a="http://schemas.openxmlformats.org/drawingml/2006/main" prst="rect">
            <a:avLst/>
          </a:prstGeom>
          <a:ln xmlns:a="http://schemas.openxmlformats.org/drawingml/2006/main">
            <a:noFill/>
          </a:ln>
        </p:spPr>
      </p:pic>
      <p:sp>
        <p:nvSpPr>
          <p:cNvPr id="127" name="Google Shape;127;p18">
            <a:extLst xmlns:a="http://schemas.openxmlformats.org/drawingml/2006/main">
              <a:ext uri="{FF2B5EF4-FFF2-40B4-BE49-F238E27FC236}">
                <a16:creationId xmlns:a16="http://schemas.microsoft.com/office/drawing/2014/main" id="{3DFAF13F-4509-46A3-BDE9-4E7FE7F3A49D}"/>
              </a:ext>
            </a:extLst>
          </p:cNvPr>
          <p:cNvSpPr>
            <a:spLocks xmlns:a="http://schemas.openxmlformats.org/drawingml/2006/main" noGrp="1"/>
          </p:cNvSpPr>
          <p:nvPr/>
        </p:nvSpPr>
        <p:spPr>
          <a:xfrm xmlns:a="http://schemas.openxmlformats.org/drawingml/2006/main">
            <a:off x="1104900" y="1638300"/>
            <a:ext cx="7429500" cy="1371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None/>
              <a:defRPr sz="3900"/>
            </a:pPr>
            <a:r>
              <a:rPr sz="3900">
                <a:solidFill>
                  <a:schemeClr val="lt1"/>
                </a:solidFill>
                <a:latin typeface="Inter SemiBold"/>
                <a:ea typeface="Inter SemiBold"/>
                <a:cs typeface="Inter SemiBold"/>
              </a:rPr>
              <a:t>BACKUP</a:t>
            </a:r>
            <a:endParaRPr sz="3900">
              <a:solidFill>
                <a:schemeClr val="lt1"/>
              </a:solidFill>
              <a:latin typeface="Inter SemiBold"/>
              <a:ea typeface="Inter SemiBold"/>
              <a:cs typeface="Inter SemiBold"/>
            </a:endParaRPr>
          </a:p>
          <a:p xmlns:a="http://schemas.openxmlformats.org/drawingml/2006/main">
            <a:pPr marL="0" lvl="0" indent="0" algn="l">
              <a:spcBef>
                <a:spcPts val="0"/>
              </a:spcBef>
              <a:spcAft>
                <a:spcPts val="0"/>
              </a:spcAft>
              <a:buNone/>
              <a:defRPr sz="3900"/>
            </a:pPr>
            <a:r>
              <a:rPr sz="3900">
                <a:solidFill>
                  <a:schemeClr val="lt1"/>
                </a:solidFill>
                <a:latin typeface="Inter SemiBold"/>
                <a:ea typeface="Inter SemiBold"/>
                <a:cs typeface="Inter SemiBold"/>
              </a:rPr>
              <a:t>SLIDES</a:t>
            </a:r>
            <a:endParaRPr sz="3900">
              <a:solidFill>
                <a:schemeClr val="lt1"/>
              </a:solidFill>
              <a:latin typeface="Inter SemiBold"/>
              <a:ea typeface="Inter SemiBold"/>
              <a:cs typeface="Inter SemiBold"/>
            </a:endParaRPr>
          </a:p>
        </p:txBody>
      </p:sp>
      <p:sp>
        <p:nvSpPr>
          <p:cNvPr id="128" name="Google Shape;128;p18">
            <a:extLst xmlns:a="http://schemas.openxmlformats.org/drawingml/2006/main">
              <a:ext uri="{FF2B5EF4-FFF2-40B4-BE49-F238E27FC236}">
                <a16:creationId xmlns:a16="http://schemas.microsoft.com/office/drawing/2014/main" id="{CBC6506B-32A5-4610-8D5B-CCE7057596C7}"/>
              </a:ext>
            </a:extLst>
          </p:cNvPr>
          <p:cNvSpPr>
            <a:spLocks xmlns:a="http://schemas.openxmlformats.org/drawingml/2006/main" noGrp="1"/>
          </p:cNvSpPr>
          <p:nvPr/>
        </p:nvSpPr>
        <p:spPr>
          <a:xfrm xmlns:a="http://schemas.openxmlformats.org/drawingml/2006/main">
            <a:off x="1152525" y="3019425"/>
            <a:ext cx="6572250" cy="4343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650" i="0"/>
            </a:defPPr>
          </a:lstStyle>
          <a:p xmlns:a="http://schemas.openxmlformats.org/drawingml/2006/main">
            <a:pPr marL="0" lvl="0" indent="0" algn="l">
              <a:spcBef>
                <a:spcPts val="0"/>
              </a:spcBef>
              <a:spcAft>
                <a:spcPts val="0"/>
              </a:spcAft>
              <a:buNone/>
              <a:defRPr sz="1650" i="0"/>
            </a:pPr>
            <a:r>
              <a:rPr sz="1650" i="0">
                <a:solidFill>
                  <a:schemeClr val="lt1"/>
                </a:solidFill>
                <a:latin typeface="Inter"/>
                <a:ea typeface="Inter"/>
                <a:cs typeface="Inter"/>
              </a:rPr>
              <a:t>Perch in depth, the full walkthrough, and what broke</a:t>
            </a:r>
            <a:endParaRPr sz="1200" i="1">
              <a:solidFill>
                <a:schemeClr val="lt1"/>
              </a:solidFill>
              <a:latin typeface="Inter"/>
              <a:ea typeface="Inter"/>
              <a:cs typeface="Inter"/>
            </a:endParaRPr>
          </a:p>
        </p:txBody>
      </p:sp>
      <p:sp>
        <p:nvSpPr>
          <p:cNvPr id="129" name="Google Shape;129;p18">
            <a:extLst xmlns:a="http://schemas.openxmlformats.org/drawingml/2006/main">
              <a:ext uri="{FF2B5EF4-FFF2-40B4-BE49-F238E27FC236}">
                <a16:creationId xmlns:a16="http://schemas.microsoft.com/office/drawing/2014/main" id="{F975C957-E201-41EB-ABA1-F31CA9B5002B}"/>
              </a:ext>
            </a:extLst>
          </p:cNvPr>
          <p:cNvSpPr>
            <a:spLocks xmlns:a="http://schemas.openxmlformats.org/drawingml/2006/main" noGrp="1"/>
          </p:cNvSpPr>
          <p:nvPr/>
        </p:nvSpPr>
        <p:spPr>
          <a:xfrm xmlns:a="http://schemas.openxmlformats.org/drawingml/2006/main">
            <a:off x="514350" y="314325"/>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A P P E N D I X</a:t>
            </a:r>
            <a:endParaRPr sz="900" b="1">
              <a:solidFill>
                <a:schemeClr val="lt1"/>
              </a:solidFill>
              <a:latin typeface="Inter"/>
              <a:ea typeface="Inter"/>
              <a:cs typeface="Inter"/>
            </a:endParaRPr>
          </a:p>
        </p:txBody>
      </p:sp>
      <p:pic>
        <p:nvPicPr>
          <p:cNvPr id="130" name="Google Shape;130;p18">
            <a:extLst xmlns:a="http://schemas.openxmlformats.org/drawingml/2006/main">
              <a:ext uri="{FF2B5EF4-FFF2-40B4-BE49-F238E27FC236}">
                <a16:creationId xmlns:a16="http://schemas.microsoft.com/office/drawing/2014/main" id="{4F41CC66-9A6A-4156-B45D-C910D24E039D}"/>
              </a:ext>
            </a:extLst>
          </p:cNvPr>
          <p:cNvPicPr>
            <a:picLocks xmlns:a="http://schemas.openxmlformats.org/drawingml/2006/main" noChangeAspect="1"/>
          </p:cNvPicPr>
          <p:nvPr/>
        </p:nvPicPr>
        <p:blipFill>
          <a:blip xmlns:r="http://schemas.openxmlformats.org/officeDocument/2006/relationships" xmlns:a="http://schemas.openxmlformats.org/drawingml/2006/main" r:embed="R8e0ef578105940e6">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31" name="Google Shape;131;p18">
            <a:extLst xmlns:a="http://schemas.openxmlformats.org/drawingml/2006/main">
              <a:ext uri="{FF2B5EF4-FFF2-40B4-BE49-F238E27FC236}">
                <a16:creationId xmlns:a16="http://schemas.microsoft.com/office/drawing/2014/main" id="{2DB04439-2A12-4DAF-90D5-7292D4076685}"/>
              </a:ext>
            </a:extLst>
          </p:cNvPr>
          <p:cNvPicPr>
            <a:picLocks xmlns:a="http://schemas.openxmlformats.org/drawingml/2006/main" noChangeAspect="1"/>
          </p:cNvPicPr>
          <p:nvPr/>
        </p:nvPicPr>
        <p:blipFill>
          <a:blip xmlns:r="http://schemas.openxmlformats.org/officeDocument/2006/relationships" xmlns:a="http://schemas.openxmlformats.org/drawingml/2006/main" r:embed="R4aa948fdf101444b">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5539088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20">
            <a:extLst xmlns:a="http://schemas.openxmlformats.org/drawingml/2006/main">
              <a:ext uri="{FF2B5EF4-FFF2-40B4-BE49-F238E27FC236}">
                <a16:creationId xmlns:a16="http://schemas.microsoft.com/office/drawing/2014/main" id="{DF8C0561-2FAE-4531-850C-4FF264366183}"/>
              </a:ext>
            </a:extLst>
          </p:cNvPr>
          <p:cNvSpPr>
            <a:spLocks xmlns:a="http://schemas.openxmlformats.org/drawingml/2006/main" noGrp="1"/>
          </p:cNvSpPr>
          <p:nvPr/>
        </p:nvSpPr>
        <p:spPr>
          <a:xfrm xmlns:a="http://schemas.openxmlformats.org/drawingml/2006/main">
            <a:off x="0" y="1489525"/>
            <a:ext cx="9144000" cy="36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7" name="Google Shape;147;p20">
            <a:extLst xmlns:a="http://schemas.openxmlformats.org/drawingml/2006/main">
              <a:ext uri="{FF2B5EF4-FFF2-40B4-BE49-F238E27FC236}">
                <a16:creationId xmlns:a16="http://schemas.microsoft.com/office/drawing/2014/main" id="{EF383876-131E-49CE-A712-088124D73625}"/>
              </a:ext>
            </a:extLst>
          </p:cNvPr>
          <p:cNvSpPr>
            <a:spLocks xmlns:a="http://schemas.openxmlformats.org/drawingml/2006/main" noGrp="1"/>
          </p:cNvSpPr>
          <p:nvPr/>
        </p:nvSpPr>
        <p:spPr>
          <a:xfrm xmlns:a="http://schemas.openxmlformats.org/drawingml/2006/main">
            <a:off x="466725" y="866775"/>
            <a:ext cx="817245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ONE ADDRESS, MANY KEYS</a:t>
            </a:r>
            <a:endParaRPr sz="3900">
              <a:latin typeface="Inter Medium"/>
              <a:ea typeface="Inter Medium"/>
              <a:cs typeface="Inter Medium"/>
            </a:endParaRPr>
          </a:p>
        </p:txBody>
      </p:sp>
      <p:sp>
        <p:nvSpPr>
          <p:cNvPr id="148" name="Google Shape;148;p20">
            <a:extLst xmlns:a="http://schemas.openxmlformats.org/drawingml/2006/main">
              <a:ext uri="{FF2B5EF4-FFF2-40B4-BE49-F238E27FC236}">
                <a16:creationId xmlns:a16="http://schemas.microsoft.com/office/drawing/2014/main" id="{34E1A8D1-70A7-4201-A62E-8F1137AE3372}"/>
              </a:ext>
            </a:extLst>
          </p:cNvPr>
          <p:cNvSpPr>
            <a:spLocks xmlns:a="http://schemas.openxmlformats.org/drawingml/2006/main" noGrp="1"/>
          </p:cNvSpPr>
          <p:nvPr/>
        </p:nvSpPr>
        <p:spPr>
          <a:xfrm xmlns:a="http://schemas.openxmlformats.org/drawingml/2006/main">
            <a:off x="49530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RECOVERY</a:t>
            </a:r>
          </a:p>
          <a:p xmlns:a="http://schemas.openxmlformats.org/drawingml/2006/main">
            <a:r>
              <a:rPr sz="1500" b="0">
                <a:solidFill>
                  <a:srgbClr val="FFFFFF"/>
                </a:solidFill>
                <a:latin typeface="Inter"/>
                <a:ea typeface="Inter"/>
                <a:cs typeface="Inter"/>
              </a:rPr>
              <a:t>Guardians or a recovery kit</a:t>
            </a:r>
          </a:p>
        </p:txBody>
      </p:sp>
      <p:sp>
        <p:nvSpPr>
          <p:cNvPr id="149" name="Google Shape;149;p20">
            <a:extLst xmlns:a="http://schemas.openxmlformats.org/drawingml/2006/main">
              <a:ext uri="{FF2B5EF4-FFF2-40B4-BE49-F238E27FC236}">
                <a16:creationId xmlns:a16="http://schemas.microsoft.com/office/drawing/2014/main" id="{8F8BBA27-C242-4F70-8FA8-F6EF0C873857}"/>
              </a:ext>
            </a:extLst>
          </p:cNvPr>
          <p:cNvSpPr>
            <a:spLocks xmlns:a="http://schemas.openxmlformats.org/drawingml/2006/main" noGrp="1"/>
          </p:cNvSpPr>
          <p:nvPr/>
        </p:nvSpPr>
        <p:spPr>
          <a:xfrm xmlns:a="http://schemas.openxmlformats.org/drawingml/2006/main">
            <a:off x="495300" y="285750"/>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A N D   T H R E E   M O R E</a:t>
            </a:r>
            <a:endParaRPr sz="900" b="1">
              <a:solidFill>
                <a:schemeClr val="dk1"/>
              </a:solidFill>
              <a:latin typeface="Inter"/>
              <a:ea typeface="Inter"/>
              <a:cs typeface="Inter"/>
            </a:endParaRPr>
          </a:p>
        </p:txBody>
      </p:sp>
      <p:pic>
        <p:nvPicPr>
          <p:cNvPr id="150" name="Google Shape;150;p20">
            <a:extLst xmlns:a="http://schemas.openxmlformats.org/drawingml/2006/main">
              <a:ext uri="{FF2B5EF4-FFF2-40B4-BE49-F238E27FC236}">
                <a16:creationId xmlns:a16="http://schemas.microsoft.com/office/drawing/2014/main" id="{40234DBD-7D59-4A64-8915-AC1655C4E663}"/>
              </a:ext>
            </a:extLst>
          </p:cNvPr>
          <p:cNvPicPr>
            <a:picLocks xmlns:a="http://schemas.openxmlformats.org/drawingml/2006/main" noChangeAspect="1"/>
          </p:cNvPicPr>
          <p:nvPr/>
        </p:nvPicPr>
        <p:blipFill>
          <a:blip xmlns:r="http://schemas.openxmlformats.org/officeDocument/2006/relationships" xmlns:a="http://schemas.openxmlformats.org/drawingml/2006/main" r:embed="R6527d24f93e145b3">
            <a:alphaModFix/>
          </a:blip>
          <a:stretch xmlns:a="http://schemas.openxmlformats.org/drawingml/2006/main">
            <a:fillRect l="0" t="0" r="0" b="0"/>
          </a:stretch>
        </p:blipFill>
        <p:spPr>
          <a:xfrm xmlns:a="http://schemas.openxmlformats.org/drawingml/2006/main">
            <a:off x="6213174" y="1928314"/>
            <a:ext cx="704738" cy="599027"/>
          </a:xfrm>
          <a:prstGeom xmlns:a="http://schemas.openxmlformats.org/drawingml/2006/main" prst="rect">
            <a:avLst/>
          </a:prstGeom>
          <a:ln xmlns:a="http://schemas.openxmlformats.org/drawingml/2006/main">
            <a:noFill/>
          </a:ln>
        </p:spPr>
      </p:pic>
      <p:pic>
        <p:nvPicPr>
          <p:cNvPr id="151" name="Google Shape;151;p20">
            <a:extLst xmlns:a="http://schemas.openxmlformats.org/drawingml/2006/main">
              <a:ext uri="{FF2B5EF4-FFF2-40B4-BE49-F238E27FC236}">
                <a16:creationId xmlns:a16="http://schemas.microsoft.com/office/drawing/2014/main" id="{6346241A-EB16-4750-867B-4F81524D6132}"/>
              </a:ext>
            </a:extLst>
          </p:cNvPr>
          <p:cNvPicPr>
            <a:picLocks xmlns:a="http://schemas.openxmlformats.org/drawingml/2006/main" noChangeAspect="1"/>
          </p:cNvPicPr>
          <p:nvPr/>
        </p:nvPicPr>
        <p:blipFill>
          <a:blip xmlns:r="http://schemas.openxmlformats.org/officeDocument/2006/relationships" xmlns:a="http://schemas.openxmlformats.org/drawingml/2006/main" r:embed="R084f0e6f8743499b">
            <a:alphaModFix/>
          </a:blip>
          <a:stretch xmlns:a="http://schemas.openxmlformats.org/drawingml/2006/main">
            <a:fillRect l="0" t="0" r="0" b="0"/>
          </a:stretch>
        </p:blipFill>
        <p:spPr>
          <a:xfrm xmlns:a="http://schemas.openxmlformats.org/drawingml/2006/main">
            <a:off x="3339252" y="1928314"/>
            <a:ext cx="683596" cy="599027"/>
          </a:xfrm>
          <a:prstGeom xmlns:a="http://schemas.openxmlformats.org/drawingml/2006/main" prst="rect">
            <a:avLst/>
          </a:prstGeom>
          <a:ln xmlns:a="http://schemas.openxmlformats.org/drawingml/2006/main">
            <a:noFill/>
          </a:ln>
        </p:spPr>
      </p:pic>
      <p:pic>
        <p:nvPicPr>
          <p:cNvPr id="152" name="Google Shape;152;p20">
            <a:extLst xmlns:a="http://schemas.openxmlformats.org/drawingml/2006/main">
              <a:ext uri="{FF2B5EF4-FFF2-40B4-BE49-F238E27FC236}">
                <a16:creationId xmlns:a16="http://schemas.microsoft.com/office/drawing/2014/main" id="{DCAAA086-612D-4FB2-ACCE-F5AE9A3243E2}"/>
              </a:ext>
            </a:extLst>
          </p:cNvPr>
          <p:cNvPicPr>
            <a:picLocks xmlns:a="http://schemas.openxmlformats.org/drawingml/2006/main" noChangeAspect="1"/>
          </p:cNvPicPr>
          <p:nvPr/>
        </p:nvPicPr>
        <p:blipFill>
          <a:blip xmlns:r="http://schemas.openxmlformats.org/officeDocument/2006/relationships" xmlns:a="http://schemas.openxmlformats.org/drawingml/2006/main" r:embed="Re61abfe1f7d24881">
            <a:alphaModFix/>
          </a:blip>
          <a:stretch xmlns:a="http://schemas.openxmlformats.org/drawingml/2006/main">
            <a:fillRect l="0" t="0" r="0" b="0"/>
          </a:stretch>
        </p:blipFill>
        <p:spPr>
          <a:xfrm xmlns:a="http://schemas.openxmlformats.org/drawingml/2006/main">
            <a:off x="483596" y="1977160"/>
            <a:ext cx="528553" cy="599027"/>
          </a:xfrm>
          <a:prstGeom xmlns:a="http://schemas.openxmlformats.org/drawingml/2006/main" prst="rect">
            <a:avLst/>
          </a:prstGeom>
          <a:ln xmlns:a="http://schemas.openxmlformats.org/drawingml/2006/main">
            <a:noFill/>
          </a:ln>
        </p:spPr>
      </p:pic>
      <p:sp>
        <p:nvSpPr>
          <p:cNvPr id="153" name="Google Shape;153;p20">
            <a:extLst xmlns:a="http://schemas.openxmlformats.org/drawingml/2006/main">
              <a:ext uri="{FF2B5EF4-FFF2-40B4-BE49-F238E27FC236}">
                <a16:creationId xmlns:a16="http://schemas.microsoft.com/office/drawing/2014/main" id="{68D57CE8-F8E5-489B-A66B-EADE3949060B}"/>
              </a:ext>
            </a:extLst>
          </p:cNvPr>
          <p:cNvSpPr>
            <a:spLocks xmlns:a="http://schemas.openxmlformats.org/drawingml/2006/main" noGrp="1"/>
          </p:cNvSpPr>
          <p:nvPr/>
        </p:nvSpPr>
        <p:spPr>
          <a:xfrm xmlns:a="http://schemas.openxmlformats.org/drawingml/2006/main">
            <a:off x="3121574"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4" name="Google Shape;154;p20">
            <a:extLst xmlns:a="http://schemas.openxmlformats.org/drawingml/2006/main">
              <a:ext uri="{FF2B5EF4-FFF2-40B4-BE49-F238E27FC236}">
                <a16:creationId xmlns:a16="http://schemas.microsoft.com/office/drawing/2014/main" id="{FC4945A8-123B-4B26-8E97-76D71C2C3E4D}"/>
              </a:ext>
            </a:extLst>
          </p:cNvPr>
          <p:cNvSpPr>
            <a:spLocks xmlns:a="http://schemas.openxmlformats.org/drawingml/2006/main" noGrp="1"/>
          </p:cNvSpPr>
          <p:nvPr/>
        </p:nvSpPr>
        <p:spPr>
          <a:xfrm xmlns:a="http://schemas.openxmlformats.org/drawingml/2006/main">
            <a:off x="6001425"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20">
            <a:extLst xmlns:a="http://schemas.openxmlformats.org/drawingml/2006/main">
              <a:ext uri="{FF2B5EF4-FFF2-40B4-BE49-F238E27FC236}">
                <a16:creationId xmlns:a16="http://schemas.microsoft.com/office/drawing/2014/main" id="{689FA661-20E8-4DA1-BDD4-72125760483F}"/>
              </a:ext>
            </a:extLst>
          </p:cNvPr>
          <p:cNvSpPr>
            <a:spLocks xmlns:a="http://schemas.openxmlformats.org/drawingml/2006/main" noGrp="1"/>
          </p:cNvSpPr>
          <p:nvPr/>
        </p:nvSpPr>
        <p:spPr>
          <a:xfrm xmlns:a="http://schemas.openxmlformats.org/drawingml/2006/main">
            <a:off x="3343275"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SPONSORED START</a:t>
            </a:r>
          </a:p>
          <a:p xmlns:a="http://schemas.openxmlformats.org/drawingml/2006/main">
            <a:r>
              <a:rPr sz="1500" b="0">
                <a:solidFill>
                  <a:srgbClr val="FFFFFF"/>
                </a:solidFill>
                <a:latin typeface="Inter"/>
                <a:ea typeface="Inter"/>
                <a:cs typeface="Inter"/>
              </a:rPr>
              <a:t>A relayer pays the fees</a:t>
            </a:r>
          </a:p>
        </p:txBody>
      </p:sp>
      <p:sp>
        <p:nvSpPr>
          <p:cNvPr id="156" name="Google Shape;156;p20">
            <a:extLst xmlns:a="http://schemas.openxmlformats.org/drawingml/2006/main">
              <a:ext uri="{FF2B5EF4-FFF2-40B4-BE49-F238E27FC236}">
                <a16:creationId xmlns:a16="http://schemas.microsoft.com/office/drawing/2014/main" id="{5211F131-288F-4C55-AE5F-ECB2EA9F681F}"/>
              </a:ext>
            </a:extLst>
          </p:cNvPr>
          <p:cNvSpPr>
            <a:spLocks xmlns:a="http://schemas.openxmlformats.org/drawingml/2006/main" noGrp="1"/>
          </p:cNvSpPr>
          <p:nvPr/>
        </p:nvSpPr>
        <p:spPr>
          <a:xfrm xmlns:a="http://schemas.openxmlformats.org/drawingml/2006/main">
            <a:off x="622935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ADD AND REMOVE</a:t>
            </a:r>
          </a:p>
          <a:p xmlns:a="http://schemas.openxmlformats.org/drawingml/2006/main">
            <a:r>
              <a:rPr sz="1500" b="0">
                <a:solidFill>
                  <a:srgbClr val="FFFFFF"/>
                </a:solidFill>
                <a:latin typeface="Inter"/>
                <a:ea typeface="Inter"/>
                <a:cs typeface="Inter"/>
              </a:rPr>
              <a:t>Devices and app keys come and go</a:t>
            </a:r>
          </a:p>
        </p:txBody>
      </p:sp>
      <p:pic>
        <p:nvPicPr>
          <p:cNvPr id="157" name="Google Shape;157;p20">
            <a:extLst xmlns:a="http://schemas.openxmlformats.org/drawingml/2006/main">
              <a:ext uri="{FF2B5EF4-FFF2-40B4-BE49-F238E27FC236}">
                <a16:creationId xmlns:a16="http://schemas.microsoft.com/office/drawing/2014/main" id="{B89AB6B0-5F96-4EA2-A98C-3C98D80E9EBA}"/>
              </a:ext>
            </a:extLst>
          </p:cNvPr>
          <p:cNvPicPr>
            <a:picLocks xmlns:a="http://schemas.openxmlformats.org/drawingml/2006/main" noChangeAspect="1"/>
          </p:cNvPicPr>
          <p:nvPr/>
        </p:nvPicPr>
        <p:blipFill>
          <a:blip xmlns:r="http://schemas.openxmlformats.org/officeDocument/2006/relationships" xmlns:a="http://schemas.openxmlformats.org/drawingml/2006/main" r:embed="Re37f927a99a24e94">
            <a:alphaModFix amt="40000"/>
          </a:blip>
          <a:stretch xmlns:a="http://schemas.openxmlformats.org/drawingml/2006/main">
            <a:fillRect l="0" t="0" r="0" b="0"/>
          </a:stretch>
        </p:blipFill>
        <p:spPr>
          <a:xfrm xmlns:a="http://schemas.openxmlformats.org/drawingml/2006/main">
            <a:off x="0" y="4848216"/>
            <a:ext cx="9144000" cy="273050"/>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D6ED8720-3A1F-4535-ABB4-F30AC15F8068}"/>
              </a:ext>
            </a:extLst>
          </p:cNvPr>
          <p:cNvPicPr>
            <a:picLocks xmlns:a="http://schemas.openxmlformats.org/drawingml/2006/main" noChangeAspect="1"/>
          </p:cNvPicPr>
          <p:nvPr/>
        </p:nvPicPr>
        <p:blipFill>
          <a:blip xmlns:r="http://schemas.openxmlformats.org/officeDocument/2006/relationships" xmlns:a="http://schemas.openxmlformats.org/drawingml/2006/main" r:embed="Rad0ec307b36349e4">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5880C17E-5B8F-42E4-9371-53F478B091AA}"/>
              </a:ext>
            </a:extLst>
          </p:cNvPr>
          <p:cNvPicPr>
            <a:picLocks xmlns:a="http://schemas.openxmlformats.org/drawingml/2006/main" noChangeAspect="1"/>
          </p:cNvPicPr>
          <p:nvPr/>
        </p:nvPicPr>
        <p:blipFill>
          <a:blip xmlns:r="http://schemas.openxmlformats.org/officeDocument/2006/relationships" xmlns:a="http://schemas.openxmlformats.org/drawingml/2006/main" r:embed="R4738ed7b4a2a49ff">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72638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36" name="Google Shape;136;p19">
            <a:extLst xmlns:a="http://schemas.openxmlformats.org/drawingml/2006/main">
              <a:ext uri="{FF2B5EF4-FFF2-40B4-BE49-F238E27FC236}">
                <a16:creationId xmlns:a16="http://schemas.microsoft.com/office/drawing/2014/main" id="{4FA796BF-06EB-4679-96CE-6D749EA285BA}"/>
              </a:ext>
            </a:extLst>
          </p:cNvPr>
          <p:cNvSpPr>
            <a:spLocks xmlns:a="http://schemas.openxmlformats.org/drawingml/2006/main" noGrp="1"/>
          </p:cNvSpPr>
          <p:nvPr/>
        </p:nvSpPr>
        <p:spPr>
          <a:xfrm xmlns:a="http://schemas.openxmlformats.org/drawingml/2006/main">
            <a:off x="3031396" y="849570"/>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P O L I C Y   D O C U M E N T S</a:t>
            </a:r>
            <a:endParaRPr sz="1000" b="1">
              <a:solidFill>
                <a:schemeClr val="dk1"/>
              </a:solidFill>
              <a:latin typeface="Inter"/>
              <a:ea typeface="Inter"/>
              <a:cs typeface="Inter"/>
            </a:endParaRPr>
          </a:p>
        </p:txBody>
      </p:sp>
      <p:sp>
        <p:nvSpPr>
          <p:cNvPr id="137" name="Google Shape;137;p19">
            <a:extLst xmlns:a="http://schemas.openxmlformats.org/drawingml/2006/main">
              <a:ext uri="{FF2B5EF4-FFF2-40B4-BE49-F238E27FC236}">
                <a16:creationId xmlns:a16="http://schemas.microsoft.com/office/drawing/2014/main" id="{3B6E446C-B8D3-4EA9-AF55-F24691D838DD}"/>
              </a:ext>
            </a:extLst>
          </p:cNvPr>
          <p:cNvSpPr>
            <a:spLocks xmlns:a="http://schemas.openxmlformats.org/drawingml/2006/main" noGrp="1"/>
          </p:cNvSpPr>
          <p:nvPr/>
        </p:nvSpPr>
        <p:spPr>
          <a:xfrm xmlns:a="http://schemas.openxmlformats.org/drawingml/2006/main">
            <a:off x="3028950" y="1219200"/>
            <a:ext cx="5715000" cy="1371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ONE DOCUMENT,</a:t>
            </a:r>
            <a:endParaRPr sz="3900" spc="-231">
              <a:solidFill>
                <a:schemeClr val="dk1"/>
              </a:solidFill>
              <a:latin typeface="Inter Medium"/>
              <a:ea typeface="Inter Medium"/>
              <a:cs typeface="Inter Medium"/>
            </a:endParaRPr>
          </a:p>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ONE HASH</a:t>
            </a:r>
            <a:endParaRPr sz="3900" spc="-231">
              <a:solidFill>
                <a:schemeClr val="dk1"/>
              </a:solidFill>
              <a:latin typeface="Inter Medium"/>
              <a:ea typeface="Inter Medium"/>
              <a:cs typeface="Inter Medium"/>
            </a:endParaRPr>
          </a:p>
        </p:txBody>
      </p:sp>
      <p:sp>
        <p:nvSpPr>
          <p:cNvPr id="138" name="Google Shape;138;p19">
            <a:extLst xmlns:a="http://schemas.openxmlformats.org/drawingml/2006/main">
              <a:ext uri="{FF2B5EF4-FFF2-40B4-BE49-F238E27FC236}">
                <a16:creationId xmlns:a16="http://schemas.microsoft.com/office/drawing/2014/main" id="{0C2BDDD1-FC24-4AAB-92DD-8A663EC5FDBC}"/>
              </a:ext>
            </a:extLst>
          </p:cNvPr>
          <p:cNvSpPr>
            <a:spLocks xmlns:a="http://schemas.openxmlformats.org/drawingml/2006/main" noGrp="1"/>
          </p:cNvSpPr>
          <p:nvPr/>
        </p:nvSpPr>
        <p:spPr>
          <a:xfrm xmlns:a="http://schemas.openxmlformats.org/drawingml/2006/main">
            <a:off x="3038475" y="2638425"/>
            <a:ext cx="5619750" cy="97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725"/>
            </a:defPPr>
          </a:lstStyle>
          <a:p xmlns:a="http://schemas.openxmlformats.org/drawingml/2006/main">
            <a:pPr marL="0" lvl="0" indent="0" algn="l">
              <a:spcBef>
                <a:spcPts val="0"/>
              </a:spcBef>
              <a:spcAft>
                <a:spcPts val="0"/>
              </a:spcAft>
              <a:buNone/>
              <a:defRPr sz="1725"/>
            </a:pPr>
            <a:r>
              <a:rPr sz="1725">
                <a:latin typeface="Inter"/>
                <a:ea typeface="Inter"/>
                <a:cs typeface="Inter"/>
              </a:rPr>
              <a:t>Signers, rules, optional recovery.</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Canonical JSON, hashed on chain.</a:t>
            </a:r>
            <a:endParaRPr sz="1800">
              <a:latin typeface="Inter"/>
              <a:ea typeface="Inter"/>
              <a:cs typeface="Inter"/>
            </a:endParaRPr>
          </a:p>
          <a:p xmlns:a="http://schemas.openxmlformats.org/drawingml/2006/main">
            <a:pPr marL="0" lvl="0" indent="0" algn="l">
              <a:spcBef>
                <a:spcPts val="0"/>
              </a:spcBef>
              <a:spcAft>
                <a:spcPts val="0"/>
              </a:spcAft>
              <a:buNone/>
              <a:defRPr sz="1725"/>
            </a:pPr>
            <a:r>
              <a:rPr sz="1725">
                <a:latin typeface="Inter"/>
                <a:ea typeface="Inter"/>
                <a:cs typeface="Inter"/>
              </a:rPr>
              <a:t>apply_doc is the only way to change it.</a:t>
            </a:r>
            <a:endParaRPr sz="1800">
              <a:latin typeface="Inter"/>
              <a:ea typeface="Inter"/>
              <a:cs typeface="Inter"/>
            </a:endParaRPr>
          </a:p>
        </p:txBody>
      </p:sp>
      <p:pic>
        <p:nvPicPr>
          <p:cNvPr id="139" name="Google Shape;139;p19">
            <a:extLst xmlns:a="http://schemas.openxmlformats.org/drawingml/2006/main">
              <a:ext uri="{FF2B5EF4-FFF2-40B4-BE49-F238E27FC236}">
                <a16:creationId xmlns:a16="http://schemas.microsoft.com/office/drawing/2014/main" id="{BE06D2BE-5039-47B5-A959-0FD9A69879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cf3da9812c4498">
            <a:alphaModFix/>
          </a:blip>
          <a:srcRect xmlns:a="http://schemas.openxmlformats.org/drawingml/2006/main" l="44448" t="2095" r="26037" b="0"/>
          <a:stretch xmlns:a="http://schemas.openxmlformats.org/drawingml/2006/main"/>
        </p:blipFill>
        <p:spPr>
          <a:xfrm xmlns:a="http://schemas.openxmlformats.org/drawingml/2006/main">
            <a:off x="0" y="0"/>
            <a:ext cx="2520000" cy="5035825"/>
          </a:xfrm>
          <a:prstGeom xmlns:a="http://schemas.openxmlformats.org/drawingml/2006/main" prst="rect">
            <a:avLst/>
          </a:prstGeom>
          <a:ln xmlns:a="http://schemas.openxmlformats.org/drawingml/2006/main">
            <a:noFill/>
          </a:ln>
        </p:spPr>
      </p:pic>
      <p:pic>
        <p:nvPicPr>
          <p:cNvPr id="140" name="Google Shape;140;p19">
            <a:extLst xmlns:a="http://schemas.openxmlformats.org/drawingml/2006/main">
              <a:ext uri="{FF2B5EF4-FFF2-40B4-BE49-F238E27FC236}">
                <a16:creationId xmlns:a16="http://schemas.microsoft.com/office/drawing/2014/main" id="{30EC4DE3-3C90-4A26-AED9-5936DECC7448}"/>
              </a:ext>
            </a:extLst>
          </p:cNvPr>
          <p:cNvPicPr>
            <a:picLocks xmlns:a="http://schemas.openxmlformats.org/drawingml/2006/main" noChangeAspect="1"/>
          </p:cNvPicPr>
          <p:nvPr/>
        </p:nvPicPr>
        <p:blipFill>
          <a:blip xmlns:r="http://schemas.openxmlformats.org/officeDocument/2006/relationships" xmlns:a="http://schemas.openxmlformats.org/drawingml/2006/main" r:embed="Rc7d8dde624694d6d">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41" name="Google Shape;141;p19">
            <a:extLst xmlns:a="http://schemas.openxmlformats.org/drawingml/2006/main">
              <a:ext uri="{FF2B5EF4-FFF2-40B4-BE49-F238E27FC236}">
                <a16:creationId xmlns:a16="http://schemas.microsoft.com/office/drawing/2014/main" id="{A18B86C8-02D3-4F4C-B8B0-1713BBB0A806}"/>
              </a:ext>
            </a:extLst>
          </p:cNvPr>
          <p:cNvPicPr>
            <a:picLocks xmlns:a="http://schemas.openxmlformats.org/drawingml/2006/main" noChangeAspect="1"/>
          </p:cNvPicPr>
          <p:nvPr/>
        </p:nvPicPr>
        <p:blipFill>
          <a:blip xmlns:r="http://schemas.openxmlformats.org/officeDocument/2006/relationships" xmlns:a="http://schemas.openxmlformats.org/drawingml/2006/main" r:embed="R8cb51dfdf1fd49db">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
        <p:nvSpPr>
          <p:cNvPr id="142" name="">
            <a:extLst xmlns:a="http://schemas.openxmlformats.org/drawingml/2006/main">
              <a:ext uri="{FF2B5EF4-FFF2-40B4-BE49-F238E27FC236}">
                <a16:creationId xmlns:a16="http://schemas.microsoft.com/office/drawing/2014/main" id="{A6FF5012-A9F2-4D64-BB16-FDC406B1DFFE}"/>
              </a:ext>
            </a:extLst>
          </p:cNvPr>
          <p:cNvSpPr>
            <a:spLocks xmlns:a="http://schemas.openxmlformats.org/drawingml/2006/main" noGrp="1"/>
          </p:cNvSpPr>
          <p:nvPr/>
        </p:nvSpPr>
        <p:spPr>
          <a:xfrm xmlns:a="http://schemas.openxmlformats.org/drawingml/2006/main">
            <a:off x="3038475" y="4267200"/>
            <a:ext cx="561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Every rule names who, where, what, until when, how much</a:t>
            </a:r>
          </a:p>
        </p:txBody>
      </p:sp>
    </p:spTree>
    <p:extLst>
      <p:ext uri="{BB962C8B-B14F-4D97-AF65-F5344CB8AC3E}">
        <p14:creationId xmlns:p14="http://schemas.microsoft.com/office/powerpoint/2010/main" val="33464521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3C9F9020-ABF7-4FAA-9258-B8EEE18937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bc111eb6d2d4957">
            <a:alphaModFix/>
          </a:blip>
          <a:srcRect xmlns:a="http://schemas.openxmlformats.org/drawingml/2006/main" l="17437" t="17743" r="4474" b="8636"/>
          <a:stretch xmlns:a="http://schemas.openxmlformats.org/drawingml/2006/main"/>
        </p:blipFill>
        <p:spPr>
          <a:xfrm xmlns:a="http://schemas.openxmlformats.org/drawingml/2006/main">
            <a:off x="0" y="0"/>
            <a:ext cx="2520000" cy="5143501"/>
          </a:xfrm>
          <a:prstGeom xmlns:a="http://schemas.openxmlformats.org/drawingml/2006/main" prst="rect">
            <a:avLst/>
          </a:prstGeom>
          <a:ln xmlns:a="http://schemas.openxmlformats.org/drawingml/2006/main">
            <a:noFill/>
          </a:ln>
        </p:spPr>
      </p:pic>
      <p:sp>
        <p:nvSpPr>
          <p:cNvPr id="77" name="Google Shape;77;p15">
            <a:extLst xmlns:a="http://schemas.openxmlformats.org/drawingml/2006/main">
              <a:ext uri="{FF2B5EF4-FFF2-40B4-BE49-F238E27FC236}">
                <a16:creationId xmlns:a16="http://schemas.microsoft.com/office/drawing/2014/main" id="{024B7BA4-61D9-4247-BB18-65C294CB9435}"/>
              </a:ext>
            </a:extLst>
          </p:cNvPr>
          <p:cNvSpPr>
            <a:spLocks xmlns:a="http://schemas.openxmlformats.org/drawingml/2006/main" noGrp="1"/>
          </p:cNvSpPr>
          <p:nvPr/>
        </p:nvSpPr>
        <p:spPr>
          <a:xfrm xmlns:a="http://schemas.openxmlformats.org/drawingml/2006/main">
            <a:off x="2762250" y="933450"/>
            <a:ext cx="5905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spc="-231">
                <a:solidFill>
                  <a:schemeClr val="dk1"/>
                </a:solidFill>
                <a:latin typeface="Inter Medium"/>
                <a:ea typeface="Inter Medium"/>
                <a:cs typeface="Inter Medium"/>
              </a:rPr>
              <a:t>DOCUMENT TO ENFORCEMENT</a:t>
            </a:r>
            <a:endParaRPr sz="3900">
              <a:latin typeface="Inter Medium"/>
              <a:ea typeface="Inter Medium"/>
              <a:cs typeface="Inter Medium"/>
            </a:endParaRPr>
          </a:p>
        </p:txBody>
      </p:sp>
      <p:sp>
        <p:nvSpPr>
          <p:cNvPr id="78" name="Google Shape;78;p15">
            <a:extLst xmlns:a="http://schemas.openxmlformats.org/drawingml/2006/main">
              <a:ext uri="{FF2B5EF4-FFF2-40B4-BE49-F238E27FC236}">
                <a16:creationId xmlns:a16="http://schemas.microsoft.com/office/drawing/2014/main" id="{573804E9-D57C-4F6F-B611-BA499B38B91B}"/>
              </a:ext>
            </a:extLst>
          </p:cNvPr>
          <p:cNvSpPr>
            <a:spLocks xmlns:a="http://schemas.openxmlformats.org/drawingml/2006/main" noGrp="1"/>
          </p:cNvSpPr>
          <p:nvPr/>
        </p:nvSpPr>
        <p:spPr>
          <a:xfrm xmlns:a="http://schemas.openxmlformats.org/drawingml/2006/main">
            <a:off x="2688283" y="1689804"/>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01</a:t>
            </a:r>
            <a:endParaRPr sz="2100">
              <a:latin typeface="Inter"/>
              <a:ea typeface="Inter"/>
              <a:cs typeface="Inter"/>
            </a:endParaRPr>
          </a:p>
        </p:txBody>
      </p:sp>
      <p:sp>
        <p:nvSpPr>
          <p:cNvPr id="79" name="Google Shape;79;p15">
            <a:extLst xmlns:a="http://schemas.openxmlformats.org/drawingml/2006/main">
              <a:ext uri="{FF2B5EF4-FFF2-40B4-BE49-F238E27FC236}">
                <a16:creationId xmlns:a16="http://schemas.microsoft.com/office/drawing/2014/main" id="{7FE65504-21F8-4E72-A67B-E5E04279C948}"/>
              </a:ext>
            </a:extLst>
          </p:cNvPr>
          <p:cNvSpPr>
            <a:spLocks xmlns:a="http://schemas.openxmlformats.org/drawingml/2006/main" noGrp="1"/>
          </p:cNvSpPr>
          <p:nvPr/>
        </p:nvSpPr>
        <p:spPr>
          <a:xfrm xmlns:a="http://schemas.openxmlformats.org/drawingml/2006/main">
            <a:off x="2809875" y="304800"/>
            <a:ext cx="45720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H O W   I T   R U N S</a:t>
            </a:r>
            <a:endParaRPr sz="900" b="1">
              <a:solidFill>
                <a:schemeClr val="dk1"/>
              </a:solidFill>
              <a:latin typeface="Inter"/>
              <a:ea typeface="Inter"/>
              <a:cs typeface="Inter"/>
            </a:endParaRPr>
          </a:p>
        </p:txBody>
      </p:sp>
      <p:sp>
        <p:nvSpPr>
          <p:cNvPr id="80" name="Google Shape;80;p15">
            <a:extLst xmlns:a="http://schemas.openxmlformats.org/drawingml/2006/main">
              <a:ext uri="{FF2B5EF4-FFF2-40B4-BE49-F238E27FC236}">
                <a16:creationId xmlns:a16="http://schemas.microsoft.com/office/drawing/2014/main" id="{A1C8F538-C083-4399-9CD8-3BF2F689B23D}"/>
              </a:ext>
            </a:extLst>
          </p:cNvPr>
          <p:cNvSpPr>
            <a:spLocks xmlns:a="http://schemas.openxmlformats.org/drawingml/2006/main" noGrp="1"/>
          </p:cNvSpPr>
          <p:nvPr/>
        </p:nvSpPr>
        <p:spPr>
          <a:xfrm xmlns:a="http://schemas.openxmlformats.org/drawingml/2006/main">
            <a:off x="3467100" y="186690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Write the document</a:t>
            </a:r>
            <a:endParaRPr sz="1600">
              <a:latin typeface="Inter"/>
              <a:ea typeface="Inter"/>
              <a:cs typeface="Inter"/>
            </a:endParaRPr>
          </a:p>
        </p:txBody>
      </p:sp>
      <p:sp>
        <p:nvSpPr>
          <p:cNvPr id="82" name="Google Shape;82;p15">
            <a:extLst xmlns:a="http://schemas.openxmlformats.org/drawingml/2006/main">
              <a:ext uri="{FF2B5EF4-FFF2-40B4-BE49-F238E27FC236}">
                <a16:creationId xmlns:a16="http://schemas.microsoft.com/office/drawing/2014/main" id="{DBB0C3D3-0837-40F9-9A8D-5AE3738A4CC4}"/>
              </a:ext>
            </a:extLst>
          </p:cNvPr>
          <p:cNvSpPr>
            <a:spLocks xmlns:a="http://schemas.openxmlformats.org/drawingml/2006/main" noGrp="1"/>
          </p:cNvSpPr>
          <p:nvPr/>
        </p:nvSpPr>
        <p:spPr>
          <a:xfrm xmlns:a="http://schemas.openxmlformats.org/drawingml/2006/main" rot="5400000">
            <a:off x="5286068" y="-25140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3" name="Google Shape;83;p15">
            <a:extLst xmlns:a="http://schemas.openxmlformats.org/drawingml/2006/main">
              <a:ext uri="{FF2B5EF4-FFF2-40B4-BE49-F238E27FC236}">
                <a16:creationId xmlns:a16="http://schemas.microsoft.com/office/drawing/2014/main" id="{0D3EE8DD-439B-4418-A086-476B7CA7B66D}"/>
              </a:ext>
            </a:extLst>
          </p:cNvPr>
          <p:cNvSpPr>
            <a:spLocks xmlns:a="http://schemas.openxmlformats.org/drawingml/2006/main" noGrp="1"/>
          </p:cNvSpPr>
          <p:nvPr/>
        </p:nvSpPr>
        <p:spPr>
          <a:xfrm xmlns:a="http://schemas.openxmlformats.org/drawingml/2006/main" rot="5400000">
            <a:off x="5286068" y="429655"/>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4" name="Google Shape;84;p15">
            <a:extLst xmlns:a="http://schemas.openxmlformats.org/drawingml/2006/main">
              <a:ext uri="{FF2B5EF4-FFF2-40B4-BE49-F238E27FC236}">
                <a16:creationId xmlns:a16="http://schemas.microsoft.com/office/drawing/2014/main" id="{440AA23C-C0C8-4E76-9FA3-C7E12AFA5D65}"/>
              </a:ext>
            </a:extLst>
          </p:cNvPr>
          <p:cNvSpPr>
            <a:spLocks xmlns:a="http://schemas.openxmlformats.org/drawingml/2006/main" noGrp="1"/>
          </p:cNvSpPr>
          <p:nvPr/>
        </p:nvSpPr>
        <p:spPr>
          <a:xfrm xmlns:a="http://schemas.openxmlformats.org/drawingml/2006/main" rot="5400000">
            <a:off x="5286068" y="1110716"/>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5" name="Google Shape;85;p15">
            <a:extLst xmlns:a="http://schemas.openxmlformats.org/drawingml/2006/main">
              <a:ext uri="{FF2B5EF4-FFF2-40B4-BE49-F238E27FC236}">
                <a16:creationId xmlns:a16="http://schemas.microsoft.com/office/drawing/2014/main" id="{D3F2A02F-ECD6-4B3A-AC89-1E04A02BEDFB}"/>
              </a:ext>
            </a:extLst>
          </p:cNvPr>
          <p:cNvSpPr>
            <a:spLocks xmlns:a="http://schemas.openxmlformats.org/drawingml/2006/main" noGrp="1"/>
          </p:cNvSpPr>
          <p:nvPr/>
        </p:nvSpPr>
        <p:spPr>
          <a:xfrm xmlns:a="http://schemas.openxmlformats.org/drawingml/2006/main" rot="5400000">
            <a:off x="5286068" y="179177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6" name="Google Shape;86;p15">
            <a:extLst xmlns:a="http://schemas.openxmlformats.org/drawingml/2006/main">
              <a:ext uri="{FF2B5EF4-FFF2-40B4-BE49-F238E27FC236}">
                <a16:creationId xmlns:a16="http://schemas.microsoft.com/office/drawing/2014/main" id="{A193CEC9-EA4E-4F52-9F20-5FFB594AC389}"/>
              </a:ext>
            </a:extLst>
          </p:cNvPr>
          <p:cNvSpPr>
            <a:spLocks xmlns:a="http://schemas.openxmlformats.org/drawingml/2006/main" noGrp="1"/>
          </p:cNvSpPr>
          <p:nvPr/>
        </p:nvSpPr>
        <p:spPr>
          <a:xfrm xmlns:a="http://schemas.openxmlformats.org/drawingml/2006/main">
            <a:off x="2688283" y="2357336"/>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02</a:t>
            </a:r>
            <a:endParaRPr sz="2100">
              <a:latin typeface="Inter"/>
              <a:ea typeface="Inter"/>
              <a:cs typeface="Inter"/>
            </a:endParaRPr>
          </a:p>
        </p:txBody>
      </p:sp>
      <p:sp>
        <p:nvSpPr>
          <p:cNvPr id="87" name="Google Shape;87;p15">
            <a:extLst xmlns:a="http://schemas.openxmlformats.org/drawingml/2006/main">
              <a:ext uri="{FF2B5EF4-FFF2-40B4-BE49-F238E27FC236}">
                <a16:creationId xmlns:a16="http://schemas.microsoft.com/office/drawing/2014/main" id="{5F3FC239-D716-431F-8D91-BC6F32A1ED4F}"/>
              </a:ext>
            </a:extLst>
          </p:cNvPr>
          <p:cNvSpPr>
            <a:spLocks xmlns:a="http://schemas.openxmlformats.org/drawingml/2006/main" noGrp="1"/>
          </p:cNvSpPr>
          <p:nvPr/>
        </p:nvSpPr>
        <p:spPr>
          <a:xfrm xmlns:a="http://schemas.openxmlformats.org/drawingml/2006/main">
            <a:off x="3467100" y="254317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Compile it on chain</a:t>
            </a:r>
            <a:endParaRPr sz="1600">
              <a:latin typeface="Inter"/>
              <a:ea typeface="Inter"/>
              <a:cs typeface="Inter"/>
            </a:endParaRPr>
          </a:p>
        </p:txBody>
      </p:sp>
      <p:sp>
        <p:nvSpPr>
          <p:cNvPr id="89" name="Google Shape;89;p15">
            <a:extLst xmlns:a="http://schemas.openxmlformats.org/drawingml/2006/main">
              <a:ext uri="{FF2B5EF4-FFF2-40B4-BE49-F238E27FC236}">
                <a16:creationId xmlns:a16="http://schemas.microsoft.com/office/drawing/2014/main" id="{893ED2BF-82D4-4C5D-B69B-A7C240A163AA}"/>
              </a:ext>
            </a:extLst>
          </p:cNvPr>
          <p:cNvSpPr>
            <a:spLocks xmlns:a="http://schemas.openxmlformats.org/drawingml/2006/main" noGrp="1"/>
          </p:cNvSpPr>
          <p:nvPr/>
        </p:nvSpPr>
        <p:spPr>
          <a:xfrm xmlns:a="http://schemas.openxmlformats.org/drawingml/2006/main">
            <a:off x="2688283" y="3025409"/>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03</a:t>
            </a:r>
            <a:endParaRPr sz="2100">
              <a:latin typeface="Inter"/>
              <a:ea typeface="Inter"/>
              <a:cs typeface="Inter"/>
            </a:endParaRPr>
          </a:p>
        </p:txBody>
      </p:sp>
      <p:sp>
        <p:nvSpPr>
          <p:cNvPr id="90" name="Google Shape;90;p15">
            <a:extLst xmlns:a="http://schemas.openxmlformats.org/drawingml/2006/main">
              <a:ext uri="{FF2B5EF4-FFF2-40B4-BE49-F238E27FC236}">
                <a16:creationId xmlns:a16="http://schemas.microsoft.com/office/drawing/2014/main" id="{746A4B8F-6997-4461-BB8F-56C5B8D230C1}"/>
              </a:ext>
            </a:extLst>
          </p:cNvPr>
          <p:cNvSpPr>
            <a:spLocks xmlns:a="http://schemas.openxmlformats.org/drawingml/2006/main" noGrp="1"/>
          </p:cNvSpPr>
          <p:nvPr/>
        </p:nvSpPr>
        <p:spPr>
          <a:xfrm xmlns:a="http://schemas.openxmlformats.org/drawingml/2006/main">
            <a:off x="3467100" y="321945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Install as account rules</a:t>
            </a:r>
            <a:endParaRPr sz="1600">
              <a:latin typeface="Inter"/>
              <a:ea typeface="Inter"/>
              <a:cs typeface="Inter"/>
            </a:endParaRPr>
          </a:p>
        </p:txBody>
      </p:sp>
      <p:sp>
        <p:nvSpPr>
          <p:cNvPr id="92" name="Google Shape;92;p15">
            <a:extLst xmlns:a="http://schemas.openxmlformats.org/drawingml/2006/main">
              <a:ext uri="{FF2B5EF4-FFF2-40B4-BE49-F238E27FC236}">
                <a16:creationId xmlns:a16="http://schemas.microsoft.com/office/drawing/2014/main" id="{A5CA518E-F82A-4A2B-8DFF-2DC55C2D943D}"/>
              </a:ext>
            </a:extLst>
          </p:cNvPr>
          <p:cNvSpPr>
            <a:spLocks xmlns:a="http://schemas.openxmlformats.org/drawingml/2006/main" noGrp="1"/>
          </p:cNvSpPr>
          <p:nvPr/>
        </p:nvSpPr>
        <p:spPr>
          <a:xfrm xmlns:a="http://schemas.openxmlformats.org/drawingml/2006/main">
            <a:off x="2688283" y="3710197"/>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04</a:t>
            </a:r>
            <a:endParaRPr sz="2100">
              <a:latin typeface="Inter"/>
              <a:ea typeface="Inter"/>
              <a:cs typeface="Inter"/>
            </a:endParaRPr>
          </a:p>
        </p:txBody>
      </p:sp>
      <p:sp>
        <p:nvSpPr>
          <p:cNvPr id="93" name="Google Shape;93;p15">
            <a:extLst xmlns:a="http://schemas.openxmlformats.org/drawingml/2006/main">
              <a:ext uri="{FF2B5EF4-FFF2-40B4-BE49-F238E27FC236}">
                <a16:creationId xmlns:a16="http://schemas.microsoft.com/office/drawing/2014/main" id="{AA1ACF90-07BC-446C-ACC0-2A4D47C2CCCD}"/>
              </a:ext>
            </a:extLst>
          </p:cNvPr>
          <p:cNvSpPr>
            <a:spLocks xmlns:a="http://schemas.openxmlformats.org/drawingml/2006/main" noGrp="1"/>
          </p:cNvSpPr>
          <p:nvPr/>
        </p:nvSpPr>
        <p:spPr>
          <a:xfrm xmlns:a="http://schemas.openxmlformats.org/drawingml/2006/main">
            <a:off x="3467100" y="389572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Enforce in __check_auth</a:t>
            </a:r>
            <a:endParaRPr sz="1600">
              <a:latin typeface="Inter"/>
              <a:ea typeface="Inter"/>
              <a:cs typeface="Inter"/>
            </a:endParaRPr>
          </a:p>
        </p:txBody>
      </p:sp>
      <p:pic>
        <p:nvPicPr>
          <p:cNvPr id="95" name="Google Shape;95;p15">
            <a:extLst xmlns:a="http://schemas.openxmlformats.org/drawingml/2006/main">
              <a:ext uri="{FF2B5EF4-FFF2-40B4-BE49-F238E27FC236}">
                <a16:creationId xmlns:a16="http://schemas.microsoft.com/office/drawing/2014/main" id="{0934F2B7-3010-40C7-BACE-21D153FDB80C}"/>
              </a:ext>
            </a:extLst>
          </p:cNvPr>
          <p:cNvPicPr>
            <a:picLocks xmlns:a="http://schemas.openxmlformats.org/drawingml/2006/main" noChangeAspect="1"/>
          </p:cNvPicPr>
          <p:nvPr/>
        </p:nvPicPr>
        <p:blipFill>
          <a:blip xmlns:r="http://schemas.openxmlformats.org/officeDocument/2006/relationships" xmlns:a="http://schemas.openxmlformats.org/drawingml/2006/main" r:embed="R51101ed45ed54490">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96" name="Google Shape;96;p15">
            <a:extLst xmlns:a="http://schemas.openxmlformats.org/drawingml/2006/main">
              <a:ext uri="{FF2B5EF4-FFF2-40B4-BE49-F238E27FC236}">
                <a16:creationId xmlns:a16="http://schemas.microsoft.com/office/drawing/2014/main" id="{9817DA67-C9AA-4A78-B6EE-C7B8F45BDC7B}"/>
              </a:ext>
            </a:extLst>
          </p:cNvPr>
          <p:cNvPicPr>
            <a:picLocks xmlns:a="http://schemas.openxmlformats.org/drawingml/2006/main" noChangeAspect="1"/>
          </p:cNvPicPr>
          <p:nvPr/>
        </p:nvPicPr>
        <p:blipFill>
          <a:blip xmlns:r="http://schemas.openxmlformats.org/officeDocument/2006/relationships" xmlns:a="http://schemas.openxmlformats.org/drawingml/2006/main" r:embed="Rc3abcd4523a6427d">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0757742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20">
            <a:extLst xmlns:a="http://schemas.openxmlformats.org/drawingml/2006/main">
              <a:ext uri="{FF2B5EF4-FFF2-40B4-BE49-F238E27FC236}">
                <a16:creationId xmlns:a16="http://schemas.microsoft.com/office/drawing/2014/main" id="{DF8C0561-2FAE-4531-850C-4FF264366183}"/>
              </a:ext>
            </a:extLst>
          </p:cNvPr>
          <p:cNvSpPr>
            <a:spLocks xmlns:a="http://schemas.openxmlformats.org/drawingml/2006/main" noGrp="1"/>
          </p:cNvSpPr>
          <p:nvPr/>
        </p:nvSpPr>
        <p:spPr>
          <a:xfrm xmlns:a="http://schemas.openxmlformats.org/drawingml/2006/main">
            <a:off x="0" y="1489525"/>
            <a:ext cx="9144000" cy="36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7" name="Google Shape;147;p20">
            <a:extLst xmlns:a="http://schemas.openxmlformats.org/drawingml/2006/main">
              <a:ext uri="{FF2B5EF4-FFF2-40B4-BE49-F238E27FC236}">
                <a16:creationId xmlns:a16="http://schemas.microsoft.com/office/drawing/2014/main" id="{EF383876-131E-49CE-A712-088124D73625}"/>
              </a:ext>
            </a:extLst>
          </p:cNvPr>
          <p:cNvSpPr>
            <a:spLocks xmlns:a="http://schemas.openxmlformats.org/drawingml/2006/main" noGrp="1"/>
          </p:cNvSpPr>
          <p:nvPr/>
        </p:nvSpPr>
        <p:spPr>
          <a:xfrm xmlns:a="http://schemas.openxmlformats.org/drawingml/2006/main">
            <a:off x="466725" y="866775"/>
            <a:ext cx="817245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VERIFIERS</a:t>
            </a:r>
            <a:endParaRPr sz="3900">
              <a:latin typeface="Inter Medium"/>
              <a:ea typeface="Inter Medium"/>
              <a:cs typeface="Inter Medium"/>
            </a:endParaRPr>
          </a:p>
        </p:txBody>
      </p:sp>
      <p:sp>
        <p:nvSpPr>
          <p:cNvPr id="148" name="Google Shape;148;p20">
            <a:extLst xmlns:a="http://schemas.openxmlformats.org/drawingml/2006/main">
              <a:ext uri="{FF2B5EF4-FFF2-40B4-BE49-F238E27FC236}">
                <a16:creationId xmlns:a16="http://schemas.microsoft.com/office/drawing/2014/main" id="{34E1A8D1-70A7-4201-A62E-8F1137AE3372}"/>
              </a:ext>
            </a:extLst>
          </p:cNvPr>
          <p:cNvSpPr>
            <a:spLocks xmlns:a="http://schemas.openxmlformats.org/drawingml/2006/main" noGrp="1"/>
          </p:cNvSpPr>
          <p:nvPr/>
        </p:nvSpPr>
        <p:spPr>
          <a:xfrm xmlns:a="http://schemas.openxmlformats.org/drawingml/2006/main">
            <a:off x="49530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ED25519</a:t>
            </a:r>
          </a:p>
          <a:p xmlns:a="http://schemas.openxmlformats.org/drawingml/2006/main">
            <a:r>
              <a:rPr sz="1500" b="0">
                <a:solidFill>
                  <a:srgbClr val="FFFFFF"/>
                </a:solidFill>
                <a:latin typeface="Inter"/>
                <a:ea typeface="Inter"/>
                <a:cs typeface="Inter"/>
              </a:rPr>
              <a:t>Classic keys, as a verifier contract</a:t>
            </a:r>
          </a:p>
        </p:txBody>
      </p:sp>
      <p:sp>
        <p:nvSpPr>
          <p:cNvPr id="149" name="Google Shape;149;p20">
            <a:extLst xmlns:a="http://schemas.openxmlformats.org/drawingml/2006/main">
              <a:ext uri="{FF2B5EF4-FFF2-40B4-BE49-F238E27FC236}">
                <a16:creationId xmlns:a16="http://schemas.microsoft.com/office/drawing/2014/main" id="{8F8BBA27-C242-4F70-8FA8-F6EF0C873857}"/>
              </a:ext>
            </a:extLst>
          </p:cNvPr>
          <p:cNvSpPr>
            <a:spLocks xmlns:a="http://schemas.openxmlformats.org/drawingml/2006/main" noGrp="1"/>
          </p:cNvSpPr>
          <p:nvPr/>
        </p:nvSpPr>
        <p:spPr>
          <a:xfrm xmlns:a="http://schemas.openxmlformats.org/drawingml/2006/main">
            <a:off x="495300" y="285750"/>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W H O   M A Y   S I G N</a:t>
            </a:r>
            <a:endParaRPr sz="900" b="1">
              <a:solidFill>
                <a:schemeClr val="dk1"/>
              </a:solidFill>
              <a:latin typeface="Inter"/>
              <a:ea typeface="Inter"/>
              <a:cs typeface="Inter"/>
            </a:endParaRPr>
          </a:p>
        </p:txBody>
      </p:sp>
      <p:pic>
        <p:nvPicPr>
          <p:cNvPr id="150" name="Google Shape;150;p20">
            <a:extLst xmlns:a="http://schemas.openxmlformats.org/drawingml/2006/main">
              <a:ext uri="{FF2B5EF4-FFF2-40B4-BE49-F238E27FC236}">
                <a16:creationId xmlns:a16="http://schemas.microsoft.com/office/drawing/2014/main" id="{40234DBD-7D59-4A64-8915-AC1655C4E663}"/>
              </a:ext>
            </a:extLst>
          </p:cNvPr>
          <p:cNvPicPr>
            <a:picLocks xmlns:a="http://schemas.openxmlformats.org/drawingml/2006/main" noChangeAspect="1"/>
          </p:cNvPicPr>
          <p:nvPr/>
        </p:nvPicPr>
        <p:blipFill>
          <a:blip xmlns:r="http://schemas.openxmlformats.org/officeDocument/2006/relationships" xmlns:a="http://schemas.openxmlformats.org/drawingml/2006/main" r:embed="Re926dae97fdc4fe2">
            <a:alphaModFix/>
          </a:blip>
          <a:stretch xmlns:a="http://schemas.openxmlformats.org/drawingml/2006/main">
            <a:fillRect l="0" t="0" r="0" b="0"/>
          </a:stretch>
        </p:blipFill>
        <p:spPr>
          <a:xfrm xmlns:a="http://schemas.openxmlformats.org/drawingml/2006/main">
            <a:off x="6213174" y="1928314"/>
            <a:ext cx="704738" cy="599027"/>
          </a:xfrm>
          <a:prstGeom xmlns:a="http://schemas.openxmlformats.org/drawingml/2006/main" prst="rect">
            <a:avLst/>
          </a:prstGeom>
          <a:ln xmlns:a="http://schemas.openxmlformats.org/drawingml/2006/main">
            <a:noFill/>
          </a:ln>
        </p:spPr>
      </p:pic>
      <p:pic>
        <p:nvPicPr>
          <p:cNvPr id="151" name="Google Shape;151;p20">
            <a:extLst xmlns:a="http://schemas.openxmlformats.org/drawingml/2006/main">
              <a:ext uri="{FF2B5EF4-FFF2-40B4-BE49-F238E27FC236}">
                <a16:creationId xmlns:a16="http://schemas.microsoft.com/office/drawing/2014/main" id="{6346241A-EB16-4750-867B-4F81524D6132}"/>
              </a:ext>
            </a:extLst>
          </p:cNvPr>
          <p:cNvPicPr>
            <a:picLocks xmlns:a="http://schemas.openxmlformats.org/drawingml/2006/main" noChangeAspect="1"/>
          </p:cNvPicPr>
          <p:nvPr/>
        </p:nvPicPr>
        <p:blipFill>
          <a:blip xmlns:r="http://schemas.openxmlformats.org/officeDocument/2006/relationships" xmlns:a="http://schemas.openxmlformats.org/drawingml/2006/main" r:embed="R44dbb852340d4b59">
            <a:alphaModFix/>
          </a:blip>
          <a:stretch xmlns:a="http://schemas.openxmlformats.org/drawingml/2006/main">
            <a:fillRect l="0" t="0" r="0" b="0"/>
          </a:stretch>
        </p:blipFill>
        <p:spPr>
          <a:xfrm xmlns:a="http://schemas.openxmlformats.org/drawingml/2006/main">
            <a:off x="3339252" y="1928314"/>
            <a:ext cx="683596" cy="599027"/>
          </a:xfrm>
          <a:prstGeom xmlns:a="http://schemas.openxmlformats.org/drawingml/2006/main" prst="rect">
            <a:avLst/>
          </a:prstGeom>
          <a:ln xmlns:a="http://schemas.openxmlformats.org/drawingml/2006/main">
            <a:noFill/>
          </a:ln>
        </p:spPr>
      </p:pic>
      <p:pic>
        <p:nvPicPr>
          <p:cNvPr id="152" name="Google Shape;152;p20">
            <a:extLst xmlns:a="http://schemas.openxmlformats.org/drawingml/2006/main">
              <a:ext uri="{FF2B5EF4-FFF2-40B4-BE49-F238E27FC236}">
                <a16:creationId xmlns:a16="http://schemas.microsoft.com/office/drawing/2014/main" id="{DCAAA086-612D-4FB2-ACCE-F5AE9A3243E2}"/>
              </a:ext>
            </a:extLst>
          </p:cNvPr>
          <p:cNvPicPr>
            <a:picLocks xmlns:a="http://schemas.openxmlformats.org/drawingml/2006/main" noChangeAspect="1"/>
          </p:cNvPicPr>
          <p:nvPr/>
        </p:nvPicPr>
        <p:blipFill>
          <a:blip xmlns:r="http://schemas.openxmlformats.org/officeDocument/2006/relationships" xmlns:a="http://schemas.openxmlformats.org/drawingml/2006/main" r:embed="R34d232de929e4643">
            <a:alphaModFix/>
          </a:blip>
          <a:stretch xmlns:a="http://schemas.openxmlformats.org/drawingml/2006/main">
            <a:fillRect l="0" t="0" r="0" b="0"/>
          </a:stretch>
        </p:blipFill>
        <p:spPr>
          <a:xfrm xmlns:a="http://schemas.openxmlformats.org/drawingml/2006/main">
            <a:off x="483596" y="1977160"/>
            <a:ext cx="528553" cy="599027"/>
          </a:xfrm>
          <a:prstGeom xmlns:a="http://schemas.openxmlformats.org/drawingml/2006/main" prst="rect">
            <a:avLst/>
          </a:prstGeom>
          <a:ln xmlns:a="http://schemas.openxmlformats.org/drawingml/2006/main">
            <a:noFill/>
          </a:ln>
        </p:spPr>
      </p:pic>
      <p:sp>
        <p:nvSpPr>
          <p:cNvPr id="153" name="Google Shape;153;p20">
            <a:extLst xmlns:a="http://schemas.openxmlformats.org/drawingml/2006/main">
              <a:ext uri="{FF2B5EF4-FFF2-40B4-BE49-F238E27FC236}">
                <a16:creationId xmlns:a16="http://schemas.microsoft.com/office/drawing/2014/main" id="{68D57CE8-F8E5-489B-A66B-EADE3949060B}"/>
              </a:ext>
            </a:extLst>
          </p:cNvPr>
          <p:cNvSpPr>
            <a:spLocks xmlns:a="http://schemas.openxmlformats.org/drawingml/2006/main" noGrp="1"/>
          </p:cNvSpPr>
          <p:nvPr/>
        </p:nvSpPr>
        <p:spPr>
          <a:xfrm xmlns:a="http://schemas.openxmlformats.org/drawingml/2006/main">
            <a:off x="3121574"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4" name="Google Shape;154;p20">
            <a:extLst xmlns:a="http://schemas.openxmlformats.org/drawingml/2006/main">
              <a:ext uri="{FF2B5EF4-FFF2-40B4-BE49-F238E27FC236}">
                <a16:creationId xmlns:a16="http://schemas.microsoft.com/office/drawing/2014/main" id="{FC4945A8-123B-4B26-8E97-76D71C2C3E4D}"/>
              </a:ext>
            </a:extLst>
          </p:cNvPr>
          <p:cNvSpPr>
            <a:spLocks xmlns:a="http://schemas.openxmlformats.org/drawingml/2006/main" noGrp="1"/>
          </p:cNvSpPr>
          <p:nvPr/>
        </p:nvSpPr>
        <p:spPr>
          <a:xfrm xmlns:a="http://schemas.openxmlformats.org/drawingml/2006/main">
            <a:off x="6001425"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20">
            <a:extLst xmlns:a="http://schemas.openxmlformats.org/drawingml/2006/main">
              <a:ext uri="{FF2B5EF4-FFF2-40B4-BE49-F238E27FC236}">
                <a16:creationId xmlns:a16="http://schemas.microsoft.com/office/drawing/2014/main" id="{689FA661-20E8-4DA1-BDD4-72125760483F}"/>
              </a:ext>
            </a:extLst>
          </p:cNvPr>
          <p:cNvSpPr>
            <a:spLocks xmlns:a="http://schemas.openxmlformats.org/drawingml/2006/main" noGrp="1"/>
          </p:cNvSpPr>
          <p:nvPr/>
        </p:nvSpPr>
        <p:spPr>
          <a:xfrm xmlns:a="http://schemas.openxmlformats.org/drawingml/2006/main">
            <a:off x="3343275"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WEBAUTHN</a:t>
            </a:r>
          </a:p>
          <a:p xmlns:a="http://schemas.openxmlformats.org/drawingml/2006/main">
            <a:r>
              <a:rPr sz="1500" b="0">
                <a:solidFill>
                  <a:srgbClr val="FFFFFF"/>
                </a:solidFill>
                <a:latin typeface="Inter"/>
                <a:ea typeface="Inter"/>
                <a:cs typeface="Inter"/>
              </a:rPr>
              <a:t>Passkeys on P-256</a:t>
            </a:r>
          </a:p>
        </p:txBody>
      </p:sp>
      <p:sp>
        <p:nvSpPr>
          <p:cNvPr id="156" name="Google Shape;156;p20">
            <a:extLst xmlns:a="http://schemas.openxmlformats.org/drawingml/2006/main">
              <a:ext uri="{FF2B5EF4-FFF2-40B4-BE49-F238E27FC236}">
                <a16:creationId xmlns:a16="http://schemas.microsoft.com/office/drawing/2014/main" id="{5211F131-288F-4C55-AE5F-ECB2EA9F681F}"/>
              </a:ext>
            </a:extLst>
          </p:cNvPr>
          <p:cNvSpPr>
            <a:spLocks xmlns:a="http://schemas.openxmlformats.org/drawingml/2006/main" noGrp="1"/>
          </p:cNvSpPr>
          <p:nvPr/>
        </p:nvSpPr>
        <p:spPr>
          <a:xfrm xmlns:a="http://schemas.openxmlformats.org/drawingml/2006/main">
            <a:off x="622935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DELEGATED</a:t>
            </a:r>
          </a:p>
          <a:p xmlns:a="http://schemas.openxmlformats.org/drawingml/2006/main">
            <a:r>
              <a:rPr sz="1500" b="0">
                <a:solidFill>
                  <a:srgbClr val="FFFFFF"/>
                </a:solidFill>
                <a:latin typeface="Inter"/>
                <a:ea typeface="Inter"/>
                <a:cs typeface="Inter"/>
              </a:rPr>
              <a:t>Another account signs (CAP-71)</a:t>
            </a:r>
          </a:p>
        </p:txBody>
      </p:sp>
      <p:pic>
        <p:nvPicPr>
          <p:cNvPr id="157" name="Google Shape;157;p20">
            <a:extLst xmlns:a="http://schemas.openxmlformats.org/drawingml/2006/main">
              <a:ext uri="{FF2B5EF4-FFF2-40B4-BE49-F238E27FC236}">
                <a16:creationId xmlns:a16="http://schemas.microsoft.com/office/drawing/2014/main" id="{B89AB6B0-5F96-4EA2-A98C-3C98D80E9EBA}"/>
              </a:ext>
            </a:extLst>
          </p:cNvPr>
          <p:cNvPicPr>
            <a:picLocks xmlns:a="http://schemas.openxmlformats.org/drawingml/2006/main" noChangeAspect="1"/>
          </p:cNvPicPr>
          <p:nvPr/>
        </p:nvPicPr>
        <p:blipFill>
          <a:blip xmlns:r="http://schemas.openxmlformats.org/officeDocument/2006/relationships" xmlns:a="http://schemas.openxmlformats.org/drawingml/2006/main" r:embed="R904b31adc9194f97">
            <a:alphaModFix amt="40000"/>
          </a:blip>
          <a:stretch xmlns:a="http://schemas.openxmlformats.org/drawingml/2006/main">
            <a:fillRect l="0" t="0" r="0" b="0"/>
          </a:stretch>
        </p:blipFill>
        <p:spPr>
          <a:xfrm xmlns:a="http://schemas.openxmlformats.org/drawingml/2006/main">
            <a:off x="0" y="4848216"/>
            <a:ext cx="9144000" cy="273050"/>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D6ED8720-3A1F-4535-ABB4-F30AC15F8068}"/>
              </a:ext>
            </a:extLst>
          </p:cNvPr>
          <p:cNvPicPr>
            <a:picLocks xmlns:a="http://schemas.openxmlformats.org/drawingml/2006/main" noChangeAspect="1"/>
          </p:cNvPicPr>
          <p:nvPr/>
        </p:nvPicPr>
        <p:blipFill>
          <a:blip xmlns:r="http://schemas.openxmlformats.org/officeDocument/2006/relationships" xmlns:a="http://schemas.openxmlformats.org/drawingml/2006/main" r:embed="Rd27fc62cc3824ebc">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5880C17E-5B8F-42E4-9371-53F478B091AA}"/>
              </a:ext>
            </a:extLst>
          </p:cNvPr>
          <p:cNvPicPr>
            <a:picLocks xmlns:a="http://schemas.openxmlformats.org/drawingml/2006/main" noChangeAspect="1"/>
          </p:cNvPicPr>
          <p:nvPr/>
        </p:nvPicPr>
        <p:blipFill>
          <a:blip xmlns:r="http://schemas.openxmlformats.org/officeDocument/2006/relationships" xmlns:a="http://schemas.openxmlformats.org/drawingml/2006/main" r:embed="Ra5320394d0c347d5">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60" name="">
            <a:extLst xmlns:a="http://schemas.openxmlformats.org/drawingml/2006/main">
              <a:ext uri="{FF2B5EF4-FFF2-40B4-BE49-F238E27FC236}">
                <a16:creationId xmlns:a16="http://schemas.microsoft.com/office/drawing/2014/main" id="{CD615E5D-E3DD-460A-9066-D9D0D8A07955}"/>
              </a:ext>
            </a:extLst>
          </p:cNvPr>
          <p:cNvSpPr>
            <a:spLocks xmlns:a="http://schemas.openxmlformats.org/drawingml/2006/main" noGrp="1"/>
          </p:cNvSpPr>
          <p:nvPr/>
        </p:nvSpPr>
        <p:spPr>
          <a:xfrm xmlns:a="http://schemas.openxmlformats.org/drawingml/2006/main">
            <a:off x="4476750" y="95250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000000"/>
                </a:solidFill>
                <a:latin typeface="Inter"/>
                <a:ea typeface="Inter"/>
                <a:cs typeface="Inter"/>
              </a:rPr>
              <a:t>Coming: ML-DSA (post-quantum) as one more verifier contract. On Perch’s roadmap; not built yet.</a:t>
            </a:r>
          </a:p>
        </p:txBody>
      </p:sp>
    </p:spTree>
    <p:extLst>
      <p:ext uri="{BB962C8B-B14F-4D97-AF65-F5344CB8AC3E}">
        <p14:creationId xmlns:p14="http://schemas.microsoft.com/office/powerpoint/2010/main" val="20726384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64" name="Google Shape;164;p21">
            <a:extLst xmlns:a="http://schemas.openxmlformats.org/drawingml/2006/main">
              <a:ext uri="{FF2B5EF4-FFF2-40B4-BE49-F238E27FC236}">
                <a16:creationId xmlns:a16="http://schemas.microsoft.com/office/drawing/2014/main" id="{52F62372-C213-4763-B0C8-3E5CD56BAB68}"/>
              </a:ext>
            </a:extLst>
          </p:cNvPr>
          <p:cNvSpPr>
            <a:spLocks xmlns:a="http://schemas.openxmlformats.org/drawingml/2006/main" noGrp="1"/>
          </p:cNvSpPr>
          <p:nvPr/>
        </p:nvSpPr>
        <p:spPr>
          <a:xfrm xmlns:a="http://schemas.openxmlformats.org/drawingml/2006/main">
            <a:off x="483370" y="851143"/>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C O N T E N T - A D D R E S S E D   P U B L I S H I N G</a:t>
            </a:r>
            <a:endParaRPr sz="1000" b="1">
              <a:solidFill>
                <a:schemeClr val="dk1"/>
              </a:solidFill>
              <a:latin typeface="Inter"/>
              <a:ea typeface="Inter"/>
              <a:cs typeface="Inter"/>
            </a:endParaRPr>
          </a:p>
        </p:txBody>
      </p:sp>
      <p:sp>
        <p:nvSpPr>
          <p:cNvPr id="165" name="Google Shape;165;p21">
            <a:extLst xmlns:a="http://schemas.openxmlformats.org/drawingml/2006/main">
              <a:ext uri="{FF2B5EF4-FFF2-40B4-BE49-F238E27FC236}">
                <a16:creationId xmlns:a16="http://schemas.microsoft.com/office/drawing/2014/main" id="{E6E48E09-9756-4C91-8EA9-E64C5F4A053E}"/>
              </a:ext>
            </a:extLst>
          </p:cNvPr>
          <p:cNvSpPr>
            <a:spLocks xmlns:a="http://schemas.openxmlformats.org/drawingml/2006/main" noGrp="1"/>
          </p:cNvSpPr>
          <p:nvPr/>
        </p:nvSpPr>
        <p:spPr>
          <a:xfrm xmlns:a="http://schemas.openxmlformats.org/drawingml/2006/main">
            <a:off x="485775" y="1219200"/>
            <a:ext cx="4714875" cy="75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750"/>
            </a:defPPr>
          </a:lstStyle>
          <a:p xmlns:a="http://schemas.openxmlformats.org/drawingml/2006/main">
            <a:pPr marL="0" lvl="0" indent="0" algn="l">
              <a:spcBef>
                <a:spcPts val="0"/>
              </a:spcBef>
              <a:spcAft>
                <a:spcPts val="0"/>
              </a:spcAft>
              <a:buNone/>
              <a:defRPr sz="3750"/>
            </a:pPr>
            <a:r>
              <a:rPr sz="3750" spc="-231">
                <a:solidFill>
                  <a:schemeClr val="dk1"/>
                </a:solidFill>
                <a:latin typeface="Inter Medium"/>
                <a:ea typeface="Inter Medium"/>
                <a:cs typeface="Inter Medium"/>
              </a:rPr>
              <a:t>CONSTRUCTORLESS</a:t>
            </a:r>
            <a:endParaRPr sz="3900">
              <a:solidFill>
                <a:schemeClr val="dk1"/>
              </a:solidFill>
              <a:latin typeface="Inter Medium"/>
              <a:ea typeface="Inter Medium"/>
              <a:cs typeface="Inter Medium"/>
            </a:endParaRPr>
          </a:p>
        </p:txBody>
      </p:sp>
      <p:sp>
        <p:nvSpPr>
          <p:cNvPr id="166" name="Google Shape;166;p21">
            <a:extLst xmlns:a="http://schemas.openxmlformats.org/drawingml/2006/main">
              <a:ext uri="{FF2B5EF4-FFF2-40B4-BE49-F238E27FC236}">
                <a16:creationId xmlns:a16="http://schemas.microsoft.com/office/drawing/2014/main" id="{A4E2F2AC-49DB-4FB4-8E4E-E1AFDF1D405F}"/>
              </a:ext>
            </a:extLst>
          </p:cNvPr>
          <p:cNvSpPr>
            <a:spLocks xmlns:a="http://schemas.openxmlformats.org/drawingml/2006/main" noGrp="1"/>
          </p:cNvSpPr>
          <p:nvPr/>
        </p:nvSpPr>
        <p:spPr>
          <a:xfrm xmlns:a="http://schemas.openxmlformats.org/drawingml/2006/main">
            <a:off x="495300" y="2028825"/>
            <a:ext cx="4619625" cy="9372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650"/>
            </a:defPPr>
          </a:lstStyle>
          <a:p xmlns:a="http://schemas.openxmlformats.org/drawingml/2006/main">
            <a:pPr marL="0" lvl="0" indent="0" algn="l">
              <a:spcBef>
                <a:spcPts val="0"/>
              </a:spcBef>
              <a:spcAft>
                <a:spcPts val="0"/>
              </a:spcAft>
              <a:buNone/>
              <a:defRPr sz="1650"/>
            </a:pPr>
            <a:r>
              <a:rPr sz="1650">
                <a:latin typeface="Inter"/>
                <a:ea typeface="Inter"/>
                <a:cs typeface="Inter"/>
              </a:rPr>
              <a:t>Shared contracts deploy with no arguments.</a:t>
            </a:r>
            <a:endParaRPr sz="1800">
              <a:latin typeface="Inter"/>
              <a:ea typeface="Inter"/>
              <a:cs typeface="Inter"/>
            </a:endParaRPr>
          </a:p>
          <a:p xmlns:a="http://schemas.openxmlformats.org/drawingml/2006/main">
            <a:pPr marL="0" lvl="0" indent="0" algn="l">
              <a:spcBef>
                <a:spcPts val="0"/>
              </a:spcBef>
              <a:spcAft>
                <a:spcPts val="0"/>
              </a:spcAft>
              <a:buNone/>
              <a:defRPr sz="1650"/>
            </a:pPr>
            <a:r>
              <a:rPr sz="1650">
                <a:latin typeface="Inter"/>
                <a:ea typeface="Inter"/>
                <a:cs typeface="Inter"/>
              </a:rPr>
              <a:t>Address = registry + hash of the wasm.</a:t>
            </a:r>
            <a:endParaRPr sz="1800">
              <a:latin typeface="Inter"/>
              <a:ea typeface="Inter"/>
              <a:cs typeface="Inter"/>
            </a:endParaRPr>
          </a:p>
          <a:p xmlns:a="http://schemas.openxmlformats.org/drawingml/2006/main">
            <a:pPr marL="0" lvl="0" indent="0" algn="l">
              <a:spcBef>
                <a:spcPts val="0"/>
              </a:spcBef>
              <a:spcAft>
                <a:spcPts val="0"/>
              </a:spcAft>
              <a:buNone/>
              <a:defRPr sz="1650"/>
            </a:pPr>
            <a:r>
              <a:rPr sz="1650">
                <a:latin typeface="Inter"/>
                <a:ea typeface="Inter"/>
                <a:cs typeface="Inter"/>
              </a:rPr>
              <a:t>Accounts pin them by hash; no one repoints.</a:t>
            </a:r>
            <a:endParaRPr sz="1800">
              <a:latin typeface="Inter"/>
              <a:ea typeface="Inter"/>
              <a:cs typeface="Inter"/>
            </a:endParaRPr>
          </a:p>
        </p:txBody>
      </p:sp>
      <p:pic>
        <p:nvPicPr>
          <p:cNvPr id="167" name="Google Shape;167;p21">
            <a:extLst xmlns:a="http://schemas.openxmlformats.org/drawingml/2006/main">
              <a:ext uri="{FF2B5EF4-FFF2-40B4-BE49-F238E27FC236}">
                <a16:creationId xmlns:a16="http://schemas.microsoft.com/office/drawing/2014/main" id="{1F8433EB-1E31-4760-AEC0-744667E436B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cc4d77be8c14e49">
            <a:alphaModFix/>
          </a:blip>
          <a:srcRect xmlns:a="http://schemas.openxmlformats.org/drawingml/2006/main" l="0" t="0" r="9190" b="0"/>
          <a:stretch xmlns:a="http://schemas.openxmlformats.org/drawingml/2006/main"/>
        </p:blipFill>
        <p:spPr>
          <a:xfrm xmlns:a="http://schemas.openxmlformats.org/drawingml/2006/main">
            <a:off x="5694059" y="0"/>
            <a:ext cx="3449942" cy="5143501"/>
          </a:xfrm>
          <a:prstGeom xmlns:a="http://schemas.openxmlformats.org/drawingml/2006/main" prst="rect">
            <a:avLst/>
          </a:prstGeom>
          <a:ln xmlns:a="http://schemas.openxmlformats.org/drawingml/2006/main">
            <a:noFill/>
          </a:ln>
        </p:spPr>
      </p:pic>
      <p:pic>
        <p:nvPicPr>
          <p:cNvPr id="168" name="Google Shape;168;p21">
            <a:extLst xmlns:a="http://schemas.openxmlformats.org/drawingml/2006/main">
              <a:ext uri="{FF2B5EF4-FFF2-40B4-BE49-F238E27FC236}">
                <a16:creationId xmlns:a16="http://schemas.microsoft.com/office/drawing/2014/main" id="{7B543C8C-BC1F-4DAB-B508-A8C2FFFB53BB}"/>
              </a:ext>
            </a:extLst>
          </p:cNvPr>
          <p:cNvPicPr>
            <a:picLocks xmlns:a="http://schemas.openxmlformats.org/drawingml/2006/main" noChangeAspect="1"/>
          </p:cNvPicPr>
          <p:nvPr/>
        </p:nvPicPr>
        <p:blipFill>
          <a:blip xmlns:r="http://schemas.openxmlformats.org/officeDocument/2006/relationships" xmlns:a="http://schemas.openxmlformats.org/drawingml/2006/main" r:embed="Raa3c3517e0f4459b">
            <a:alphaModFix/>
          </a:blip>
          <a:stretch xmlns:a="http://schemas.openxmlformats.org/drawingml/2006/main">
            <a:fillRect l="0" t="0" r="0" b="0"/>
          </a:stretch>
        </p:blipFill>
        <p:spPr>
          <a:xfrm xmlns:a="http://schemas.openxmlformats.org/drawingml/2006/main">
            <a:off x="251689" y="246151"/>
            <a:ext cx="1149929" cy="200042"/>
          </a:xfrm>
          <a:prstGeom xmlns:a="http://schemas.openxmlformats.org/drawingml/2006/main" prst="rect">
            <a:avLst/>
          </a:prstGeom>
          <a:ln xmlns:a="http://schemas.openxmlformats.org/drawingml/2006/main">
            <a:noFill/>
          </a:ln>
        </p:spPr>
      </p:pic>
      <p:pic>
        <p:nvPicPr>
          <p:cNvPr id="169" name="Google Shape;169;p21">
            <a:extLst xmlns:a="http://schemas.openxmlformats.org/drawingml/2006/main">
              <a:ext uri="{FF2B5EF4-FFF2-40B4-BE49-F238E27FC236}">
                <a16:creationId xmlns:a16="http://schemas.microsoft.com/office/drawing/2014/main" id="{63CA8D59-8F27-466C-9B43-D8F6A8A68B80}"/>
              </a:ext>
            </a:extLst>
          </p:cNvPr>
          <p:cNvPicPr>
            <a:picLocks xmlns:a="http://schemas.openxmlformats.org/drawingml/2006/main" noChangeAspect="1"/>
          </p:cNvPicPr>
          <p:nvPr/>
        </p:nvPicPr>
        <p:blipFill>
          <a:blip xmlns:r="http://schemas.openxmlformats.org/officeDocument/2006/relationships" xmlns:a="http://schemas.openxmlformats.org/drawingml/2006/main" r:embed="R873c58eee0ca48e7">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70" name="">
            <a:extLst xmlns:a="http://schemas.openxmlformats.org/drawingml/2006/main">
              <a:ext uri="{FF2B5EF4-FFF2-40B4-BE49-F238E27FC236}">
                <a16:creationId xmlns:a16="http://schemas.microsoft.com/office/drawing/2014/main" id="{B61B3F52-8138-4CFE-BD3C-DF13BEC36AF0}"/>
              </a:ext>
            </a:extLst>
          </p:cNvPr>
          <p:cNvSpPr>
            <a:spLocks xmlns:a="http://schemas.openxmlformats.org/drawingml/2006/main" noGrp="1"/>
          </p:cNvSpPr>
          <p:nvPr/>
        </p:nvSpPr>
        <p:spPr>
          <a:xfrm xmlns:a="http://schemas.openxmlformats.org/drawingml/2006/main">
            <a:off x="495300" y="4267200"/>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Upgrades wait ~7 days</a:t>
            </a:r>
          </a:p>
        </p:txBody>
      </p:sp>
    </p:spTree>
    <p:extLst>
      <p:ext uri="{BB962C8B-B14F-4D97-AF65-F5344CB8AC3E}">
        <p14:creationId xmlns:p14="http://schemas.microsoft.com/office/powerpoint/2010/main" val="98280916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36" name="Google Shape;136;p19">
            <a:extLst xmlns:a="http://schemas.openxmlformats.org/drawingml/2006/main">
              <a:ext uri="{FF2B5EF4-FFF2-40B4-BE49-F238E27FC236}">
                <a16:creationId xmlns:a16="http://schemas.microsoft.com/office/drawing/2014/main" id="{4FA796BF-06EB-4679-96CE-6D749EA285BA}"/>
              </a:ext>
            </a:extLst>
          </p:cNvPr>
          <p:cNvSpPr>
            <a:spLocks xmlns:a="http://schemas.openxmlformats.org/drawingml/2006/main" noGrp="1"/>
          </p:cNvSpPr>
          <p:nvPr/>
        </p:nvSpPr>
        <p:spPr>
          <a:xfrm xmlns:a="http://schemas.openxmlformats.org/drawingml/2006/main">
            <a:off x="3031396" y="849570"/>
            <a:ext cx="41199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A C C O U N T S</a:t>
            </a:r>
            <a:endParaRPr sz="1000" b="1">
              <a:solidFill>
                <a:schemeClr val="dk1"/>
              </a:solidFill>
              <a:latin typeface="Inter"/>
              <a:ea typeface="Inter"/>
              <a:cs typeface="Inter"/>
            </a:endParaRPr>
          </a:p>
        </p:txBody>
      </p:sp>
      <p:sp>
        <p:nvSpPr>
          <p:cNvPr id="137" name="Google Shape;137;p19">
            <a:extLst xmlns:a="http://schemas.openxmlformats.org/drawingml/2006/main">
              <a:ext uri="{FF2B5EF4-FFF2-40B4-BE49-F238E27FC236}">
                <a16:creationId xmlns:a16="http://schemas.microsoft.com/office/drawing/2014/main" id="{3B6E446C-B8D3-4EA9-AF55-F24691D838DD}"/>
              </a:ext>
            </a:extLst>
          </p:cNvPr>
          <p:cNvSpPr>
            <a:spLocks xmlns:a="http://schemas.openxmlformats.org/drawingml/2006/main" noGrp="1"/>
          </p:cNvSpPr>
          <p:nvPr/>
        </p:nvSpPr>
        <p:spPr>
          <a:xfrm xmlns:a="http://schemas.openxmlformats.org/drawingml/2006/main">
            <a:off x="3028950" y="1219200"/>
            <a:ext cx="5715000" cy="1371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900"/>
            </a:defPPr>
          </a:lstStyle>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ACCOUNTS AND</a:t>
            </a:r>
            <a:endParaRPr sz="3900" spc="-231">
              <a:solidFill>
                <a:schemeClr val="dk1"/>
              </a:solidFill>
              <a:latin typeface="Inter Medium"/>
              <a:ea typeface="Inter Medium"/>
              <a:cs typeface="Inter Medium"/>
            </a:endParaRPr>
          </a:p>
          <a:p xmlns:a="http://schemas.openxmlformats.org/drawingml/2006/main">
            <a:pPr marL="0" lvl="0" indent="0" algn="l">
              <a:spcBef>
                <a:spcPts val="0"/>
              </a:spcBef>
              <a:spcAft>
                <a:spcPts val="0"/>
              </a:spcAft>
              <a:buClr>
                <a:schemeClr val="dk1"/>
              </a:buClr>
              <a:buSzPts val="1100"/>
              <a:buFont typeface="Arial"/>
              <a:buNone/>
              <a:defRPr sz="3900"/>
            </a:pPr>
            <a:r>
              <a:rPr sz="3900" spc="-231">
                <a:solidFill>
                  <a:schemeClr val="dk1"/>
                </a:solidFill>
                <a:latin typeface="Inter Medium"/>
                <a:ea typeface="Inter Medium"/>
                <a:cs typeface="Inter Medium"/>
              </a:rPr>
              <a:t>FACTORIES</a:t>
            </a:r>
            <a:endParaRPr sz="3900" spc="-231">
              <a:solidFill>
                <a:schemeClr val="dk1"/>
              </a:solidFill>
              <a:latin typeface="Inter Medium"/>
              <a:ea typeface="Inter Medium"/>
              <a:cs typeface="Inter Medium"/>
            </a:endParaRPr>
          </a:p>
        </p:txBody>
      </p:sp>
      <p:sp>
        <p:nvSpPr>
          <p:cNvPr id="138" name="Google Shape;138;p19">
            <a:extLst xmlns:a="http://schemas.openxmlformats.org/drawingml/2006/main">
              <a:ext uri="{FF2B5EF4-FFF2-40B4-BE49-F238E27FC236}">
                <a16:creationId xmlns:a16="http://schemas.microsoft.com/office/drawing/2014/main" id="{0C2BDDD1-FC24-4AAB-92DD-8A663EC5FDBC}"/>
              </a:ext>
            </a:extLst>
          </p:cNvPr>
          <p:cNvSpPr>
            <a:spLocks xmlns:a="http://schemas.openxmlformats.org/drawingml/2006/main" noGrp="1"/>
          </p:cNvSpPr>
          <p:nvPr/>
        </p:nvSpPr>
        <p:spPr>
          <a:xfrm xmlns:a="http://schemas.openxmlformats.org/drawingml/2006/main">
            <a:off x="3038475" y="2638425"/>
            <a:ext cx="5619750" cy="9372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650"/>
            </a:defPPr>
          </a:lstStyle>
          <a:p xmlns:a="http://schemas.openxmlformats.org/drawingml/2006/main">
            <a:pPr marL="0" lvl="0" indent="0" algn="l">
              <a:spcBef>
                <a:spcPts val="0"/>
              </a:spcBef>
              <a:spcAft>
                <a:spcPts val="0"/>
              </a:spcAft>
              <a:buNone/>
              <a:defRPr sz="1650"/>
            </a:pPr>
            <a:r>
              <a:rPr sz="1650">
                <a:latin typeface="Inter"/>
                <a:ea typeface="Inter"/>
                <a:cs typeface="Inter"/>
              </a:rPr>
              <a:t>Rule 0, admin: full owner authority.</a:t>
            </a:r>
            <a:endParaRPr sz="1800">
              <a:latin typeface="Inter"/>
              <a:ea typeface="Inter"/>
              <a:cs typeface="Inter"/>
            </a:endParaRPr>
          </a:p>
          <a:p xmlns:a="http://schemas.openxmlformats.org/drawingml/2006/main">
            <a:pPr marL="0" lvl="0" indent="0" algn="l">
              <a:spcBef>
                <a:spcPts val="0"/>
              </a:spcBef>
              <a:spcAft>
                <a:spcPts val="0"/>
              </a:spcAft>
              <a:buNone/>
              <a:defRPr sz="1650"/>
            </a:pPr>
            <a:r>
              <a:rPr sz="1650">
                <a:latin typeface="Inter"/>
                <a:ea typeface="Inter"/>
                <a:cs typeface="Inter"/>
              </a:rPr>
              <a:t>Perch factory: the address commits to its signers.</a:t>
            </a:r>
            <a:endParaRPr sz="1800">
              <a:latin typeface="Inter"/>
              <a:ea typeface="Inter"/>
              <a:cs typeface="Inter"/>
            </a:endParaRPr>
          </a:p>
          <a:p xmlns:a="http://schemas.openxmlformats.org/drawingml/2006/main">
            <a:pPr marL="0" lvl="0" indent="0" algn="l">
              <a:spcBef>
                <a:spcPts val="0"/>
              </a:spcBef>
              <a:spcAft>
                <a:spcPts val="0"/>
              </a:spcAft>
              <a:buNone/>
              <a:defRPr sz="1650"/>
            </a:pPr>
            <a:r>
              <a:rPr sz="1650">
                <a:latin typeface="Inter"/>
                <a:ea typeface="Inter"/>
                <a:cs typeface="Inter"/>
              </a:rPr>
              <a:t>Nido factory: the address exists before the passkey.</a:t>
            </a:r>
            <a:endParaRPr sz="1800">
              <a:latin typeface="Inter"/>
              <a:ea typeface="Inter"/>
              <a:cs typeface="Inter"/>
            </a:endParaRPr>
          </a:p>
        </p:txBody>
      </p:sp>
      <p:pic>
        <p:nvPicPr>
          <p:cNvPr id="139" name="Google Shape;139;p19">
            <a:extLst xmlns:a="http://schemas.openxmlformats.org/drawingml/2006/main">
              <a:ext uri="{FF2B5EF4-FFF2-40B4-BE49-F238E27FC236}">
                <a16:creationId xmlns:a16="http://schemas.microsoft.com/office/drawing/2014/main" id="{BE06D2BE-5039-47B5-A959-0FD9A69879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2fe3be17db45b0">
            <a:alphaModFix/>
          </a:blip>
          <a:srcRect xmlns:a="http://schemas.openxmlformats.org/drawingml/2006/main" l="44448" t="2095" r="26037" b="0"/>
          <a:stretch xmlns:a="http://schemas.openxmlformats.org/drawingml/2006/main"/>
        </p:blipFill>
        <p:spPr>
          <a:xfrm xmlns:a="http://schemas.openxmlformats.org/drawingml/2006/main">
            <a:off x="0" y="0"/>
            <a:ext cx="2520000" cy="5035825"/>
          </a:xfrm>
          <a:prstGeom xmlns:a="http://schemas.openxmlformats.org/drawingml/2006/main" prst="rect">
            <a:avLst/>
          </a:prstGeom>
          <a:ln xmlns:a="http://schemas.openxmlformats.org/drawingml/2006/main">
            <a:noFill/>
          </a:ln>
        </p:spPr>
      </p:pic>
      <p:pic>
        <p:nvPicPr>
          <p:cNvPr id="140" name="Google Shape;140;p19">
            <a:extLst xmlns:a="http://schemas.openxmlformats.org/drawingml/2006/main">
              <a:ext uri="{FF2B5EF4-FFF2-40B4-BE49-F238E27FC236}">
                <a16:creationId xmlns:a16="http://schemas.microsoft.com/office/drawing/2014/main" id="{30EC4DE3-3C90-4A26-AED9-5936DECC7448}"/>
              </a:ext>
            </a:extLst>
          </p:cNvPr>
          <p:cNvPicPr>
            <a:picLocks xmlns:a="http://schemas.openxmlformats.org/drawingml/2006/main" noChangeAspect="1"/>
          </p:cNvPicPr>
          <p:nvPr/>
        </p:nvPicPr>
        <p:blipFill>
          <a:blip xmlns:r="http://schemas.openxmlformats.org/officeDocument/2006/relationships" xmlns:a="http://schemas.openxmlformats.org/drawingml/2006/main" r:embed="R6bdefef233aa4d7d">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41" name="Google Shape;141;p19">
            <a:extLst xmlns:a="http://schemas.openxmlformats.org/drawingml/2006/main">
              <a:ext uri="{FF2B5EF4-FFF2-40B4-BE49-F238E27FC236}">
                <a16:creationId xmlns:a16="http://schemas.microsoft.com/office/drawing/2014/main" id="{A18B86C8-02D3-4F4C-B8B0-1713BBB0A806}"/>
              </a:ext>
            </a:extLst>
          </p:cNvPr>
          <p:cNvPicPr>
            <a:picLocks xmlns:a="http://schemas.openxmlformats.org/drawingml/2006/main" noChangeAspect="1"/>
          </p:cNvPicPr>
          <p:nvPr/>
        </p:nvPicPr>
        <p:blipFill>
          <a:blip xmlns:r="http://schemas.openxmlformats.org/officeDocument/2006/relationships" xmlns:a="http://schemas.openxmlformats.org/drawingml/2006/main" r:embed="R9685a5abfbeb469d">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
        <p:nvSpPr>
          <p:cNvPr id="142" name="">
            <a:extLst xmlns:a="http://schemas.openxmlformats.org/drawingml/2006/main">
              <a:ext uri="{FF2B5EF4-FFF2-40B4-BE49-F238E27FC236}">
                <a16:creationId xmlns:a16="http://schemas.microsoft.com/office/drawing/2014/main" id="{2144378B-C160-4C6A-BCFF-F042749DFC5D}"/>
              </a:ext>
            </a:extLst>
          </p:cNvPr>
          <p:cNvSpPr>
            <a:spLocks xmlns:a="http://schemas.openxmlformats.org/drawingml/2006/main" noGrp="1"/>
          </p:cNvSpPr>
          <p:nvPr/>
        </p:nvSpPr>
        <p:spPr>
          <a:xfrm xmlns:a="http://schemas.openxmlformats.org/drawingml/2006/main">
            <a:off x="3038475" y="4267200"/>
            <a:ext cx="561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000000"/>
                </a:solidFill>
                <a:latin typeface="Inter"/>
                <a:ea typeface="Inter"/>
                <a:cs typeface="Inter"/>
              </a:rPr>
              <a:t>Everything else arrives as a document</a:t>
            </a:r>
          </a:p>
        </p:txBody>
      </p:sp>
    </p:spTree>
    <p:extLst>
      <p:ext uri="{BB962C8B-B14F-4D97-AF65-F5344CB8AC3E}">
        <p14:creationId xmlns:p14="http://schemas.microsoft.com/office/powerpoint/2010/main" val="33464521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3C9F9020-ABF7-4FAA-9258-B8EEE18937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e07b7aa7374bd4">
            <a:alphaModFix/>
          </a:blip>
          <a:srcRect xmlns:a="http://schemas.openxmlformats.org/drawingml/2006/main" l="17437" t="17743" r="4474" b="8636"/>
          <a:stretch xmlns:a="http://schemas.openxmlformats.org/drawingml/2006/main"/>
        </p:blipFill>
        <p:spPr>
          <a:xfrm xmlns:a="http://schemas.openxmlformats.org/drawingml/2006/main">
            <a:off x="0" y="0"/>
            <a:ext cx="2520000" cy="5143501"/>
          </a:xfrm>
          <a:prstGeom xmlns:a="http://schemas.openxmlformats.org/drawingml/2006/main" prst="rect">
            <a:avLst/>
          </a:prstGeom>
          <a:ln xmlns:a="http://schemas.openxmlformats.org/drawingml/2006/main">
            <a:noFill/>
          </a:ln>
        </p:spPr>
      </p:pic>
      <p:sp>
        <p:nvSpPr>
          <p:cNvPr id="77" name="Google Shape;77;p15">
            <a:extLst xmlns:a="http://schemas.openxmlformats.org/drawingml/2006/main">
              <a:ext uri="{FF2B5EF4-FFF2-40B4-BE49-F238E27FC236}">
                <a16:creationId xmlns:a16="http://schemas.microsoft.com/office/drawing/2014/main" id="{024B7BA4-61D9-4247-BB18-65C294CB9435}"/>
              </a:ext>
            </a:extLst>
          </p:cNvPr>
          <p:cNvSpPr>
            <a:spLocks xmlns:a="http://schemas.openxmlformats.org/drawingml/2006/main" noGrp="1"/>
          </p:cNvSpPr>
          <p:nvPr/>
        </p:nvSpPr>
        <p:spPr>
          <a:xfrm xmlns:a="http://schemas.openxmlformats.org/drawingml/2006/main">
            <a:off x="2762250" y="933450"/>
            <a:ext cx="590550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WHAT AN APP CAN ASK</a:t>
            </a:r>
            <a:endParaRPr sz="3900">
              <a:latin typeface="Inter Medium"/>
              <a:ea typeface="Inter Medium"/>
              <a:cs typeface="Inter Medium"/>
            </a:endParaRPr>
          </a:p>
        </p:txBody>
      </p:sp>
      <p:sp>
        <p:nvSpPr>
          <p:cNvPr id="78" name="Google Shape;78;p15">
            <a:extLst xmlns:a="http://schemas.openxmlformats.org/drawingml/2006/main">
              <a:ext uri="{FF2B5EF4-FFF2-40B4-BE49-F238E27FC236}">
                <a16:creationId xmlns:a16="http://schemas.microsoft.com/office/drawing/2014/main" id="{573804E9-D57C-4F6F-B611-BA499B38B91B}"/>
              </a:ext>
            </a:extLst>
          </p:cNvPr>
          <p:cNvSpPr>
            <a:spLocks xmlns:a="http://schemas.openxmlformats.org/drawingml/2006/main" noGrp="1"/>
          </p:cNvSpPr>
          <p:nvPr/>
        </p:nvSpPr>
        <p:spPr>
          <a:xfrm xmlns:a="http://schemas.openxmlformats.org/drawingml/2006/main">
            <a:off x="2688283" y="1689804"/>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01</a:t>
            </a:r>
            <a:endParaRPr sz="2100">
              <a:latin typeface="Inter"/>
              <a:ea typeface="Inter"/>
              <a:cs typeface="Inter"/>
            </a:endParaRPr>
          </a:p>
        </p:txBody>
      </p:sp>
      <p:sp>
        <p:nvSpPr>
          <p:cNvPr id="79" name="Google Shape;79;p15">
            <a:extLst xmlns:a="http://schemas.openxmlformats.org/drawingml/2006/main">
              <a:ext uri="{FF2B5EF4-FFF2-40B4-BE49-F238E27FC236}">
                <a16:creationId xmlns:a16="http://schemas.microsoft.com/office/drawing/2014/main" id="{7FE65504-21F8-4E72-A67B-E5E04279C948}"/>
              </a:ext>
            </a:extLst>
          </p:cNvPr>
          <p:cNvSpPr>
            <a:spLocks xmlns:a="http://schemas.openxmlformats.org/drawingml/2006/main" noGrp="1"/>
          </p:cNvSpPr>
          <p:nvPr/>
        </p:nvSpPr>
        <p:spPr>
          <a:xfrm xmlns:a="http://schemas.openxmlformats.org/drawingml/2006/main">
            <a:off x="2809875" y="304800"/>
            <a:ext cx="45720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T H E   D A P P   I N T E R F A C E</a:t>
            </a:r>
            <a:endParaRPr sz="900" b="1">
              <a:solidFill>
                <a:schemeClr val="dk1"/>
              </a:solidFill>
              <a:latin typeface="Inter"/>
              <a:ea typeface="Inter"/>
              <a:cs typeface="Inter"/>
            </a:endParaRPr>
          </a:p>
        </p:txBody>
      </p:sp>
      <p:sp>
        <p:nvSpPr>
          <p:cNvPr id="80" name="Google Shape;80;p15">
            <a:extLst xmlns:a="http://schemas.openxmlformats.org/drawingml/2006/main">
              <a:ext uri="{FF2B5EF4-FFF2-40B4-BE49-F238E27FC236}">
                <a16:creationId xmlns:a16="http://schemas.microsoft.com/office/drawing/2014/main" id="{A1C8F538-C083-4399-9CD8-3BF2F689B23D}"/>
              </a:ext>
            </a:extLst>
          </p:cNvPr>
          <p:cNvSpPr>
            <a:spLocks xmlns:a="http://schemas.openxmlformats.org/drawingml/2006/main" noGrp="1"/>
          </p:cNvSpPr>
          <p:nvPr/>
        </p:nvSpPr>
        <p:spPr>
          <a:xfrm xmlns:a="http://schemas.openxmlformats.org/drawingml/2006/main">
            <a:off x="3467100" y="186690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Connect: the C-address</a:t>
            </a:r>
            <a:endParaRPr sz="1600">
              <a:latin typeface="Inter"/>
              <a:ea typeface="Inter"/>
              <a:cs typeface="Inter"/>
            </a:endParaRPr>
          </a:p>
        </p:txBody>
      </p:sp>
      <p:sp>
        <p:nvSpPr>
          <p:cNvPr id="82" name="Google Shape;82;p15">
            <a:extLst xmlns:a="http://schemas.openxmlformats.org/drawingml/2006/main">
              <a:ext uri="{FF2B5EF4-FFF2-40B4-BE49-F238E27FC236}">
                <a16:creationId xmlns:a16="http://schemas.microsoft.com/office/drawing/2014/main" id="{DBB0C3D3-0837-40F9-9A8D-5AE3738A4CC4}"/>
              </a:ext>
            </a:extLst>
          </p:cNvPr>
          <p:cNvSpPr>
            <a:spLocks xmlns:a="http://schemas.openxmlformats.org/drawingml/2006/main" noGrp="1"/>
          </p:cNvSpPr>
          <p:nvPr/>
        </p:nvSpPr>
        <p:spPr>
          <a:xfrm xmlns:a="http://schemas.openxmlformats.org/drawingml/2006/main" rot="5400000">
            <a:off x="5286068" y="-25140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3" name="Google Shape;83;p15">
            <a:extLst xmlns:a="http://schemas.openxmlformats.org/drawingml/2006/main">
              <a:ext uri="{FF2B5EF4-FFF2-40B4-BE49-F238E27FC236}">
                <a16:creationId xmlns:a16="http://schemas.microsoft.com/office/drawing/2014/main" id="{0D3EE8DD-439B-4418-A086-476B7CA7B66D}"/>
              </a:ext>
            </a:extLst>
          </p:cNvPr>
          <p:cNvSpPr>
            <a:spLocks xmlns:a="http://schemas.openxmlformats.org/drawingml/2006/main" noGrp="1"/>
          </p:cNvSpPr>
          <p:nvPr/>
        </p:nvSpPr>
        <p:spPr>
          <a:xfrm xmlns:a="http://schemas.openxmlformats.org/drawingml/2006/main" rot="5400000">
            <a:off x="5286068" y="429655"/>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4" name="Google Shape;84;p15">
            <a:extLst xmlns:a="http://schemas.openxmlformats.org/drawingml/2006/main">
              <a:ext uri="{FF2B5EF4-FFF2-40B4-BE49-F238E27FC236}">
                <a16:creationId xmlns:a16="http://schemas.microsoft.com/office/drawing/2014/main" id="{440AA23C-C0C8-4E76-9FA3-C7E12AFA5D65}"/>
              </a:ext>
            </a:extLst>
          </p:cNvPr>
          <p:cNvSpPr>
            <a:spLocks xmlns:a="http://schemas.openxmlformats.org/drawingml/2006/main" noGrp="1"/>
          </p:cNvSpPr>
          <p:nvPr/>
        </p:nvSpPr>
        <p:spPr>
          <a:xfrm xmlns:a="http://schemas.openxmlformats.org/drawingml/2006/main" rot="5400000">
            <a:off x="5286068" y="1110716"/>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5" name="Google Shape;85;p15">
            <a:extLst xmlns:a="http://schemas.openxmlformats.org/drawingml/2006/main">
              <a:ext uri="{FF2B5EF4-FFF2-40B4-BE49-F238E27FC236}">
                <a16:creationId xmlns:a16="http://schemas.microsoft.com/office/drawing/2014/main" id="{D3F2A02F-ECD6-4B3A-AC89-1E04A02BEDFB}"/>
              </a:ext>
            </a:extLst>
          </p:cNvPr>
          <p:cNvSpPr>
            <a:spLocks xmlns:a="http://schemas.openxmlformats.org/drawingml/2006/main" noGrp="1"/>
          </p:cNvSpPr>
          <p:nvPr/>
        </p:nvSpPr>
        <p:spPr>
          <a:xfrm xmlns:a="http://schemas.openxmlformats.org/drawingml/2006/main" rot="5400000">
            <a:off x="5286068" y="179177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6" name="Google Shape;86;p15">
            <a:extLst xmlns:a="http://schemas.openxmlformats.org/drawingml/2006/main">
              <a:ext uri="{FF2B5EF4-FFF2-40B4-BE49-F238E27FC236}">
                <a16:creationId xmlns:a16="http://schemas.microsoft.com/office/drawing/2014/main" id="{A193CEC9-EA4E-4F52-9F20-5FFB594AC389}"/>
              </a:ext>
            </a:extLst>
          </p:cNvPr>
          <p:cNvSpPr>
            <a:spLocks xmlns:a="http://schemas.openxmlformats.org/drawingml/2006/main" noGrp="1"/>
          </p:cNvSpPr>
          <p:nvPr/>
        </p:nvSpPr>
        <p:spPr>
          <a:xfrm xmlns:a="http://schemas.openxmlformats.org/drawingml/2006/main">
            <a:off x="2688283" y="2357336"/>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02</a:t>
            </a:r>
            <a:endParaRPr sz="2100">
              <a:latin typeface="Inter"/>
              <a:ea typeface="Inter"/>
              <a:cs typeface="Inter"/>
            </a:endParaRPr>
          </a:p>
        </p:txBody>
      </p:sp>
      <p:sp>
        <p:nvSpPr>
          <p:cNvPr id="87" name="Google Shape;87;p15">
            <a:extLst xmlns:a="http://schemas.openxmlformats.org/drawingml/2006/main">
              <a:ext uri="{FF2B5EF4-FFF2-40B4-BE49-F238E27FC236}">
                <a16:creationId xmlns:a16="http://schemas.microsoft.com/office/drawing/2014/main" id="{5F3FC239-D716-431F-8D91-BC6F32A1ED4F}"/>
              </a:ext>
            </a:extLst>
          </p:cNvPr>
          <p:cNvSpPr>
            <a:spLocks xmlns:a="http://schemas.openxmlformats.org/drawingml/2006/main" noGrp="1"/>
          </p:cNvSpPr>
          <p:nvPr/>
        </p:nvSpPr>
        <p:spPr>
          <a:xfrm xmlns:a="http://schemas.openxmlformats.org/drawingml/2006/main">
            <a:off x="3467100" y="254317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Sign one transaction</a:t>
            </a:r>
            <a:endParaRPr sz="1600">
              <a:latin typeface="Inter"/>
              <a:ea typeface="Inter"/>
              <a:cs typeface="Inter"/>
            </a:endParaRPr>
          </a:p>
        </p:txBody>
      </p:sp>
      <p:sp>
        <p:nvSpPr>
          <p:cNvPr id="89" name="Google Shape;89;p15">
            <a:extLst xmlns:a="http://schemas.openxmlformats.org/drawingml/2006/main">
              <a:ext uri="{FF2B5EF4-FFF2-40B4-BE49-F238E27FC236}">
                <a16:creationId xmlns:a16="http://schemas.microsoft.com/office/drawing/2014/main" id="{893ED2BF-82D4-4C5D-B69B-A7C240A163AA}"/>
              </a:ext>
            </a:extLst>
          </p:cNvPr>
          <p:cNvSpPr>
            <a:spLocks xmlns:a="http://schemas.openxmlformats.org/drawingml/2006/main" noGrp="1"/>
          </p:cNvSpPr>
          <p:nvPr/>
        </p:nvSpPr>
        <p:spPr>
          <a:xfrm xmlns:a="http://schemas.openxmlformats.org/drawingml/2006/main">
            <a:off x="2688283" y="3025409"/>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03</a:t>
            </a:r>
            <a:endParaRPr sz="2100">
              <a:latin typeface="Inter"/>
              <a:ea typeface="Inter"/>
              <a:cs typeface="Inter"/>
            </a:endParaRPr>
          </a:p>
        </p:txBody>
      </p:sp>
      <p:sp>
        <p:nvSpPr>
          <p:cNvPr id="90" name="Google Shape;90;p15">
            <a:extLst xmlns:a="http://schemas.openxmlformats.org/drawingml/2006/main">
              <a:ext uri="{FF2B5EF4-FFF2-40B4-BE49-F238E27FC236}">
                <a16:creationId xmlns:a16="http://schemas.microsoft.com/office/drawing/2014/main" id="{746A4B8F-6997-4461-BB8F-56C5B8D230C1}"/>
              </a:ext>
            </a:extLst>
          </p:cNvPr>
          <p:cNvSpPr>
            <a:spLocks xmlns:a="http://schemas.openxmlformats.org/drawingml/2006/main" noGrp="1"/>
          </p:cNvSpPr>
          <p:nvPr/>
        </p:nvSpPr>
        <p:spPr>
          <a:xfrm xmlns:a="http://schemas.openxmlformats.org/drawingml/2006/main">
            <a:off x="3467100" y="321945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Grant a scoped session</a:t>
            </a:r>
            <a:endParaRPr sz="1600">
              <a:latin typeface="Inter"/>
              <a:ea typeface="Inter"/>
              <a:cs typeface="Inter"/>
            </a:endParaRPr>
          </a:p>
        </p:txBody>
      </p:sp>
      <p:sp>
        <p:nvSpPr>
          <p:cNvPr id="92" name="Google Shape;92;p15">
            <a:extLst xmlns:a="http://schemas.openxmlformats.org/drawingml/2006/main">
              <a:ext uri="{FF2B5EF4-FFF2-40B4-BE49-F238E27FC236}">
                <a16:creationId xmlns:a16="http://schemas.microsoft.com/office/drawing/2014/main" id="{A5CA518E-F82A-4A2B-8DFF-2DC55C2D943D}"/>
              </a:ext>
            </a:extLst>
          </p:cNvPr>
          <p:cNvSpPr>
            <a:spLocks xmlns:a="http://schemas.openxmlformats.org/drawingml/2006/main" noGrp="1"/>
          </p:cNvSpPr>
          <p:nvPr/>
        </p:nvSpPr>
        <p:spPr>
          <a:xfrm xmlns:a="http://schemas.openxmlformats.org/drawingml/2006/main">
            <a:off x="2688283" y="3710197"/>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04</a:t>
            </a:r>
            <a:endParaRPr sz="2100">
              <a:latin typeface="Inter"/>
              <a:ea typeface="Inter"/>
              <a:cs typeface="Inter"/>
            </a:endParaRPr>
          </a:p>
        </p:txBody>
      </p:sp>
      <p:sp>
        <p:nvSpPr>
          <p:cNvPr id="93" name="Google Shape;93;p15">
            <a:extLst xmlns:a="http://schemas.openxmlformats.org/drawingml/2006/main">
              <a:ext uri="{FF2B5EF4-FFF2-40B4-BE49-F238E27FC236}">
                <a16:creationId xmlns:a16="http://schemas.microsoft.com/office/drawing/2014/main" id="{AA1ACF90-07BC-446C-ACC0-2A4D47C2CCCD}"/>
              </a:ext>
            </a:extLst>
          </p:cNvPr>
          <p:cNvSpPr>
            <a:spLocks xmlns:a="http://schemas.openxmlformats.org/drawingml/2006/main" noGrp="1"/>
          </p:cNvSpPr>
          <p:nvPr/>
        </p:nvSpPr>
        <p:spPr>
          <a:xfrm xmlns:a="http://schemas.openxmlformats.org/drawingml/2006/main">
            <a:off x="3467100" y="389572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Recovery stays in Nido</a:t>
            </a:r>
            <a:endParaRPr sz="1600">
              <a:latin typeface="Inter"/>
              <a:ea typeface="Inter"/>
              <a:cs typeface="Inter"/>
            </a:endParaRPr>
          </a:p>
        </p:txBody>
      </p:sp>
      <p:pic>
        <p:nvPicPr>
          <p:cNvPr id="95" name="Google Shape;95;p15">
            <a:extLst xmlns:a="http://schemas.openxmlformats.org/drawingml/2006/main">
              <a:ext uri="{FF2B5EF4-FFF2-40B4-BE49-F238E27FC236}">
                <a16:creationId xmlns:a16="http://schemas.microsoft.com/office/drawing/2014/main" id="{0934F2B7-3010-40C7-BACE-21D153FDB80C}"/>
              </a:ext>
            </a:extLst>
          </p:cNvPr>
          <p:cNvPicPr>
            <a:picLocks xmlns:a="http://schemas.openxmlformats.org/drawingml/2006/main" noChangeAspect="1"/>
          </p:cNvPicPr>
          <p:nvPr/>
        </p:nvPicPr>
        <p:blipFill>
          <a:blip xmlns:r="http://schemas.openxmlformats.org/officeDocument/2006/relationships" xmlns:a="http://schemas.openxmlformats.org/drawingml/2006/main" r:embed="R89fc6c61e8254d4f">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96" name="Google Shape;96;p15">
            <a:extLst xmlns:a="http://schemas.openxmlformats.org/drawingml/2006/main">
              <a:ext uri="{FF2B5EF4-FFF2-40B4-BE49-F238E27FC236}">
                <a16:creationId xmlns:a16="http://schemas.microsoft.com/office/drawing/2014/main" id="{9817DA67-C9AA-4A78-B6EE-C7B8F45BDC7B}"/>
              </a:ext>
            </a:extLst>
          </p:cNvPr>
          <p:cNvPicPr>
            <a:picLocks xmlns:a="http://schemas.openxmlformats.org/drawingml/2006/main" noChangeAspect="1"/>
          </p:cNvPicPr>
          <p:nvPr/>
        </p:nvPicPr>
        <p:blipFill>
          <a:blip xmlns:r="http://schemas.openxmlformats.org/officeDocument/2006/relationships" xmlns:a="http://schemas.openxmlformats.org/drawingml/2006/main" r:embed="Re96cfa0dea80446c">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0757742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A PASSKEY ACCOUNT</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The C-address exists first</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W A L K T H R O U G H   ·   S I G N   I N</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One passkey ceremony</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5 test XLM, fees sponsored</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d31f80deaee44075">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069b16c3c589415f">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3138383C-CD4C-4EC6-B83B-271694CCE3F3}"/>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RESERVE</a:t>
            </a:r>
          </a:p>
        </p:txBody>
      </p:sp>
      <p:sp>
        <p:nvSpPr>
          <p:cNvPr id="189" name="">
            <a:extLst xmlns:a="http://schemas.openxmlformats.org/drawingml/2006/main">
              <a:ext uri="{FF2B5EF4-FFF2-40B4-BE49-F238E27FC236}">
                <a16:creationId xmlns:a16="http://schemas.microsoft.com/office/drawing/2014/main" id="{3F3AE0C5-EC1F-416A-92B4-8125DF367585}"/>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LOCK</a:t>
            </a:r>
          </a:p>
        </p:txBody>
      </p:sp>
      <p:sp>
        <p:nvSpPr>
          <p:cNvPr id="190" name="">
            <a:extLst xmlns:a="http://schemas.openxmlformats.org/drawingml/2006/main">
              <a:ext uri="{FF2B5EF4-FFF2-40B4-BE49-F238E27FC236}">
                <a16:creationId xmlns:a16="http://schemas.microsoft.com/office/drawing/2014/main" id="{3F1BBD36-7A2C-4261-B8EC-350A27C56F8B}"/>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FUNDED</a:t>
            </a:r>
          </a:p>
        </p:txBody>
      </p:sp>
      <p:pic>
        <p:nvPicPr>
          <p:cNvPr id="191" name="">
            <a:extLst xmlns:a="http://schemas.openxmlformats.org/drawingml/2006/main">
              <a:ext uri="{FF2B5EF4-FFF2-40B4-BE49-F238E27FC236}">
                <a16:creationId xmlns:a16="http://schemas.microsoft.com/office/drawing/2014/main" id="{1CB2D17C-B174-49FC-B2B4-D89D86977A89}"/>
              </a:ext>
            </a:extLst>
          </p:cNvPr>
          <p:cNvPicPr>
            <a:picLocks xmlns:a="http://schemas.openxmlformats.org/drawingml/2006/main" noChangeAspect="1"/>
          </p:cNvPicPr>
          <p:nvPr/>
        </p:nvPicPr>
        <p:blipFill>
          <a:blip xmlns:r="http://schemas.openxmlformats.org/officeDocument/2006/relationships" xmlns:a="http://schemas.openxmlformats.org/drawingml/2006/main" r:embed="Rec270123e3334066"/>
          <a:srcRect xmlns:a="http://schemas.openxmlformats.org/drawingml/2006/main" l="34000" t="13000" r="34000" b="12000"/>
          <a:stretch xmlns:a="http://schemas.openxmlformats.org/drawingml/2006/main"/>
        </p:blipFill>
        <p:spPr>
          <a:xfrm xmlns:a="http://schemas.openxmlformats.org/drawingml/2006/main">
            <a:off x="1662693" y="1619250"/>
            <a:ext cx="2180065" cy="2686050"/>
          </a:xfrm>
          <a:prstGeom xmlns:a="http://schemas.openxmlformats.org/drawingml/2006/main" prst="rect">
            <a:avLst/>
          </a:prstGeom>
        </p:spPr>
      </p:pic>
      <p:sp>
        <p:nvSpPr>
          <p:cNvPr id="192" name="">
            <a:extLst xmlns:a="http://schemas.openxmlformats.org/drawingml/2006/main">
              <a:ext uri="{FF2B5EF4-FFF2-40B4-BE49-F238E27FC236}">
                <a16:creationId xmlns:a16="http://schemas.microsoft.com/office/drawing/2014/main" id="{FB5F4600-27CB-4C64-98E6-F3C5F28E708F}"/>
              </a:ext>
            </a:extLst>
          </p:cNvPr>
          <p:cNvSpPr>
            <a:spLocks xmlns:a="http://schemas.openxmlformats.org/drawingml/2006/main" noGrp="1"/>
          </p:cNvSpPr>
          <p:nvPr/>
        </p:nvSpPr>
        <p:spPr>
          <a:xfrm xmlns:a="http://schemas.openxmlformats.org/drawingml/2006/main">
            <a:off x="657225" y="43624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FDDA24"/>
                </a:solidFill>
                <a:latin typeface="Inter"/>
                <a:ea typeface="Inter"/>
                <a:cs typeface="Inter"/>
              </a:rPr>
              <a:t>test.nido.fyi on testnet</a:t>
            </a:r>
          </a:p>
        </p:txBody>
      </p:sp>
    </p:spTree>
    <p:extLst>
      <p:ext uri="{BB962C8B-B14F-4D97-AF65-F5344CB8AC3E}">
        <p14:creationId xmlns:p14="http://schemas.microsoft.com/office/powerpoint/2010/main" val="1296078070"/>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CONNECT, THEN ASK ONCE</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From the usual wallet list</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W A L K T H R O U G H   ·   C O N N E C T</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C-address and its XLM balance</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Two rules, two confirmations</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a6ee601a54b449a1">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14e9d0bb7e6547d7">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4B0BF695-F78E-4876-B17A-DF8AD2CED687}"/>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PICK NIDO</a:t>
            </a:r>
          </a:p>
        </p:txBody>
      </p:sp>
      <p:sp>
        <p:nvSpPr>
          <p:cNvPr id="189" name="">
            <a:extLst xmlns:a="http://schemas.openxmlformats.org/drawingml/2006/main">
              <a:ext uri="{FF2B5EF4-FFF2-40B4-BE49-F238E27FC236}">
                <a16:creationId xmlns:a16="http://schemas.microsoft.com/office/drawing/2014/main" id="{2211BFDA-12F9-4650-B883-9B4B033A0A37}"/>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THE ACCOUNT</a:t>
            </a:r>
          </a:p>
        </p:txBody>
      </p:sp>
      <p:sp>
        <p:nvSpPr>
          <p:cNvPr id="190" name="">
            <a:extLst xmlns:a="http://schemas.openxmlformats.org/drawingml/2006/main">
              <a:ext uri="{FF2B5EF4-FFF2-40B4-BE49-F238E27FC236}">
                <a16:creationId xmlns:a16="http://schemas.microsoft.com/office/drawing/2014/main" id="{C3C97A40-337F-463C-BA7C-7804EEC08373}"/>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ONE REQUEST</a:t>
            </a:r>
          </a:p>
        </p:txBody>
      </p:sp>
      <p:pic>
        <p:nvPicPr>
          <p:cNvPr id="191" name="">
            <a:extLst xmlns:a="http://schemas.openxmlformats.org/drawingml/2006/main">
              <a:ext uri="{FF2B5EF4-FFF2-40B4-BE49-F238E27FC236}">
                <a16:creationId xmlns:a16="http://schemas.microsoft.com/office/drawing/2014/main" id="{CC58BE8C-C140-4822-8536-AC576E9A64D0}"/>
              </a:ext>
            </a:extLst>
          </p:cNvPr>
          <p:cNvPicPr>
            <a:picLocks xmlns:a="http://schemas.openxmlformats.org/drawingml/2006/main" noChangeAspect="1"/>
          </p:cNvPicPr>
          <p:nvPr/>
        </p:nvPicPr>
        <p:blipFill>
          <a:blip xmlns:r="http://schemas.openxmlformats.org/officeDocument/2006/relationships" xmlns:a="http://schemas.openxmlformats.org/drawingml/2006/main" r:embed="Rb8ab260ad58c4031"/>
          <a:srcRect xmlns:a="http://schemas.openxmlformats.org/drawingml/2006/main" l="17000" t="0" r="17000" b="2000"/>
          <a:stretch xmlns:a="http://schemas.openxmlformats.org/drawingml/2006/main"/>
        </p:blipFill>
        <p:spPr>
          <a:xfrm xmlns:a="http://schemas.openxmlformats.org/drawingml/2006/main">
            <a:off x="1032170" y="1619250"/>
            <a:ext cx="3441110" cy="2686050"/>
          </a:xfrm>
          <a:prstGeom xmlns:a="http://schemas.openxmlformats.org/drawingml/2006/main" prst="rect">
            <a:avLst/>
          </a:prstGeom>
        </p:spPr>
      </p:pic>
      <p:sp>
        <p:nvSpPr>
          <p:cNvPr id="192" name="">
            <a:extLst xmlns:a="http://schemas.openxmlformats.org/drawingml/2006/main">
              <a:ext uri="{FF2B5EF4-FFF2-40B4-BE49-F238E27FC236}">
                <a16:creationId xmlns:a16="http://schemas.microsoft.com/office/drawing/2014/main" id="{869A76C3-B95E-4730-AC07-D4057B89DBCD}"/>
              </a:ext>
            </a:extLst>
          </p:cNvPr>
          <p:cNvSpPr>
            <a:spLocks xmlns:a="http://schemas.openxmlformats.org/drawingml/2006/main" noGrp="1"/>
          </p:cNvSpPr>
          <p:nvPr/>
        </p:nvSpPr>
        <p:spPr>
          <a:xfrm xmlns:a="http://schemas.openxmlformats.org/drawingml/2006/main">
            <a:off x="657225" y="43624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FDDA24"/>
                </a:solidFill>
                <a:latin typeface="Inter"/>
                <a:ea typeface="Inter"/>
                <a:cs typeface="Inter"/>
              </a:rPr>
              <a:t>Kudos Jar, running locally</a:t>
            </a:r>
          </a:p>
        </p:txBody>
      </p:sp>
    </p:spTree>
    <p:extLst>
      <p:ext uri="{BB962C8B-B14F-4D97-AF65-F5344CB8AC3E}">
        <p14:creationId xmlns:p14="http://schemas.microsoft.com/office/powerpoint/2010/main" val="129607807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THE ACCOUNT’S POLICY</a:t>
            </a:r>
            <a:endParaRPr sz="3000">
              <a:solidFill>
                <a:schemeClr val="lt1"/>
              </a:solidFill>
              <a:latin typeface="Inter SemiBold"/>
              <a:ea typeface="Inter SemiBold"/>
              <a:cs typeface="Inter SemiBold"/>
            </a:endParaRPr>
          </a:p>
        </p:txBody>
      </p:sp>
      <p:sp>
        <p:nvSpPr>
          <p:cNvPr id="177" name="Google Shape;177;p22">
            <a:extLst xmlns:a="http://schemas.openxmlformats.org/drawingml/2006/main">
              <a:ext uri="{FF2B5EF4-FFF2-40B4-BE49-F238E27FC236}">
                <a16:creationId xmlns:a16="http://schemas.microsoft.com/office/drawing/2014/main" id="{CEBE5702-7C68-414E-AE3A-6E7EE16F06B5}"/>
              </a:ext>
            </a:extLst>
          </p:cNvPr>
          <p:cNvSpPr>
            <a:spLocks xmlns:a="http://schemas.openxmlformats.org/drawingml/2006/main" noGrp="1"/>
          </p:cNvSpPr>
          <p:nvPr/>
        </p:nvSpPr>
        <p:spPr>
          <a:xfrm xmlns:a="http://schemas.openxmlformats.org/drawingml/2006/main">
            <a:off x="5219700" y="2047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Hash verified against the chain</a:t>
            </a:r>
            <a:endParaRPr>
              <a:solidFill>
                <a:schemeClr val="lt1"/>
              </a:solidFill>
              <a:latin typeface="Inter Light"/>
              <a:ea typeface="Inter Light"/>
              <a:cs typeface="Inter Light"/>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A F T E R W A R D S</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81" name="Google Shape;181;p22">
            <a:extLst xmlns:a="http://schemas.openxmlformats.org/drawingml/2006/main">
              <a:ext uri="{FF2B5EF4-FFF2-40B4-BE49-F238E27FC236}">
                <a16:creationId xmlns:a16="http://schemas.microsoft.com/office/drawing/2014/main" id="{D47B71CA-2E07-4B7F-A4F4-B99846D2B35B}"/>
              </a:ext>
            </a:extLst>
          </p:cNvPr>
          <p:cNvSpPr>
            <a:spLocks xmlns:a="http://schemas.openxmlformats.org/drawingml/2006/main" noGrp="1"/>
          </p:cNvSpPr>
          <p:nvPr/>
        </p:nvSpPr>
        <p:spPr>
          <a:xfrm xmlns:a="http://schemas.openxmlformats.org/drawingml/2006/main">
            <a:off x="5219700" y="30003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admin, kudos-tip, kudos-xlm</a:t>
            </a:r>
            <a:endParaRPr>
              <a:solidFill>
                <a:schemeClr val="lt1"/>
              </a:solidFill>
              <a:latin typeface="Inter Light"/>
              <a:ea typeface="Inter Light"/>
              <a:cs typeface="Inter Light"/>
            </a:endParaRPr>
          </a:p>
        </p:txBody>
      </p:sp>
      <p:sp>
        <p:nvSpPr>
          <p:cNvPr id="183" name="Google Shape;183;p22">
            <a:extLst xmlns:a="http://schemas.openxmlformats.org/drawingml/2006/main">
              <a:ext uri="{FF2B5EF4-FFF2-40B4-BE49-F238E27FC236}">
                <a16:creationId xmlns:a16="http://schemas.microsoft.com/office/drawing/2014/main" id="{0C444E9A-ECA2-44D7-BF11-F0D68CA10185}"/>
              </a:ext>
            </a:extLst>
          </p:cNvPr>
          <p:cNvSpPr>
            <a:spLocks xmlns:a="http://schemas.openxmlformats.org/drawingml/2006/main" noGrp="1"/>
          </p:cNvSpPr>
          <p:nvPr/>
        </p:nvSpPr>
        <p:spPr>
          <a:xfrm xmlns:a="http://schemas.openxmlformats.org/drawingml/2006/main">
            <a:off x="5219700" y="3952875"/>
            <a:ext cx="3333750" cy="41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500">
                <a:solidFill>
                  <a:srgbClr val="FFFFFF"/>
                </a:solidFill>
              </a:defRPr>
            </a:defPPr>
          </a:lstStyle>
          <a:p xmlns:a="http://schemas.openxmlformats.org/drawingml/2006/main">
            <a:pPr marL="0" lvl="0" indent="0" algn="l">
              <a:spcBef>
                <a:spcPts val="0"/>
              </a:spcBef>
              <a:spcAft>
                <a:spcPts val="0"/>
              </a:spcAft>
              <a:buNone/>
              <a:defRPr sz="1500">
                <a:solidFill>
                  <a:srgbClr val="FFFFFF"/>
                </a:solidFill>
              </a:defRPr>
            </a:pPr>
            <a:r>
              <a:rPr sz="1500">
                <a:solidFill>
                  <a:srgbClr val="FFFFFF"/>
                </a:solidFill>
                <a:latin typeface="Inter Light"/>
                <a:ea typeface="Inter Light"/>
                <a:cs typeface="Inter Light"/>
              </a:rPr>
              <a:t>A passkey and the app’s key</a:t>
            </a:r>
            <a:endParaRPr>
              <a:solidFill>
                <a:schemeClr val="lt1"/>
              </a:solidFill>
              <a:latin typeface="Inter Light"/>
              <a:ea typeface="Inter Light"/>
              <a:cs typeface="Inter Light"/>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63e817bdc6b04a7e">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dbe11eb3f488491d">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A28BCD77-9E72-48B5-8E9C-8BCFDFD77226}"/>
              </a:ext>
            </a:extLst>
          </p:cNvPr>
          <p:cNvSpPr>
            <a:spLocks xmlns:a="http://schemas.openxmlformats.org/drawingml/2006/main" noGrp="1"/>
          </p:cNvSpPr>
          <p:nvPr/>
        </p:nvSpPr>
        <p:spPr>
          <a:xfrm xmlns:a="http://schemas.openxmlformats.org/drawingml/2006/main">
            <a:off x="5219700" y="1724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DOCUMENT</a:t>
            </a:r>
          </a:p>
        </p:txBody>
      </p:sp>
      <p:sp>
        <p:nvSpPr>
          <p:cNvPr id="189" name="">
            <a:extLst xmlns:a="http://schemas.openxmlformats.org/drawingml/2006/main">
              <a:ext uri="{FF2B5EF4-FFF2-40B4-BE49-F238E27FC236}">
                <a16:creationId xmlns:a16="http://schemas.microsoft.com/office/drawing/2014/main" id="{94ABD1A0-A7ED-452C-86B4-EED8DC57B49C}"/>
              </a:ext>
            </a:extLst>
          </p:cNvPr>
          <p:cNvSpPr>
            <a:spLocks xmlns:a="http://schemas.openxmlformats.org/drawingml/2006/main" noGrp="1"/>
          </p:cNvSpPr>
          <p:nvPr/>
        </p:nvSpPr>
        <p:spPr>
          <a:xfrm xmlns:a="http://schemas.openxmlformats.org/drawingml/2006/main">
            <a:off x="5219700" y="26765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RULES</a:t>
            </a:r>
          </a:p>
        </p:txBody>
      </p:sp>
      <p:sp>
        <p:nvSpPr>
          <p:cNvPr id="190" name="">
            <a:extLst xmlns:a="http://schemas.openxmlformats.org/drawingml/2006/main">
              <a:ext uri="{FF2B5EF4-FFF2-40B4-BE49-F238E27FC236}">
                <a16:creationId xmlns:a16="http://schemas.microsoft.com/office/drawing/2014/main" id="{39BC1AD8-AAD5-4FA7-B417-73309F5B60A4}"/>
              </a:ext>
            </a:extLst>
          </p:cNvPr>
          <p:cNvSpPr>
            <a:spLocks xmlns:a="http://schemas.openxmlformats.org/drawingml/2006/main" noGrp="1"/>
          </p:cNvSpPr>
          <p:nvPr/>
        </p:nvSpPr>
        <p:spPr>
          <a:xfrm xmlns:a="http://schemas.openxmlformats.org/drawingml/2006/main">
            <a:off x="5219700" y="36290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00" b="1">
                <a:solidFill>
                  <a:srgbClr val="FDDA24"/>
                </a:solidFill>
                <a:latin typeface="Inter"/>
                <a:ea typeface="Inter"/>
                <a:cs typeface="Inter"/>
              </a:rPr>
              <a:t>KEYS</a:t>
            </a:r>
          </a:p>
        </p:txBody>
      </p:sp>
      <p:pic>
        <p:nvPicPr>
          <p:cNvPr id="191" name="">
            <a:extLst xmlns:a="http://schemas.openxmlformats.org/drawingml/2006/main">
              <a:ext uri="{FF2B5EF4-FFF2-40B4-BE49-F238E27FC236}">
                <a16:creationId xmlns:a16="http://schemas.microsoft.com/office/drawing/2014/main" id="{70E6EFED-4273-40EF-A29D-CDE3FFF67926}"/>
              </a:ext>
            </a:extLst>
          </p:cNvPr>
          <p:cNvPicPr>
            <a:picLocks xmlns:a="http://schemas.openxmlformats.org/drawingml/2006/main" noChangeAspect="1"/>
          </p:cNvPicPr>
          <p:nvPr/>
        </p:nvPicPr>
        <p:blipFill>
          <a:blip xmlns:r="http://schemas.openxmlformats.org/officeDocument/2006/relationships" xmlns:a="http://schemas.openxmlformats.org/drawingml/2006/main" r:embed="Rce267603aa924fb2"/>
          <a:srcRect xmlns:a="http://schemas.openxmlformats.org/drawingml/2006/main" l="41000" t="8000" r="23000" b="38000"/>
          <a:stretch xmlns:a="http://schemas.openxmlformats.org/drawingml/2006/main"/>
        </p:blipFill>
        <p:spPr>
          <a:xfrm xmlns:a="http://schemas.openxmlformats.org/drawingml/2006/main">
            <a:off x="1049549" y="1619250"/>
            <a:ext cx="3406351" cy="2686050"/>
          </a:xfrm>
          <a:prstGeom xmlns:a="http://schemas.openxmlformats.org/drawingml/2006/main" prst="rect">
            <a:avLst/>
          </a:prstGeom>
        </p:spPr>
      </p:pic>
      <p:sp>
        <p:nvSpPr>
          <p:cNvPr id="192" name="">
            <a:extLst xmlns:a="http://schemas.openxmlformats.org/drawingml/2006/main">
              <a:ext uri="{FF2B5EF4-FFF2-40B4-BE49-F238E27FC236}">
                <a16:creationId xmlns:a16="http://schemas.microsoft.com/office/drawing/2014/main" id="{F3EDAB3C-0C71-4176-929E-60BC3AAEFB0F}"/>
              </a:ext>
            </a:extLst>
          </p:cNvPr>
          <p:cNvSpPr>
            <a:spLocks xmlns:a="http://schemas.openxmlformats.org/drawingml/2006/main" noGrp="1"/>
          </p:cNvSpPr>
          <p:nvPr/>
        </p:nvSpPr>
        <p:spPr>
          <a:xfrm xmlns:a="http://schemas.openxmlformats.org/drawingml/2006/main">
            <a:off x="657225" y="43624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125" b="0">
                <a:solidFill>
                  <a:srgbClr val="FDDA24"/>
                </a:solidFill>
                <a:latin typeface="Inter"/>
                <a:ea typeface="Inter"/>
                <a:cs typeface="Inter"/>
              </a:rPr>
              <a:t>Nido’s policy page</a:t>
            </a:r>
          </a:p>
        </p:txBody>
      </p:sp>
    </p:spTree>
    <p:extLst>
      <p:ext uri="{BB962C8B-B14F-4D97-AF65-F5344CB8AC3E}">
        <p14:creationId xmlns:p14="http://schemas.microsoft.com/office/powerpoint/2010/main" val="129607807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22">
            <a:extLst xmlns:a="http://schemas.openxmlformats.org/drawingml/2006/main">
              <a:ext uri="{FF2B5EF4-FFF2-40B4-BE49-F238E27FC236}">
                <a16:creationId xmlns:a16="http://schemas.microsoft.com/office/drawing/2014/main" id="{AE759B01-E724-4F4B-B380-FAE4BEB0BF9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22">
            <a:extLst xmlns:a="http://schemas.openxmlformats.org/drawingml/2006/main">
              <a:ext uri="{FF2B5EF4-FFF2-40B4-BE49-F238E27FC236}">
                <a16:creationId xmlns:a16="http://schemas.microsoft.com/office/drawing/2014/main" id="{BF41D9EB-8A4F-43CD-BA58-EE3351C6D35F}"/>
              </a:ext>
            </a:extLst>
          </p:cNvPr>
          <p:cNvSpPr>
            <a:spLocks xmlns:a="http://schemas.openxmlformats.org/drawingml/2006/main" noGrp="1"/>
          </p:cNvSpPr>
          <p:nvPr/>
        </p:nvSpPr>
        <p:spPr>
          <a:xfrm xmlns:a="http://schemas.openxmlformats.org/drawingml/2006/main">
            <a:off x="657225" y="914400"/>
            <a:ext cx="781050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000"/>
            </a:defPPr>
          </a:lstStyle>
          <a:p xmlns:a="http://schemas.openxmlformats.org/drawingml/2006/main">
            <a:pPr marL="0" lvl="0" indent="0" algn="l">
              <a:spcBef>
                <a:spcPts val="0"/>
              </a:spcBef>
              <a:spcAft>
                <a:spcPts val="0"/>
              </a:spcAft>
              <a:buNone/>
              <a:defRPr sz="3000"/>
            </a:pPr>
            <a:r>
              <a:rPr sz="3000">
                <a:solidFill>
                  <a:schemeClr val="lt1"/>
                </a:solidFill>
                <a:latin typeface="Inter SemiBold"/>
                <a:ea typeface="Inter SemiBold"/>
                <a:cs typeface="Inter SemiBold"/>
              </a:rPr>
              <a:t>THE CODE THAT MATTERS</a:t>
            </a:r>
            <a:endParaRPr sz="3000">
              <a:solidFill>
                <a:schemeClr val="lt1"/>
              </a:solidFill>
              <a:latin typeface="Inter SemiBold"/>
              <a:ea typeface="Inter SemiBold"/>
              <a:cs typeface="Inter SemiBold"/>
            </a:endParaRPr>
          </a:p>
        </p:txBody>
      </p:sp>
      <p:sp>
        <p:nvSpPr>
          <p:cNvPr id="178" name="Google Shape;178;p22">
            <a:extLst xmlns:a="http://schemas.openxmlformats.org/drawingml/2006/main">
              <a:ext uri="{FF2B5EF4-FFF2-40B4-BE49-F238E27FC236}">
                <a16:creationId xmlns:a16="http://schemas.microsoft.com/office/drawing/2014/main" id="{68DB00D6-640F-4B07-81C4-C67A191BD56B}"/>
              </a:ext>
            </a:extLst>
          </p:cNvPr>
          <p:cNvSpPr>
            <a:spLocks xmlns:a="http://schemas.openxmlformats.org/drawingml/2006/main" noGrp="1"/>
          </p:cNvSpPr>
          <p:nvPr/>
        </p:nvSpPr>
        <p:spPr>
          <a:xfrm xmlns:a="http://schemas.openxmlformats.org/drawingml/2006/main">
            <a:off x="514350" y="314325"/>
            <a:ext cx="619125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lt1"/>
                </a:solidFill>
                <a:latin typeface="Inter"/>
                <a:ea typeface="Inter"/>
                <a:cs typeface="Inter"/>
              </a:rPr>
              <a:t>T H E   R E A C T   C A L L   S I T E</a:t>
            </a:r>
            <a:endParaRPr sz="900" b="1">
              <a:solidFill>
                <a:schemeClr val="lt1"/>
              </a:solidFill>
              <a:latin typeface="Inter"/>
              <a:ea typeface="Inter"/>
              <a:cs typeface="Inter"/>
            </a:endParaRPr>
          </a:p>
        </p:txBody>
      </p:sp>
      <p:sp>
        <p:nvSpPr>
          <p:cNvPr id="179" name="Google Shape;179;p22">
            <a:extLst xmlns:a="http://schemas.openxmlformats.org/drawingml/2006/main">
              <a:ext uri="{FF2B5EF4-FFF2-40B4-BE49-F238E27FC236}">
                <a16:creationId xmlns:a16="http://schemas.microsoft.com/office/drawing/2014/main" id="{6757E1EC-C109-4B11-8D78-24A42DF0D6EC}"/>
              </a:ext>
            </a:extLst>
          </p:cNvPr>
          <p:cNvSpPr>
            <a:spLocks xmlns:a="http://schemas.openxmlformats.org/drawingml/2006/main" noGrp="1"/>
          </p:cNvSpPr>
          <p:nvPr/>
        </p:nvSpPr>
        <p:spPr>
          <a:xfrm xmlns:a="http://schemas.openxmlformats.org/drawingml/2006/main">
            <a:off x="0" y="0"/>
            <a:ext cx="306705" cy="51435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86" name="Google Shape;186;p22">
            <a:extLst xmlns:a="http://schemas.openxmlformats.org/drawingml/2006/main">
              <a:ext uri="{FF2B5EF4-FFF2-40B4-BE49-F238E27FC236}">
                <a16:creationId xmlns:a16="http://schemas.microsoft.com/office/drawing/2014/main" id="{4D303497-3A5E-497A-AA83-36F274AC4997}"/>
              </a:ext>
            </a:extLst>
          </p:cNvPr>
          <p:cNvPicPr>
            <a:picLocks xmlns:a="http://schemas.openxmlformats.org/drawingml/2006/main" noChangeAspect="1"/>
          </p:cNvPicPr>
          <p:nvPr/>
        </p:nvPicPr>
        <p:blipFill>
          <a:blip xmlns:r="http://schemas.openxmlformats.org/officeDocument/2006/relationships" xmlns:a="http://schemas.openxmlformats.org/drawingml/2006/main" r:embed="Re7732429a7fb4e79">
            <a:alphaModFix/>
          </a:blip>
          <a:stretch xmlns:a="http://schemas.openxmlformats.org/drawingml/2006/main">
            <a:fillRect l="0" t="0" r="0" b="0"/>
          </a:stretch>
        </p:blipFill>
        <p:spPr>
          <a:xfrm xmlns:a="http://schemas.openxmlformats.org/drawingml/2006/main">
            <a:off x="7746259" y="259617"/>
            <a:ext cx="1149929" cy="200042"/>
          </a:xfrm>
          <a:prstGeom xmlns:a="http://schemas.openxmlformats.org/drawingml/2006/main" prst="rect">
            <a:avLst/>
          </a:prstGeom>
          <a:ln xmlns:a="http://schemas.openxmlformats.org/drawingml/2006/main">
            <a:noFill/>
          </a:ln>
        </p:spPr>
      </p:pic>
      <p:pic>
        <p:nvPicPr>
          <p:cNvPr id="187" name="Google Shape;187;p22">
            <a:extLst xmlns:a="http://schemas.openxmlformats.org/drawingml/2006/main">
              <a:ext uri="{FF2B5EF4-FFF2-40B4-BE49-F238E27FC236}">
                <a16:creationId xmlns:a16="http://schemas.microsoft.com/office/drawing/2014/main" id="{2CCC60E9-22B3-438C-A04A-72C839922731}"/>
              </a:ext>
            </a:extLst>
          </p:cNvPr>
          <p:cNvPicPr>
            <a:picLocks xmlns:a="http://schemas.openxmlformats.org/drawingml/2006/main" noChangeAspect="1"/>
          </p:cNvPicPr>
          <p:nvPr/>
        </p:nvPicPr>
        <p:blipFill>
          <a:blip xmlns:r="http://schemas.openxmlformats.org/officeDocument/2006/relationships" xmlns:a="http://schemas.openxmlformats.org/drawingml/2006/main" r:embed="R38235de95bbb4662">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
        <p:nvSpPr>
          <p:cNvPr id="188" name="">
            <a:extLst xmlns:a="http://schemas.openxmlformats.org/drawingml/2006/main">
              <a:ext uri="{FF2B5EF4-FFF2-40B4-BE49-F238E27FC236}">
                <a16:creationId xmlns:a16="http://schemas.microsoft.com/office/drawing/2014/main" id="{819A64AC-7E15-47A5-9452-79C1DB16D80A}"/>
              </a:ext>
            </a:extLst>
          </p:cNvPr>
          <p:cNvSpPr>
            <a:spLocks xmlns:a="http://schemas.openxmlformats.org/drawingml/2006/main" noGrp="1"/>
          </p:cNvSpPr>
          <p:nvPr/>
        </p:nvSpPr>
        <p:spPr>
          <a:xfrm xmlns:a="http://schemas.openxmlformats.org/drawingml/2006/main">
            <a:off x="657225" y="1638300"/>
            <a:ext cx="78962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725" b="0">
                <a:solidFill>
                  <a:srgbClr val="FFFFFF"/>
                </a:solidFill>
                <a:latin typeface="Inter"/>
                <a:ea typeface="Inter"/>
                <a:cs typeface="Inter"/>
              </a:rPr>
              <a:t>const tx = await kudosJar.tip(</a:t>
            </a:r>
            <a:br>
              <a:rPr sz="1725" b="0">
                <a:solidFill>
                  <a:srgbClr val="FFFFFF"/>
                </a:solidFill>
                <a:latin typeface="Inter"/>
                <a:ea typeface="Inter"/>
                <a:cs typeface="Inter"/>
              </a:rPr>
            </a:br>
            <a:r>
              <a:rPr sz="1725" b="0">
                <a:solidFill>
                  <a:srgbClr val="FFFFFF"/>
                </a:solidFill>
                <a:latin typeface="Inter"/>
                <a:ea typeface="Inter"/>
                <a:cs typeface="Inter"/>
              </a:rPr>
              <a:t>  { from: address, team: team.id, amount: 5_000_000n },</a:t>
            </a:r>
            <a:br>
              <a:rPr sz="1725" b="0">
                <a:solidFill>
                  <a:srgbClr val="FFFFFF"/>
                </a:solidFill>
                <a:latin typeface="Inter"/>
                <a:ea typeface="Inter"/>
                <a:cs typeface="Inter"/>
              </a:rPr>
            </a:br>
            <a:r>
              <a:rPr sz="1725" b="0">
                <a:solidFill>
                  <a:srgbClr val="FFFFFF"/>
                </a:solidFill>
                <a:latin typeface="Inter"/>
                <a:ea typeface="Inter"/>
                <a:cs typeface="Inter"/>
              </a:rPr>
              <a:t>  { publicKey: transactionSource(address) },</a:t>
            </a:r>
            <a:br>
              <a:rPr sz="1725" b="0">
                <a:solidFill>
                  <a:srgbClr val="FFFFFF"/>
                </a:solidFill>
                <a:latin typeface="Inter"/>
                <a:ea typeface="Inter"/>
                <a:cs typeface="Inter"/>
              </a:rPr>
            </a:br>
            <a:r>
              <a:rPr sz="1725" b="0">
                <a:solidFill>
                  <a:srgbClr val="FFFFFF"/>
                </a:solidFill>
                <a:latin typeface="Inter"/>
                <a:ea typeface="Inter"/>
                <a:cs typeface="Inter"/>
              </a:rPr>
              <a:t>)</a:t>
            </a:r>
            <a:br>
              <a:rPr sz="1725" b="0">
                <a:solidFill>
                  <a:srgbClr val="FFFFFF"/>
                </a:solidFill>
                <a:latin typeface="Inter"/>
                <a:ea typeface="Inter"/>
                <a:cs typeface="Inter"/>
              </a:rPr>
            </a:br>
            <a:r>
              <a:rPr sz="1725" b="0">
                <a:solidFill>
                  <a:srgbClr val="FFFFFF"/>
                </a:solidFill>
                <a:latin typeface="Inter"/>
                <a:ea typeface="Inter"/>
                <a:cs typeface="Inter"/>
              </a:rPr>
              <a:t>const { result } = await submitContract(tx, address)</a:t>
            </a:r>
          </a:p>
        </p:txBody>
      </p:sp>
      <p:sp>
        <p:nvSpPr>
          <p:cNvPr id="189" name="">
            <a:extLst xmlns:a="http://schemas.openxmlformats.org/drawingml/2006/main">
              <a:ext uri="{FF2B5EF4-FFF2-40B4-BE49-F238E27FC236}">
                <a16:creationId xmlns:a16="http://schemas.microsoft.com/office/drawing/2014/main" id="{C0793BCE-F269-425B-8AB6-FF767536E2AE}"/>
              </a:ext>
            </a:extLst>
          </p:cNvPr>
          <p:cNvSpPr>
            <a:spLocks xmlns:a="http://schemas.openxmlformats.org/drawingml/2006/main" noGrp="1"/>
          </p:cNvSpPr>
          <p:nvPr/>
        </p:nvSpPr>
        <p:spPr>
          <a:xfrm xmlns:a="http://schemas.openxmlformats.org/drawingml/2006/main">
            <a:off x="657225" y="4333875"/>
            <a:ext cx="789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rPr sz="1275" b="0">
                <a:solidFill>
                  <a:srgbClr val="FDDA24"/>
                </a:solidFill>
                <a:latin typeface="Inter"/>
                <a:ea typeface="Inter"/>
                <a:cs typeface="Inter"/>
              </a:rPr>
              <a:t>transactionSource and submitContract are template helpers from @stellar-scaffold/app-lib.</a:t>
            </a:r>
          </a:p>
        </p:txBody>
      </p:sp>
    </p:spTree>
    <p:extLst>
      <p:ext uri="{BB962C8B-B14F-4D97-AF65-F5344CB8AC3E}">
        <p14:creationId xmlns:p14="http://schemas.microsoft.com/office/powerpoint/2010/main" val="12960780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20">
            <a:extLst xmlns:a="http://schemas.openxmlformats.org/drawingml/2006/main">
              <a:ext uri="{FF2B5EF4-FFF2-40B4-BE49-F238E27FC236}">
                <a16:creationId xmlns:a16="http://schemas.microsoft.com/office/drawing/2014/main" id="{DF8C0561-2FAE-4531-850C-4FF264366183}"/>
              </a:ext>
            </a:extLst>
          </p:cNvPr>
          <p:cNvSpPr>
            <a:spLocks xmlns:a="http://schemas.openxmlformats.org/drawingml/2006/main" noGrp="1"/>
          </p:cNvSpPr>
          <p:nvPr/>
        </p:nvSpPr>
        <p:spPr>
          <a:xfrm xmlns:a="http://schemas.openxmlformats.org/drawingml/2006/main">
            <a:off x="0" y="1489525"/>
            <a:ext cx="9144000" cy="36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7" name="Google Shape;147;p20">
            <a:extLst xmlns:a="http://schemas.openxmlformats.org/drawingml/2006/main">
              <a:ext uri="{FF2B5EF4-FFF2-40B4-BE49-F238E27FC236}">
                <a16:creationId xmlns:a16="http://schemas.microsoft.com/office/drawing/2014/main" id="{EF383876-131E-49CE-A712-088124D73625}"/>
              </a:ext>
            </a:extLst>
          </p:cNvPr>
          <p:cNvSpPr>
            <a:spLocks xmlns:a="http://schemas.openxmlformats.org/drawingml/2006/main" noGrp="1"/>
          </p:cNvSpPr>
          <p:nvPr/>
        </p:nvSpPr>
        <p:spPr>
          <a:xfrm xmlns:a="http://schemas.openxmlformats.org/drawingml/2006/main">
            <a:off x="466725" y="866775"/>
            <a:ext cx="817245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WHAT THE AGENT TRIPPED ON</a:t>
            </a:r>
            <a:endParaRPr sz="3900">
              <a:latin typeface="Inter Medium"/>
              <a:ea typeface="Inter Medium"/>
              <a:cs typeface="Inter Medium"/>
            </a:endParaRPr>
          </a:p>
        </p:txBody>
      </p:sp>
      <p:sp>
        <p:nvSpPr>
          <p:cNvPr id="148" name="Google Shape;148;p20">
            <a:extLst xmlns:a="http://schemas.openxmlformats.org/drawingml/2006/main">
              <a:ext uri="{FF2B5EF4-FFF2-40B4-BE49-F238E27FC236}">
                <a16:creationId xmlns:a16="http://schemas.microsoft.com/office/drawing/2014/main" id="{34E1A8D1-70A7-4201-A62E-8F1137AE3372}"/>
              </a:ext>
            </a:extLst>
          </p:cNvPr>
          <p:cNvSpPr>
            <a:spLocks xmlns:a="http://schemas.openxmlformats.org/drawingml/2006/main" noGrp="1"/>
          </p:cNvSpPr>
          <p:nvPr/>
        </p:nvSpPr>
        <p:spPr>
          <a:xfrm xmlns:a="http://schemas.openxmlformats.org/drawingml/2006/main">
            <a:off x="49530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SILENT TOOLS</a:t>
            </a:r>
          </a:p>
          <a:p xmlns:a="http://schemas.openxmlformats.org/drawingml/2006/main">
            <a:r>
              <a:rPr sz="1500" b="0">
                <a:solidFill>
                  <a:srgbClr val="FFFFFF"/>
                </a:solidFill>
                <a:latin typeface="Inter"/>
                <a:ea typeface="Inter"/>
                <a:cs typeface="Inter"/>
              </a:rPr>
              <a:t>Old Scaffold wrote no clients</a:t>
            </a:r>
          </a:p>
        </p:txBody>
      </p:sp>
      <p:sp>
        <p:nvSpPr>
          <p:cNvPr id="149" name="Google Shape;149;p20">
            <a:extLst xmlns:a="http://schemas.openxmlformats.org/drawingml/2006/main">
              <a:ext uri="{FF2B5EF4-FFF2-40B4-BE49-F238E27FC236}">
                <a16:creationId xmlns:a16="http://schemas.microsoft.com/office/drawing/2014/main" id="{8F8BBA27-C242-4F70-8FA8-F6EF0C873857}"/>
              </a:ext>
            </a:extLst>
          </p:cNvPr>
          <p:cNvSpPr>
            <a:spLocks xmlns:a="http://schemas.openxmlformats.org/drawingml/2006/main" noGrp="1"/>
          </p:cNvSpPr>
          <p:nvPr/>
        </p:nvSpPr>
        <p:spPr>
          <a:xfrm xmlns:a="http://schemas.openxmlformats.org/drawingml/2006/main">
            <a:off x="495300" y="285750"/>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F I X E D   I N   T H E   T E M P L A T E</a:t>
            </a:r>
            <a:endParaRPr sz="900" b="1">
              <a:solidFill>
                <a:schemeClr val="dk1"/>
              </a:solidFill>
              <a:latin typeface="Inter"/>
              <a:ea typeface="Inter"/>
              <a:cs typeface="Inter"/>
            </a:endParaRPr>
          </a:p>
        </p:txBody>
      </p:sp>
      <p:pic>
        <p:nvPicPr>
          <p:cNvPr id="150" name="Google Shape;150;p20">
            <a:extLst xmlns:a="http://schemas.openxmlformats.org/drawingml/2006/main">
              <a:ext uri="{FF2B5EF4-FFF2-40B4-BE49-F238E27FC236}">
                <a16:creationId xmlns:a16="http://schemas.microsoft.com/office/drawing/2014/main" id="{40234DBD-7D59-4A64-8915-AC1655C4E663}"/>
              </a:ext>
            </a:extLst>
          </p:cNvPr>
          <p:cNvPicPr>
            <a:picLocks xmlns:a="http://schemas.openxmlformats.org/drawingml/2006/main" noChangeAspect="1"/>
          </p:cNvPicPr>
          <p:nvPr/>
        </p:nvPicPr>
        <p:blipFill>
          <a:blip xmlns:r="http://schemas.openxmlformats.org/officeDocument/2006/relationships" xmlns:a="http://schemas.openxmlformats.org/drawingml/2006/main" r:embed="R8e728179d1e94740">
            <a:alphaModFix/>
          </a:blip>
          <a:stretch xmlns:a="http://schemas.openxmlformats.org/drawingml/2006/main">
            <a:fillRect l="0" t="0" r="0" b="0"/>
          </a:stretch>
        </p:blipFill>
        <p:spPr>
          <a:xfrm xmlns:a="http://schemas.openxmlformats.org/drawingml/2006/main">
            <a:off x="6213174" y="1928314"/>
            <a:ext cx="704738" cy="599027"/>
          </a:xfrm>
          <a:prstGeom xmlns:a="http://schemas.openxmlformats.org/drawingml/2006/main" prst="rect">
            <a:avLst/>
          </a:prstGeom>
          <a:ln xmlns:a="http://schemas.openxmlformats.org/drawingml/2006/main">
            <a:noFill/>
          </a:ln>
        </p:spPr>
      </p:pic>
      <p:pic>
        <p:nvPicPr>
          <p:cNvPr id="151" name="Google Shape;151;p20">
            <a:extLst xmlns:a="http://schemas.openxmlformats.org/drawingml/2006/main">
              <a:ext uri="{FF2B5EF4-FFF2-40B4-BE49-F238E27FC236}">
                <a16:creationId xmlns:a16="http://schemas.microsoft.com/office/drawing/2014/main" id="{6346241A-EB16-4750-867B-4F81524D6132}"/>
              </a:ext>
            </a:extLst>
          </p:cNvPr>
          <p:cNvPicPr>
            <a:picLocks xmlns:a="http://schemas.openxmlformats.org/drawingml/2006/main" noChangeAspect="1"/>
          </p:cNvPicPr>
          <p:nvPr/>
        </p:nvPicPr>
        <p:blipFill>
          <a:blip xmlns:r="http://schemas.openxmlformats.org/officeDocument/2006/relationships" xmlns:a="http://schemas.openxmlformats.org/drawingml/2006/main" r:embed="R36f33b0a421e4691">
            <a:alphaModFix/>
          </a:blip>
          <a:stretch xmlns:a="http://schemas.openxmlformats.org/drawingml/2006/main">
            <a:fillRect l="0" t="0" r="0" b="0"/>
          </a:stretch>
        </p:blipFill>
        <p:spPr>
          <a:xfrm xmlns:a="http://schemas.openxmlformats.org/drawingml/2006/main">
            <a:off x="3339252" y="1928314"/>
            <a:ext cx="683596" cy="599027"/>
          </a:xfrm>
          <a:prstGeom xmlns:a="http://schemas.openxmlformats.org/drawingml/2006/main" prst="rect">
            <a:avLst/>
          </a:prstGeom>
          <a:ln xmlns:a="http://schemas.openxmlformats.org/drawingml/2006/main">
            <a:noFill/>
          </a:ln>
        </p:spPr>
      </p:pic>
      <p:pic>
        <p:nvPicPr>
          <p:cNvPr id="152" name="Google Shape;152;p20">
            <a:extLst xmlns:a="http://schemas.openxmlformats.org/drawingml/2006/main">
              <a:ext uri="{FF2B5EF4-FFF2-40B4-BE49-F238E27FC236}">
                <a16:creationId xmlns:a16="http://schemas.microsoft.com/office/drawing/2014/main" id="{DCAAA086-612D-4FB2-ACCE-F5AE9A3243E2}"/>
              </a:ext>
            </a:extLst>
          </p:cNvPr>
          <p:cNvPicPr>
            <a:picLocks xmlns:a="http://schemas.openxmlformats.org/drawingml/2006/main" noChangeAspect="1"/>
          </p:cNvPicPr>
          <p:nvPr/>
        </p:nvPicPr>
        <p:blipFill>
          <a:blip xmlns:r="http://schemas.openxmlformats.org/officeDocument/2006/relationships" xmlns:a="http://schemas.openxmlformats.org/drawingml/2006/main" r:embed="R59e0ad32464f468c">
            <a:alphaModFix/>
          </a:blip>
          <a:stretch xmlns:a="http://schemas.openxmlformats.org/drawingml/2006/main">
            <a:fillRect l="0" t="0" r="0" b="0"/>
          </a:stretch>
        </p:blipFill>
        <p:spPr>
          <a:xfrm xmlns:a="http://schemas.openxmlformats.org/drawingml/2006/main">
            <a:off x="483596" y="1977160"/>
            <a:ext cx="528553" cy="599027"/>
          </a:xfrm>
          <a:prstGeom xmlns:a="http://schemas.openxmlformats.org/drawingml/2006/main" prst="rect">
            <a:avLst/>
          </a:prstGeom>
          <a:ln xmlns:a="http://schemas.openxmlformats.org/drawingml/2006/main">
            <a:noFill/>
          </a:ln>
        </p:spPr>
      </p:pic>
      <p:sp>
        <p:nvSpPr>
          <p:cNvPr id="153" name="Google Shape;153;p20">
            <a:extLst xmlns:a="http://schemas.openxmlformats.org/drawingml/2006/main">
              <a:ext uri="{FF2B5EF4-FFF2-40B4-BE49-F238E27FC236}">
                <a16:creationId xmlns:a16="http://schemas.microsoft.com/office/drawing/2014/main" id="{68D57CE8-F8E5-489B-A66B-EADE3949060B}"/>
              </a:ext>
            </a:extLst>
          </p:cNvPr>
          <p:cNvSpPr>
            <a:spLocks xmlns:a="http://schemas.openxmlformats.org/drawingml/2006/main" noGrp="1"/>
          </p:cNvSpPr>
          <p:nvPr/>
        </p:nvSpPr>
        <p:spPr>
          <a:xfrm xmlns:a="http://schemas.openxmlformats.org/drawingml/2006/main">
            <a:off x="3121574"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4" name="Google Shape;154;p20">
            <a:extLst xmlns:a="http://schemas.openxmlformats.org/drawingml/2006/main">
              <a:ext uri="{FF2B5EF4-FFF2-40B4-BE49-F238E27FC236}">
                <a16:creationId xmlns:a16="http://schemas.microsoft.com/office/drawing/2014/main" id="{FC4945A8-123B-4B26-8E97-76D71C2C3E4D}"/>
              </a:ext>
            </a:extLst>
          </p:cNvPr>
          <p:cNvSpPr>
            <a:spLocks xmlns:a="http://schemas.openxmlformats.org/drawingml/2006/main" noGrp="1"/>
          </p:cNvSpPr>
          <p:nvPr/>
        </p:nvSpPr>
        <p:spPr>
          <a:xfrm xmlns:a="http://schemas.openxmlformats.org/drawingml/2006/main">
            <a:off x="6001425"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20">
            <a:extLst xmlns:a="http://schemas.openxmlformats.org/drawingml/2006/main">
              <a:ext uri="{FF2B5EF4-FFF2-40B4-BE49-F238E27FC236}">
                <a16:creationId xmlns:a16="http://schemas.microsoft.com/office/drawing/2014/main" id="{689FA661-20E8-4DA1-BDD4-72125760483F}"/>
              </a:ext>
            </a:extLst>
          </p:cNvPr>
          <p:cNvSpPr>
            <a:spLocks xmlns:a="http://schemas.openxmlformats.org/drawingml/2006/main" noGrp="1"/>
          </p:cNvSpPr>
          <p:nvPr/>
        </p:nvSpPr>
        <p:spPr>
          <a:xfrm xmlns:a="http://schemas.openxmlformats.org/drawingml/2006/main">
            <a:off x="3343275"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BLOCKED POPUP</a:t>
            </a:r>
          </a:p>
          <a:p xmlns:a="http://schemas.openxmlformats.org/drawingml/2006/main">
            <a:r>
              <a:rPr sz="1500" b="0">
                <a:solidFill>
                  <a:srgbClr val="FFFFFF"/>
                </a:solidFill>
                <a:latin typeface="Inter"/>
                <a:ea typeface="Inter"/>
                <a:cs typeface="Inter"/>
              </a:rPr>
              <a:t>Simulation outlived the click</a:t>
            </a:r>
          </a:p>
        </p:txBody>
      </p:sp>
      <p:sp>
        <p:nvSpPr>
          <p:cNvPr id="156" name="Google Shape;156;p20">
            <a:extLst xmlns:a="http://schemas.openxmlformats.org/drawingml/2006/main">
              <a:ext uri="{FF2B5EF4-FFF2-40B4-BE49-F238E27FC236}">
                <a16:creationId xmlns:a16="http://schemas.microsoft.com/office/drawing/2014/main" id="{5211F131-288F-4C55-AE5F-ECB2EA9F681F}"/>
              </a:ext>
            </a:extLst>
          </p:cNvPr>
          <p:cNvSpPr>
            <a:spLocks xmlns:a="http://schemas.openxmlformats.org/drawingml/2006/main" noGrp="1"/>
          </p:cNvSpPr>
          <p:nvPr/>
        </p:nvSpPr>
        <p:spPr>
          <a:xfrm xmlns:a="http://schemas.openxmlformats.org/drawingml/2006/main">
            <a:off x="622935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WRONG PATH</a:t>
            </a:r>
          </a:p>
          <a:p xmlns:a="http://schemas.openxmlformats.org/drawingml/2006/main">
            <a:r>
              <a:rPr sz="1500" b="0">
                <a:solidFill>
                  <a:srgbClr val="FFFFFF"/>
                </a:solidFill>
                <a:latin typeface="Inter"/>
                <a:ea typeface="Inter"/>
                <a:cs typeface="Inter"/>
              </a:rPr>
              <a:t>Popup signing, then non-root auth</a:t>
            </a:r>
          </a:p>
        </p:txBody>
      </p:sp>
      <p:pic>
        <p:nvPicPr>
          <p:cNvPr id="157" name="Google Shape;157;p20">
            <a:extLst xmlns:a="http://schemas.openxmlformats.org/drawingml/2006/main">
              <a:ext uri="{FF2B5EF4-FFF2-40B4-BE49-F238E27FC236}">
                <a16:creationId xmlns:a16="http://schemas.microsoft.com/office/drawing/2014/main" id="{B89AB6B0-5F96-4EA2-A98C-3C98D80E9EBA}"/>
              </a:ext>
            </a:extLst>
          </p:cNvPr>
          <p:cNvPicPr>
            <a:picLocks xmlns:a="http://schemas.openxmlformats.org/drawingml/2006/main" noChangeAspect="1"/>
          </p:cNvPicPr>
          <p:nvPr/>
        </p:nvPicPr>
        <p:blipFill>
          <a:blip xmlns:r="http://schemas.openxmlformats.org/officeDocument/2006/relationships" xmlns:a="http://schemas.openxmlformats.org/drawingml/2006/main" r:embed="R7ed14303cb8e47b5">
            <a:alphaModFix amt="40000"/>
          </a:blip>
          <a:stretch xmlns:a="http://schemas.openxmlformats.org/drawingml/2006/main">
            <a:fillRect l="0" t="0" r="0" b="0"/>
          </a:stretch>
        </p:blipFill>
        <p:spPr>
          <a:xfrm xmlns:a="http://schemas.openxmlformats.org/drawingml/2006/main">
            <a:off x="0" y="4848216"/>
            <a:ext cx="9144000" cy="273050"/>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D6ED8720-3A1F-4535-ABB4-F30AC15F8068}"/>
              </a:ext>
            </a:extLst>
          </p:cNvPr>
          <p:cNvPicPr>
            <a:picLocks xmlns:a="http://schemas.openxmlformats.org/drawingml/2006/main" noChangeAspect="1"/>
          </p:cNvPicPr>
          <p:nvPr/>
        </p:nvPicPr>
        <p:blipFill>
          <a:blip xmlns:r="http://schemas.openxmlformats.org/officeDocument/2006/relationships" xmlns:a="http://schemas.openxmlformats.org/drawingml/2006/main" r:embed="Rc6c0f1220b984b9a">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5880C17E-5B8F-42E4-9371-53F478B091AA}"/>
              </a:ext>
            </a:extLst>
          </p:cNvPr>
          <p:cNvPicPr>
            <a:picLocks xmlns:a="http://schemas.openxmlformats.org/drawingml/2006/main" noChangeAspect="1"/>
          </p:cNvPicPr>
          <p:nvPr/>
        </p:nvPicPr>
        <p:blipFill>
          <a:blip xmlns:r="http://schemas.openxmlformats.org/officeDocument/2006/relationships" xmlns:a="http://schemas.openxmlformats.org/drawingml/2006/main" r:embed="R29c2da55b1514fe4">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726384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20">
            <a:extLst xmlns:a="http://schemas.openxmlformats.org/drawingml/2006/main">
              <a:ext uri="{FF2B5EF4-FFF2-40B4-BE49-F238E27FC236}">
                <a16:creationId xmlns:a16="http://schemas.microsoft.com/office/drawing/2014/main" id="{DF8C0561-2FAE-4531-850C-4FF264366183}"/>
              </a:ext>
            </a:extLst>
          </p:cNvPr>
          <p:cNvSpPr>
            <a:spLocks xmlns:a="http://schemas.openxmlformats.org/drawingml/2006/main" noGrp="1"/>
          </p:cNvSpPr>
          <p:nvPr/>
        </p:nvSpPr>
        <p:spPr>
          <a:xfrm xmlns:a="http://schemas.openxmlformats.org/drawingml/2006/main">
            <a:off x="0" y="1489525"/>
            <a:ext cx="9144000" cy="36435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7" name="Google Shape;147;p20">
            <a:extLst xmlns:a="http://schemas.openxmlformats.org/drawingml/2006/main">
              <a:ext uri="{FF2B5EF4-FFF2-40B4-BE49-F238E27FC236}">
                <a16:creationId xmlns:a16="http://schemas.microsoft.com/office/drawing/2014/main" id="{EF383876-131E-49CE-A712-088124D73625}"/>
              </a:ext>
            </a:extLst>
          </p:cNvPr>
          <p:cNvSpPr>
            <a:spLocks xmlns:a="http://schemas.openxmlformats.org/drawingml/2006/main" noGrp="1"/>
          </p:cNvSpPr>
          <p:nvPr/>
        </p:nvSpPr>
        <p:spPr>
          <a:xfrm xmlns:a="http://schemas.openxmlformats.org/drawingml/2006/main">
            <a:off x="466725" y="866775"/>
            <a:ext cx="817245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FOUND ALONG THE WAY</a:t>
            </a:r>
            <a:endParaRPr sz="3900">
              <a:latin typeface="Inter Medium"/>
              <a:ea typeface="Inter Medium"/>
              <a:cs typeface="Inter Medium"/>
            </a:endParaRPr>
          </a:p>
        </p:txBody>
      </p:sp>
      <p:sp>
        <p:nvSpPr>
          <p:cNvPr id="148" name="Google Shape;148;p20">
            <a:extLst xmlns:a="http://schemas.openxmlformats.org/drawingml/2006/main">
              <a:ext uri="{FF2B5EF4-FFF2-40B4-BE49-F238E27FC236}">
                <a16:creationId xmlns:a16="http://schemas.microsoft.com/office/drawing/2014/main" id="{34E1A8D1-70A7-4201-A62E-8F1137AE3372}"/>
              </a:ext>
            </a:extLst>
          </p:cNvPr>
          <p:cNvSpPr>
            <a:spLocks xmlns:a="http://schemas.openxmlformats.org/drawingml/2006/main" noGrp="1"/>
          </p:cNvSpPr>
          <p:nvPr/>
        </p:nvSpPr>
        <p:spPr>
          <a:xfrm xmlns:a="http://schemas.openxmlformats.org/drawingml/2006/main">
            <a:off x="49530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NIDO SIGNER</a:t>
            </a:r>
          </a:p>
          <a:p xmlns:a="http://schemas.openxmlformats.org/drawingml/2006/main">
            <a:r>
              <a:rPr sz="1500" b="0">
                <a:solidFill>
                  <a:srgbClr val="FFFFFF"/>
                </a:solidFill>
                <a:latin typeface="Inter"/>
                <a:ea typeface="Inter"/>
                <a:cs typeface="Inter"/>
              </a:rPr>
              <a:t>Admin rule only: no app calls</a:t>
            </a:r>
          </a:p>
        </p:txBody>
      </p:sp>
      <p:sp>
        <p:nvSpPr>
          <p:cNvPr id="149" name="Google Shape;149;p20">
            <a:extLst xmlns:a="http://schemas.openxmlformats.org/drawingml/2006/main">
              <a:ext uri="{FF2B5EF4-FFF2-40B4-BE49-F238E27FC236}">
                <a16:creationId xmlns:a16="http://schemas.microsoft.com/office/drawing/2014/main" id="{8F8BBA27-C242-4F70-8FA8-F6EF0C873857}"/>
              </a:ext>
            </a:extLst>
          </p:cNvPr>
          <p:cNvSpPr>
            <a:spLocks xmlns:a="http://schemas.openxmlformats.org/drawingml/2006/main" noGrp="1"/>
          </p:cNvSpPr>
          <p:nvPr/>
        </p:nvSpPr>
        <p:spPr>
          <a:xfrm xmlns:a="http://schemas.openxmlformats.org/drawingml/2006/main">
            <a:off x="495300" y="285750"/>
            <a:ext cx="66675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F O R   T H E   N I D O   T E A M</a:t>
            </a:r>
            <a:endParaRPr sz="900" b="1">
              <a:solidFill>
                <a:schemeClr val="dk1"/>
              </a:solidFill>
              <a:latin typeface="Inter"/>
              <a:ea typeface="Inter"/>
              <a:cs typeface="Inter"/>
            </a:endParaRPr>
          </a:p>
        </p:txBody>
      </p:sp>
      <p:pic>
        <p:nvPicPr>
          <p:cNvPr id="150" name="Google Shape;150;p20">
            <a:extLst xmlns:a="http://schemas.openxmlformats.org/drawingml/2006/main">
              <a:ext uri="{FF2B5EF4-FFF2-40B4-BE49-F238E27FC236}">
                <a16:creationId xmlns:a16="http://schemas.microsoft.com/office/drawing/2014/main" id="{40234DBD-7D59-4A64-8915-AC1655C4E663}"/>
              </a:ext>
            </a:extLst>
          </p:cNvPr>
          <p:cNvPicPr>
            <a:picLocks xmlns:a="http://schemas.openxmlformats.org/drawingml/2006/main" noChangeAspect="1"/>
          </p:cNvPicPr>
          <p:nvPr/>
        </p:nvPicPr>
        <p:blipFill>
          <a:blip xmlns:r="http://schemas.openxmlformats.org/officeDocument/2006/relationships" xmlns:a="http://schemas.openxmlformats.org/drawingml/2006/main" r:embed="Ra517c5c1f9324709">
            <a:alphaModFix/>
          </a:blip>
          <a:stretch xmlns:a="http://schemas.openxmlformats.org/drawingml/2006/main">
            <a:fillRect l="0" t="0" r="0" b="0"/>
          </a:stretch>
        </p:blipFill>
        <p:spPr>
          <a:xfrm xmlns:a="http://schemas.openxmlformats.org/drawingml/2006/main">
            <a:off x="6213174" y="1928314"/>
            <a:ext cx="704738" cy="599027"/>
          </a:xfrm>
          <a:prstGeom xmlns:a="http://schemas.openxmlformats.org/drawingml/2006/main" prst="rect">
            <a:avLst/>
          </a:prstGeom>
          <a:ln xmlns:a="http://schemas.openxmlformats.org/drawingml/2006/main">
            <a:noFill/>
          </a:ln>
        </p:spPr>
      </p:pic>
      <p:pic>
        <p:nvPicPr>
          <p:cNvPr id="151" name="Google Shape;151;p20">
            <a:extLst xmlns:a="http://schemas.openxmlformats.org/drawingml/2006/main">
              <a:ext uri="{FF2B5EF4-FFF2-40B4-BE49-F238E27FC236}">
                <a16:creationId xmlns:a16="http://schemas.microsoft.com/office/drawing/2014/main" id="{6346241A-EB16-4750-867B-4F81524D6132}"/>
              </a:ext>
            </a:extLst>
          </p:cNvPr>
          <p:cNvPicPr>
            <a:picLocks xmlns:a="http://schemas.openxmlformats.org/drawingml/2006/main" noChangeAspect="1"/>
          </p:cNvPicPr>
          <p:nvPr/>
        </p:nvPicPr>
        <p:blipFill>
          <a:blip xmlns:r="http://schemas.openxmlformats.org/officeDocument/2006/relationships" xmlns:a="http://schemas.openxmlformats.org/drawingml/2006/main" r:embed="Ra95e1d75a9ac4f18">
            <a:alphaModFix/>
          </a:blip>
          <a:stretch xmlns:a="http://schemas.openxmlformats.org/drawingml/2006/main">
            <a:fillRect l="0" t="0" r="0" b="0"/>
          </a:stretch>
        </p:blipFill>
        <p:spPr>
          <a:xfrm xmlns:a="http://schemas.openxmlformats.org/drawingml/2006/main">
            <a:off x="3339252" y="1928314"/>
            <a:ext cx="683596" cy="599027"/>
          </a:xfrm>
          <a:prstGeom xmlns:a="http://schemas.openxmlformats.org/drawingml/2006/main" prst="rect">
            <a:avLst/>
          </a:prstGeom>
          <a:ln xmlns:a="http://schemas.openxmlformats.org/drawingml/2006/main">
            <a:noFill/>
          </a:ln>
        </p:spPr>
      </p:pic>
      <p:pic>
        <p:nvPicPr>
          <p:cNvPr id="152" name="Google Shape;152;p20">
            <a:extLst xmlns:a="http://schemas.openxmlformats.org/drawingml/2006/main">
              <a:ext uri="{FF2B5EF4-FFF2-40B4-BE49-F238E27FC236}">
                <a16:creationId xmlns:a16="http://schemas.microsoft.com/office/drawing/2014/main" id="{DCAAA086-612D-4FB2-ACCE-F5AE9A3243E2}"/>
              </a:ext>
            </a:extLst>
          </p:cNvPr>
          <p:cNvPicPr>
            <a:picLocks xmlns:a="http://schemas.openxmlformats.org/drawingml/2006/main" noChangeAspect="1"/>
          </p:cNvPicPr>
          <p:nvPr/>
        </p:nvPicPr>
        <p:blipFill>
          <a:blip xmlns:r="http://schemas.openxmlformats.org/officeDocument/2006/relationships" xmlns:a="http://schemas.openxmlformats.org/drawingml/2006/main" r:embed="Rd545e92c9e86461e">
            <a:alphaModFix/>
          </a:blip>
          <a:stretch xmlns:a="http://schemas.openxmlformats.org/drawingml/2006/main">
            <a:fillRect l="0" t="0" r="0" b="0"/>
          </a:stretch>
        </p:blipFill>
        <p:spPr>
          <a:xfrm xmlns:a="http://schemas.openxmlformats.org/drawingml/2006/main">
            <a:off x="483596" y="1977160"/>
            <a:ext cx="528553" cy="599027"/>
          </a:xfrm>
          <a:prstGeom xmlns:a="http://schemas.openxmlformats.org/drawingml/2006/main" prst="rect">
            <a:avLst/>
          </a:prstGeom>
          <a:ln xmlns:a="http://schemas.openxmlformats.org/drawingml/2006/main">
            <a:noFill/>
          </a:ln>
        </p:spPr>
      </p:pic>
      <p:sp>
        <p:nvSpPr>
          <p:cNvPr id="153" name="Google Shape;153;p20">
            <a:extLst xmlns:a="http://schemas.openxmlformats.org/drawingml/2006/main">
              <a:ext uri="{FF2B5EF4-FFF2-40B4-BE49-F238E27FC236}">
                <a16:creationId xmlns:a16="http://schemas.microsoft.com/office/drawing/2014/main" id="{68D57CE8-F8E5-489B-A66B-EADE3949060B}"/>
              </a:ext>
            </a:extLst>
          </p:cNvPr>
          <p:cNvSpPr>
            <a:spLocks xmlns:a="http://schemas.openxmlformats.org/drawingml/2006/main" noGrp="1"/>
          </p:cNvSpPr>
          <p:nvPr/>
        </p:nvSpPr>
        <p:spPr>
          <a:xfrm xmlns:a="http://schemas.openxmlformats.org/drawingml/2006/main">
            <a:off x="3121574"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4" name="Google Shape;154;p20">
            <a:extLst xmlns:a="http://schemas.openxmlformats.org/drawingml/2006/main">
              <a:ext uri="{FF2B5EF4-FFF2-40B4-BE49-F238E27FC236}">
                <a16:creationId xmlns:a16="http://schemas.microsoft.com/office/drawing/2014/main" id="{FC4945A8-123B-4B26-8E97-76D71C2C3E4D}"/>
              </a:ext>
            </a:extLst>
          </p:cNvPr>
          <p:cNvSpPr>
            <a:spLocks xmlns:a="http://schemas.openxmlformats.org/drawingml/2006/main" noGrp="1"/>
          </p:cNvSpPr>
          <p:nvPr/>
        </p:nvSpPr>
        <p:spPr>
          <a:xfrm xmlns:a="http://schemas.openxmlformats.org/drawingml/2006/main">
            <a:off x="6001425" y="2579521"/>
            <a:ext cx="8700" cy="1965600"/>
          </a:xfrm>
          <a:prstGeom xmlns:a="http://schemas.openxmlformats.org/drawingml/2006/main" prst="rect">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20">
            <a:extLst xmlns:a="http://schemas.openxmlformats.org/drawingml/2006/main">
              <a:ext uri="{FF2B5EF4-FFF2-40B4-BE49-F238E27FC236}">
                <a16:creationId xmlns:a16="http://schemas.microsoft.com/office/drawing/2014/main" id="{689FA661-20E8-4DA1-BDD4-72125760483F}"/>
              </a:ext>
            </a:extLst>
          </p:cNvPr>
          <p:cNvSpPr>
            <a:spLocks xmlns:a="http://schemas.openxmlformats.org/drawingml/2006/main" noGrp="1"/>
          </p:cNvSpPr>
          <p:nvPr/>
        </p:nvSpPr>
        <p:spPr>
          <a:xfrm xmlns:a="http://schemas.openxmlformats.org/drawingml/2006/main">
            <a:off x="3343275"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NIDO RELAYER</a:t>
            </a:r>
          </a:p>
          <a:p xmlns:a="http://schemas.openxmlformats.org/drawingml/2006/main">
            <a:r>
              <a:rPr sz="1500" b="0">
                <a:solidFill>
                  <a:srgbClr val="FFFFFF"/>
                </a:solidFill>
                <a:latin typeface="Inter"/>
                <a:ea typeface="Inter"/>
                <a:cs typeface="Inter"/>
              </a:rPr>
              <a:t>Can’t relay CAP-71 entries yet</a:t>
            </a:r>
          </a:p>
        </p:txBody>
      </p:sp>
      <p:sp>
        <p:nvSpPr>
          <p:cNvPr id="156" name="Google Shape;156;p20">
            <a:extLst xmlns:a="http://schemas.openxmlformats.org/drawingml/2006/main">
              <a:ext uri="{FF2B5EF4-FFF2-40B4-BE49-F238E27FC236}">
                <a16:creationId xmlns:a16="http://schemas.microsoft.com/office/drawing/2014/main" id="{5211F131-288F-4C55-AE5F-ECB2EA9F681F}"/>
              </a:ext>
            </a:extLst>
          </p:cNvPr>
          <p:cNvSpPr>
            <a:spLocks xmlns:a="http://schemas.openxmlformats.org/drawingml/2006/main" noGrp="1"/>
          </p:cNvSpPr>
          <p:nvPr/>
        </p:nvSpPr>
        <p:spPr>
          <a:xfrm xmlns:a="http://schemas.openxmlformats.org/drawingml/2006/main">
            <a:off x="6229350" y="2914650"/>
            <a:ext cx="2400300" cy="15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p xmlns:a="http://schemas.openxmlformats.org/drawingml/2006/main">
            <a:pPr>
              <a:spcAft>
                <a:spcPts val="14"/>
              </a:spcAft>
            </a:pPr>
            <a:r>
              <a:rPr sz="1800" b="1">
                <a:solidFill>
                  <a:srgbClr val="FFFFFF"/>
                </a:solidFill>
                <a:latin typeface="Inter"/>
                <a:ea typeface="Inter"/>
                <a:cs typeface="Inter"/>
              </a:rPr>
              <a:t>DOCS</a:t>
            </a:r>
          </a:p>
          <a:p xmlns:a="http://schemas.openxmlformats.org/drawingml/2006/main">
            <a:r>
              <a:rPr sz="1500" b="0">
                <a:solidFill>
                  <a:srgbClr val="FFFFFF"/>
                </a:solidFill>
                <a:latin typeface="Inter"/>
                <a:ea typeface="Inter"/>
                <a:cs typeface="Inter"/>
              </a:rPr>
              <a:t>Still describe signed XDR</a:t>
            </a:r>
          </a:p>
        </p:txBody>
      </p:sp>
      <p:pic>
        <p:nvPicPr>
          <p:cNvPr id="157" name="Google Shape;157;p20">
            <a:extLst xmlns:a="http://schemas.openxmlformats.org/drawingml/2006/main">
              <a:ext uri="{FF2B5EF4-FFF2-40B4-BE49-F238E27FC236}">
                <a16:creationId xmlns:a16="http://schemas.microsoft.com/office/drawing/2014/main" id="{B89AB6B0-5F96-4EA2-A98C-3C98D80E9EBA}"/>
              </a:ext>
            </a:extLst>
          </p:cNvPr>
          <p:cNvPicPr>
            <a:picLocks xmlns:a="http://schemas.openxmlformats.org/drawingml/2006/main" noChangeAspect="1"/>
          </p:cNvPicPr>
          <p:nvPr/>
        </p:nvPicPr>
        <p:blipFill>
          <a:blip xmlns:r="http://schemas.openxmlformats.org/officeDocument/2006/relationships" xmlns:a="http://schemas.openxmlformats.org/drawingml/2006/main" r:embed="R7465e98472c643d9">
            <a:alphaModFix amt="40000"/>
          </a:blip>
          <a:stretch xmlns:a="http://schemas.openxmlformats.org/drawingml/2006/main">
            <a:fillRect l="0" t="0" r="0" b="0"/>
          </a:stretch>
        </p:blipFill>
        <p:spPr>
          <a:xfrm xmlns:a="http://schemas.openxmlformats.org/drawingml/2006/main">
            <a:off x="0" y="4848216"/>
            <a:ext cx="9144000" cy="273050"/>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D6ED8720-3A1F-4535-ABB4-F30AC15F8068}"/>
              </a:ext>
            </a:extLst>
          </p:cNvPr>
          <p:cNvPicPr>
            <a:picLocks xmlns:a="http://schemas.openxmlformats.org/drawingml/2006/main" noChangeAspect="1"/>
          </p:cNvPicPr>
          <p:nvPr/>
        </p:nvPicPr>
        <p:blipFill>
          <a:blip xmlns:r="http://schemas.openxmlformats.org/officeDocument/2006/relationships" xmlns:a="http://schemas.openxmlformats.org/drawingml/2006/main" r:embed="R24f825c3f11947d6">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5880C17E-5B8F-42E4-9371-53F478B091AA}"/>
              </a:ext>
            </a:extLst>
          </p:cNvPr>
          <p:cNvPicPr>
            <a:picLocks xmlns:a="http://schemas.openxmlformats.org/drawingml/2006/main" noChangeAspect="1"/>
          </p:cNvPicPr>
          <p:nvPr/>
        </p:nvPicPr>
        <p:blipFill>
          <a:blip xmlns:r="http://schemas.openxmlformats.org/officeDocument/2006/relationships" xmlns:a="http://schemas.openxmlformats.org/drawingml/2006/main" r:embed="Ra0661c7dfbf54b80">
            <a:alphaModFix/>
          </a:blip>
          <a:stretch xmlns:a="http://schemas.openxmlformats.org/drawingml/2006/main">
            <a:fillRect l="0" t="0" r="0" b="0"/>
          </a:stretch>
        </p:blipFill>
        <p:spPr>
          <a:xfrm xmlns:a="http://schemas.openxmlformats.org/drawingml/2006/main">
            <a:off x="8101626" y="4733440"/>
            <a:ext cx="794574" cy="2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726384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3C9F9020-ABF7-4FAA-9258-B8EEE18937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3f49d2d1dbc4940">
            <a:alphaModFix/>
          </a:blip>
          <a:srcRect xmlns:a="http://schemas.openxmlformats.org/drawingml/2006/main" l="17437" t="17743" r="4474" b="8636"/>
          <a:stretch xmlns:a="http://schemas.openxmlformats.org/drawingml/2006/main"/>
        </p:blipFill>
        <p:spPr>
          <a:xfrm xmlns:a="http://schemas.openxmlformats.org/drawingml/2006/main">
            <a:off x="0" y="0"/>
            <a:ext cx="2520000" cy="5143501"/>
          </a:xfrm>
          <a:prstGeom xmlns:a="http://schemas.openxmlformats.org/drawingml/2006/main" prst="rect">
            <a:avLst/>
          </a:prstGeom>
          <a:ln xmlns:a="http://schemas.openxmlformats.org/drawingml/2006/main">
            <a:noFill/>
          </a:ln>
        </p:spPr>
      </p:pic>
      <p:sp>
        <p:nvSpPr>
          <p:cNvPr id="77" name="Google Shape;77;p15">
            <a:extLst xmlns:a="http://schemas.openxmlformats.org/drawingml/2006/main">
              <a:ext uri="{FF2B5EF4-FFF2-40B4-BE49-F238E27FC236}">
                <a16:creationId xmlns:a16="http://schemas.microsoft.com/office/drawing/2014/main" id="{024B7BA4-61D9-4247-BB18-65C294CB9435}"/>
              </a:ext>
            </a:extLst>
          </p:cNvPr>
          <p:cNvSpPr>
            <a:spLocks xmlns:a="http://schemas.openxmlformats.org/drawingml/2006/main" noGrp="1"/>
          </p:cNvSpPr>
          <p:nvPr/>
        </p:nvSpPr>
        <p:spPr>
          <a:xfrm xmlns:a="http://schemas.openxmlformats.org/drawingml/2006/main">
            <a:off x="2762250" y="933450"/>
            <a:ext cx="5905500" cy="731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3600"/>
            </a:defPPr>
          </a:lstStyle>
          <a:p xmlns:a="http://schemas.openxmlformats.org/drawingml/2006/main">
            <a:pPr marL="0" lvl="0" indent="0" algn="l">
              <a:spcBef>
                <a:spcPts val="0"/>
              </a:spcBef>
              <a:spcAft>
                <a:spcPts val="0"/>
              </a:spcAft>
              <a:buNone/>
              <a:defRPr sz="3600"/>
            </a:pPr>
            <a:r>
              <a:rPr sz="3600" spc="-231">
                <a:solidFill>
                  <a:schemeClr val="dk1"/>
                </a:solidFill>
                <a:latin typeface="Inter Medium"/>
                <a:ea typeface="Inter Medium"/>
                <a:cs typeface="Inter Medium"/>
              </a:rPr>
              <a:t>RUN KUDOS JAR</a:t>
            </a:r>
            <a:endParaRPr sz="3900">
              <a:latin typeface="Inter Medium"/>
              <a:ea typeface="Inter Medium"/>
              <a:cs typeface="Inter Medium"/>
            </a:endParaRPr>
          </a:p>
        </p:txBody>
      </p:sp>
      <p:sp>
        <p:nvSpPr>
          <p:cNvPr id="78" name="Google Shape;78;p15">
            <a:extLst xmlns:a="http://schemas.openxmlformats.org/drawingml/2006/main">
              <a:ext uri="{FF2B5EF4-FFF2-40B4-BE49-F238E27FC236}">
                <a16:creationId xmlns:a16="http://schemas.microsoft.com/office/drawing/2014/main" id="{573804E9-D57C-4F6F-B611-BA499B38B91B}"/>
              </a:ext>
            </a:extLst>
          </p:cNvPr>
          <p:cNvSpPr>
            <a:spLocks xmlns:a="http://schemas.openxmlformats.org/drawingml/2006/main" noGrp="1"/>
          </p:cNvSpPr>
          <p:nvPr/>
        </p:nvSpPr>
        <p:spPr>
          <a:xfrm xmlns:a="http://schemas.openxmlformats.org/drawingml/2006/main">
            <a:off x="2688283" y="1689804"/>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01</a:t>
            </a:r>
            <a:endParaRPr sz="2100">
              <a:latin typeface="Inter"/>
              <a:ea typeface="Inter"/>
              <a:cs typeface="Inter"/>
            </a:endParaRPr>
          </a:p>
        </p:txBody>
      </p:sp>
      <p:sp>
        <p:nvSpPr>
          <p:cNvPr id="79" name="Google Shape;79;p15">
            <a:extLst xmlns:a="http://schemas.openxmlformats.org/drawingml/2006/main">
              <a:ext uri="{FF2B5EF4-FFF2-40B4-BE49-F238E27FC236}">
                <a16:creationId xmlns:a16="http://schemas.microsoft.com/office/drawing/2014/main" id="{7FE65504-21F8-4E72-A67B-E5E04279C948}"/>
              </a:ext>
            </a:extLst>
          </p:cNvPr>
          <p:cNvSpPr>
            <a:spLocks xmlns:a="http://schemas.openxmlformats.org/drawingml/2006/main" noGrp="1"/>
          </p:cNvSpPr>
          <p:nvPr/>
        </p:nvSpPr>
        <p:spPr>
          <a:xfrm xmlns:a="http://schemas.openxmlformats.org/drawingml/2006/main">
            <a:off x="2809875" y="304800"/>
            <a:ext cx="4572000" cy="3200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900"/>
            </a:defPPr>
          </a:lstStyle>
          <a:p xmlns:a="http://schemas.openxmlformats.org/drawingml/2006/main">
            <a:pPr marL="0" lvl="0" indent="0" algn="l">
              <a:spcBef>
                <a:spcPts val="0"/>
              </a:spcBef>
              <a:spcAft>
                <a:spcPts val="0"/>
              </a:spcAft>
              <a:buNone/>
              <a:defRPr sz="900"/>
            </a:pPr>
            <a:r>
              <a:rPr sz="900" b="1">
                <a:solidFill>
                  <a:schemeClr val="dk1"/>
                </a:solidFill>
                <a:latin typeface="Inter"/>
                <a:ea typeface="Inter"/>
                <a:cs typeface="Inter"/>
              </a:rPr>
              <a:t>T R Y   I T   T O N I G H T</a:t>
            </a:r>
            <a:endParaRPr sz="900" b="1">
              <a:solidFill>
                <a:schemeClr val="dk1"/>
              </a:solidFill>
              <a:latin typeface="Inter"/>
              <a:ea typeface="Inter"/>
              <a:cs typeface="Inter"/>
            </a:endParaRPr>
          </a:p>
        </p:txBody>
      </p:sp>
      <p:sp>
        <p:nvSpPr>
          <p:cNvPr id="80" name="Google Shape;80;p15">
            <a:extLst xmlns:a="http://schemas.openxmlformats.org/drawingml/2006/main">
              <a:ext uri="{FF2B5EF4-FFF2-40B4-BE49-F238E27FC236}">
                <a16:creationId xmlns:a16="http://schemas.microsoft.com/office/drawing/2014/main" id="{A1C8F538-C083-4399-9CD8-3BF2F689B23D}"/>
              </a:ext>
            </a:extLst>
          </p:cNvPr>
          <p:cNvSpPr>
            <a:spLocks xmlns:a="http://schemas.openxmlformats.org/drawingml/2006/main" noGrp="1"/>
          </p:cNvSpPr>
          <p:nvPr/>
        </p:nvSpPr>
        <p:spPr>
          <a:xfrm xmlns:a="http://schemas.openxmlformats.org/drawingml/2006/main">
            <a:off x="3467100" y="186690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npm ci</a:t>
            </a:r>
            <a:endParaRPr sz="1600">
              <a:latin typeface="Inter"/>
              <a:ea typeface="Inter"/>
              <a:cs typeface="Inter"/>
            </a:endParaRPr>
          </a:p>
        </p:txBody>
      </p:sp>
      <p:sp>
        <p:nvSpPr>
          <p:cNvPr id="82" name="Google Shape;82;p15">
            <a:extLst xmlns:a="http://schemas.openxmlformats.org/drawingml/2006/main">
              <a:ext uri="{FF2B5EF4-FFF2-40B4-BE49-F238E27FC236}">
                <a16:creationId xmlns:a16="http://schemas.microsoft.com/office/drawing/2014/main" id="{DBB0C3D3-0837-40F9-9A8D-5AE3738A4CC4}"/>
              </a:ext>
            </a:extLst>
          </p:cNvPr>
          <p:cNvSpPr>
            <a:spLocks xmlns:a="http://schemas.openxmlformats.org/drawingml/2006/main" noGrp="1"/>
          </p:cNvSpPr>
          <p:nvPr/>
        </p:nvSpPr>
        <p:spPr>
          <a:xfrm xmlns:a="http://schemas.openxmlformats.org/drawingml/2006/main" rot="5400000">
            <a:off x="5286068" y="-25140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3" name="Google Shape;83;p15">
            <a:extLst xmlns:a="http://schemas.openxmlformats.org/drawingml/2006/main">
              <a:ext uri="{FF2B5EF4-FFF2-40B4-BE49-F238E27FC236}">
                <a16:creationId xmlns:a16="http://schemas.microsoft.com/office/drawing/2014/main" id="{0D3EE8DD-439B-4418-A086-476B7CA7B66D}"/>
              </a:ext>
            </a:extLst>
          </p:cNvPr>
          <p:cNvSpPr>
            <a:spLocks xmlns:a="http://schemas.openxmlformats.org/drawingml/2006/main" noGrp="1"/>
          </p:cNvSpPr>
          <p:nvPr/>
        </p:nvSpPr>
        <p:spPr>
          <a:xfrm xmlns:a="http://schemas.openxmlformats.org/drawingml/2006/main" rot="5400000">
            <a:off x="5286068" y="429655"/>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4" name="Google Shape;84;p15">
            <a:extLst xmlns:a="http://schemas.openxmlformats.org/drawingml/2006/main">
              <a:ext uri="{FF2B5EF4-FFF2-40B4-BE49-F238E27FC236}">
                <a16:creationId xmlns:a16="http://schemas.microsoft.com/office/drawing/2014/main" id="{440AA23C-C0C8-4E76-9FA3-C7E12AFA5D65}"/>
              </a:ext>
            </a:extLst>
          </p:cNvPr>
          <p:cNvSpPr>
            <a:spLocks xmlns:a="http://schemas.openxmlformats.org/drawingml/2006/main" noGrp="1"/>
          </p:cNvSpPr>
          <p:nvPr/>
        </p:nvSpPr>
        <p:spPr>
          <a:xfrm xmlns:a="http://schemas.openxmlformats.org/drawingml/2006/main" rot="5400000">
            <a:off x="5286068" y="1110716"/>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5" name="Google Shape;85;p15">
            <a:extLst xmlns:a="http://schemas.openxmlformats.org/drawingml/2006/main">
              <a:ext uri="{FF2B5EF4-FFF2-40B4-BE49-F238E27FC236}">
                <a16:creationId xmlns:a16="http://schemas.microsoft.com/office/drawing/2014/main" id="{D3F2A02F-ECD6-4B3A-AC89-1E04A02BEDFB}"/>
              </a:ext>
            </a:extLst>
          </p:cNvPr>
          <p:cNvSpPr>
            <a:spLocks xmlns:a="http://schemas.openxmlformats.org/drawingml/2006/main" noGrp="1"/>
          </p:cNvSpPr>
          <p:nvPr/>
        </p:nvSpPr>
        <p:spPr>
          <a:xfrm xmlns:a="http://schemas.openxmlformats.org/drawingml/2006/main" rot="5400000">
            <a:off x="5286068" y="1791777"/>
            <a:ext cx="8700" cy="5040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6" name="Google Shape;86;p15">
            <a:extLst xmlns:a="http://schemas.openxmlformats.org/drawingml/2006/main">
              <a:ext uri="{FF2B5EF4-FFF2-40B4-BE49-F238E27FC236}">
                <a16:creationId xmlns:a16="http://schemas.microsoft.com/office/drawing/2014/main" id="{A193CEC9-EA4E-4F52-9F20-5FFB594AC389}"/>
              </a:ext>
            </a:extLst>
          </p:cNvPr>
          <p:cNvSpPr>
            <a:spLocks xmlns:a="http://schemas.openxmlformats.org/drawingml/2006/main" noGrp="1"/>
          </p:cNvSpPr>
          <p:nvPr/>
        </p:nvSpPr>
        <p:spPr>
          <a:xfrm xmlns:a="http://schemas.openxmlformats.org/drawingml/2006/main">
            <a:off x="2688283" y="2357336"/>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02</a:t>
            </a:r>
            <a:endParaRPr sz="2100">
              <a:latin typeface="Inter"/>
              <a:ea typeface="Inter"/>
              <a:cs typeface="Inter"/>
            </a:endParaRPr>
          </a:p>
        </p:txBody>
      </p:sp>
      <p:sp>
        <p:nvSpPr>
          <p:cNvPr id="87" name="Google Shape;87;p15">
            <a:extLst xmlns:a="http://schemas.openxmlformats.org/drawingml/2006/main">
              <a:ext uri="{FF2B5EF4-FFF2-40B4-BE49-F238E27FC236}">
                <a16:creationId xmlns:a16="http://schemas.microsoft.com/office/drawing/2014/main" id="{5F3FC239-D716-431F-8D91-BC6F32A1ED4F}"/>
              </a:ext>
            </a:extLst>
          </p:cNvPr>
          <p:cNvSpPr>
            <a:spLocks xmlns:a="http://schemas.openxmlformats.org/drawingml/2006/main" noGrp="1"/>
          </p:cNvSpPr>
          <p:nvPr/>
        </p:nvSpPr>
        <p:spPr>
          <a:xfrm xmlns:a="http://schemas.openxmlformats.org/drawingml/2006/main">
            <a:off x="3467100" y="254317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npm run clients:testnet</a:t>
            </a:r>
            <a:endParaRPr sz="1600">
              <a:latin typeface="Inter"/>
              <a:ea typeface="Inter"/>
              <a:cs typeface="Inter"/>
            </a:endParaRPr>
          </a:p>
        </p:txBody>
      </p:sp>
      <p:sp>
        <p:nvSpPr>
          <p:cNvPr id="89" name="Google Shape;89;p15">
            <a:extLst xmlns:a="http://schemas.openxmlformats.org/drawingml/2006/main">
              <a:ext uri="{FF2B5EF4-FFF2-40B4-BE49-F238E27FC236}">
                <a16:creationId xmlns:a16="http://schemas.microsoft.com/office/drawing/2014/main" id="{893ED2BF-82D4-4C5D-B69B-A7C240A163AA}"/>
              </a:ext>
            </a:extLst>
          </p:cNvPr>
          <p:cNvSpPr>
            <a:spLocks xmlns:a="http://schemas.openxmlformats.org/drawingml/2006/main" noGrp="1"/>
          </p:cNvSpPr>
          <p:nvPr/>
        </p:nvSpPr>
        <p:spPr>
          <a:xfrm xmlns:a="http://schemas.openxmlformats.org/drawingml/2006/main">
            <a:off x="2688283" y="3025409"/>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03</a:t>
            </a:r>
            <a:endParaRPr sz="2100">
              <a:latin typeface="Inter"/>
              <a:ea typeface="Inter"/>
              <a:cs typeface="Inter"/>
            </a:endParaRPr>
          </a:p>
        </p:txBody>
      </p:sp>
      <p:sp>
        <p:nvSpPr>
          <p:cNvPr id="90" name="Google Shape;90;p15">
            <a:extLst xmlns:a="http://schemas.openxmlformats.org/drawingml/2006/main">
              <a:ext uri="{FF2B5EF4-FFF2-40B4-BE49-F238E27FC236}">
                <a16:creationId xmlns:a16="http://schemas.microsoft.com/office/drawing/2014/main" id="{746A4B8F-6997-4461-BB8F-56C5B8D230C1}"/>
              </a:ext>
            </a:extLst>
          </p:cNvPr>
          <p:cNvSpPr>
            <a:spLocks xmlns:a="http://schemas.openxmlformats.org/drawingml/2006/main" noGrp="1"/>
          </p:cNvSpPr>
          <p:nvPr/>
        </p:nvSpPr>
        <p:spPr>
          <a:xfrm xmlns:a="http://schemas.openxmlformats.org/drawingml/2006/main">
            <a:off x="3467100" y="3219450"/>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npm run dev</a:t>
            </a:r>
            <a:endParaRPr sz="1600">
              <a:latin typeface="Inter"/>
              <a:ea typeface="Inter"/>
              <a:cs typeface="Inter"/>
            </a:endParaRPr>
          </a:p>
        </p:txBody>
      </p:sp>
      <p:sp>
        <p:nvSpPr>
          <p:cNvPr id="92" name="Google Shape;92;p15">
            <a:extLst xmlns:a="http://schemas.openxmlformats.org/drawingml/2006/main">
              <a:ext uri="{FF2B5EF4-FFF2-40B4-BE49-F238E27FC236}">
                <a16:creationId xmlns:a16="http://schemas.microsoft.com/office/drawing/2014/main" id="{A5CA518E-F82A-4A2B-8DFF-2DC55C2D943D}"/>
              </a:ext>
            </a:extLst>
          </p:cNvPr>
          <p:cNvSpPr>
            <a:spLocks xmlns:a="http://schemas.openxmlformats.org/drawingml/2006/main" noGrp="1"/>
          </p:cNvSpPr>
          <p:nvPr/>
        </p:nvSpPr>
        <p:spPr>
          <a:xfrm xmlns:a="http://schemas.openxmlformats.org/drawingml/2006/main">
            <a:off x="2688283" y="3710197"/>
            <a:ext cx="591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2100">
                <a:latin typeface="Inter"/>
                <a:ea typeface="Inter"/>
                <a:cs typeface="Inter"/>
              </a:rPr>
              <a:t>04</a:t>
            </a:r>
            <a:endParaRPr sz="2100">
              <a:latin typeface="Inter"/>
              <a:ea typeface="Inter"/>
              <a:cs typeface="Inter"/>
            </a:endParaRPr>
          </a:p>
        </p:txBody>
      </p:sp>
      <p:sp>
        <p:nvSpPr>
          <p:cNvPr id="93" name="Google Shape;93;p15">
            <a:extLst xmlns:a="http://schemas.openxmlformats.org/drawingml/2006/main">
              <a:ext uri="{FF2B5EF4-FFF2-40B4-BE49-F238E27FC236}">
                <a16:creationId xmlns:a16="http://schemas.microsoft.com/office/drawing/2014/main" id="{AA1ACF90-07BC-446C-ACC0-2A4D47C2CCCD}"/>
              </a:ext>
            </a:extLst>
          </p:cNvPr>
          <p:cNvSpPr>
            <a:spLocks xmlns:a="http://schemas.openxmlformats.org/drawingml/2006/main" noGrp="1"/>
          </p:cNvSpPr>
          <p:nvPr/>
        </p:nvSpPr>
        <p:spPr>
          <a:xfrm xmlns:a="http://schemas.openxmlformats.org/drawingml/2006/main">
            <a:off x="3467100" y="3895725"/>
            <a:ext cx="4857750" cy="4571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0" tIns="0" rIns="0" bIns="0" anchor="t">
            <a:noAutofit/>
          </a:bodyPr>
          <a:lstStyle xmlns:a="http://schemas.openxmlformats.org/drawingml/2006/main">
            <a:defPPr>
              <a:defRPr sz="1800"/>
            </a:defPPr>
          </a:lstStyle>
          <a:p xmlns:a="http://schemas.openxmlformats.org/drawingml/2006/main">
            <a:pPr marL="0" lvl="0" indent="0" algn="l">
              <a:spcBef>
                <a:spcPts val="0"/>
              </a:spcBef>
              <a:spcAft>
                <a:spcPts val="0"/>
              </a:spcAft>
              <a:buNone/>
              <a:defRPr sz="1800"/>
            </a:pPr>
            <a:r>
              <a:rPr sz="1800">
                <a:latin typeface="Inter"/>
                <a:ea typeface="Inter"/>
                <a:cs typeface="Inter"/>
              </a:rPr>
              <a:t>Create a Nido, approve, tip</a:t>
            </a:r>
            <a:endParaRPr sz="1600">
              <a:latin typeface="Inter"/>
              <a:ea typeface="Inter"/>
              <a:cs typeface="Inter"/>
            </a:endParaRPr>
          </a:p>
        </p:txBody>
      </p:sp>
      <p:pic>
        <p:nvPicPr>
          <p:cNvPr id="95" name="Google Shape;95;p15">
            <a:extLst xmlns:a="http://schemas.openxmlformats.org/drawingml/2006/main">
              <a:ext uri="{FF2B5EF4-FFF2-40B4-BE49-F238E27FC236}">
                <a16:creationId xmlns:a16="http://schemas.microsoft.com/office/drawing/2014/main" id="{0934F2B7-3010-40C7-BACE-21D153FDB80C}"/>
              </a:ext>
            </a:extLst>
          </p:cNvPr>
          <p:cNvPicPr>
            <a:picLocks xmlns:a="http://schemas.openxmlformats.org/drawingml/2006/main" noChangeAspect="1"/>
          </p:cNvPicPr>
          <p:nvPr/>
        </p:nvPicPr>
        <p:blipFill>
          <a:blip xmlns:r="http://schemas.openxmlformats.org/officeDocument/2006/relationships" xmlns:a="http://schemas.openxmlformats.org/drawingml/2006/main" r:embed="R7004287596784504">
            <a:alphaModFix/>
          </a:blip>
          <a:stretch xmlns:a="http://schemas.openxmlformats.org/drawingml/2006/main">
            <a:fillRect l="0" t="0" r="0" b="0"/>
          </a:stretch>
        </p:blipFill>
        <p:spPr>
          <a:xfrm xmlns:a="http://schemas.openxmlformats.org/drawingml/2006/main">
            <a:off x="7760075" y="254803"/>
            <a:ext cx="1149929" cy="200042"/>
          </a:xfrm>
          <a:prstGeom xmlns:a="http://schemas.openxmlformats.org/drawingml/2006/main" prst="rect">
            <a:avLst/>
          </a:prstGeom>
          <a:ln xmlns:a="http://schemas.openxmlformats.org/drawingml/2006/main">
            <a:noFill/>
          </a:ln>
        </p:spPr>
      </p:pic>
      <p:pic>
        <p:nvPicPr>
          <p:cNvPr id="96" name="Google Shape;96;p15">
            <a:extLst xmlns:a="http://schemas.openxmlformats.org/drawingml/2006/main">
              <a:ext uri="{FF2B5EF4-FFF2-40B4-BE49-F238E27FC236}">
                <a16:creationId xmlns:a16="http://schemas.microsoft.com/office/drawing/2014/main" id="{9817DA67-C9AA-4A78-B6EE-C7B8F45BDC7B}"/>
              </a:ext>
            </a:extLst>
          </p:cNvPr>
          <p:cNvPicPr>
            <a:picLocks xmlns:a="http://schemas.openxmlformats.org/drawingml/2006/main" noChangeAspect="1"/>
          </p:cNvPicPr>
          <p:nvPr/>
        </p:nvPicPr>
        <p:blipFill>
          <a:blip xmlns:r="http://schemas.openxmlformats.org/officeDocument/2006/relationships" xmlns:a="http://schemas.openxmlformats.org/drawingml/2006/main" r:embed="Ra18c84942ca44d6f">
            <a:alphaModFix/>
          </a:blip>
          <a:stretch xmlns:a="http://schemas.openxmlformats.org/drawingml/2006/main">
            <a:fillRect l="0" t="0" r="0" b="0"/>
          </a:stretch>
        </p:blipFill>
        <p:spPr>
          <a:xfrm xmlns:a="http://schemas.openxmlformats.org/drawingml/2006/main">
            <a:off x="8134640" y="4617524"/>
            <a:ext cx="775360" cy="200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0757742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2026-10-22T15:54:13.1430000Z</dcterms:created>
  <dcterms:modified xsi:type="dcterms:W3CDTF">2026-10-22T15:54:13.1430000Z</dcterms:modified>
</coreProperties>
</file>